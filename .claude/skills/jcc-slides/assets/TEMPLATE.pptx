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83" r:id="rId5"/>
    <p:sldMasterId id="2147483784" r:id="rId6"/>
    <p:sldMasterId id="2147483785" r:id="rId7"/>
    <p:sldMasterId id="2147483786" r:id="rId8"/>
    <p:sldMasterId id="2147483787" r:id="rId9"/>
  </p:sldMasterIdLst>
  <p:notesMasterIdLst>
    <p:notesMasterId r:id="rId10"/>
  </p:notesMasterIdLst>
  <p:sldIdLst>
    <p:sldId id="356" r:id="rId123"/>
    <p:sldId id="357" r:id="rId124"/>
    <p:sldId id="358" r:id="rId125"/>
    <p:sldId id="359" r:id="rId126"/>
    <p:sldId id="360" r:id="rId127"/>
    <p:sldId id="361" r:id="rId128"/>
    <p:sldId id="362" r:id="rId129"/>
    <p:sldId id="363" r:id="rId130"/>
    <p:sldId id="364" r:id="rId131"/>
    <p:sldId id="365" r:id="rId132"/>
    <p:sldId id="366" r:id="rId133"/>
    <p:sldId id="367" r:id="rId134"/>
    <p:sldId id="368" r:id="rId135"/>
    <p:sldId id="369" r:id="rId136"/>
    <p:sldId id="370" r:id="rId137"/>
    <p:sldId id="371" r:id="rId138"/>
    <p:sldId id="372" r:id="rId139"/>
    <p:sldId id="373" r:id="rId140"/>
    <p:sldId id="374" r:id="rId141"/>
    <p:sldId id="375" r:id="rId142"/>
    <p:sldId id="376" r:id="rId143"/>
    <p:sldId id="377" r:id="rId144"/>
    <p:sldId id="378" r:id="rId145"/>
    <p:sldId id="379" r:id="rId146"/>
    <p:sldId id="380" r:id="rId147"/>
    <p:sldId id="381" r:id="rId148"/>
    <p:sldId id="382" r:id="rId149"/>
    <p:sldId id="383" r:id="rId150"/>
    <p:sldId id="384" r:id="rId151"/>
    <p:sldId id="385" r:id="rId152"/>
    <p:sldId id="386" r:id="rId153"/>
    <p:sldId id="387" r:id="rId154"/>
    <p:sldId id="388" r:id="rId155"/>
    <p:sldId id="389" r:id="rId156"/>
  </p:sldIdLst>
  <p:sldSz cy="5143500" cx="9144000"/>
  <p:notesSz cx="6858000" cy="9144000"/>
  <p:embeddedFontLst>
    <p:embeddedFont>
      <p:font typeface="Inter"/>
      <p:regular r:id="rId111"/>
      <p:bold r:id="rId112"/>
      <p:italic r:id="rId113"/>
      <p:boldItalic r:id="rId114"/>
    </p:embeddedFont>
    <p:embeddedFont>
      <p:font typeface="Zen Kaku Gothic New Medium"/>
      <p:regular r:id="rId115"/>
      <p:bold r:id="rId116"/>
    </p:embeddedFont>
    <p:embeddedFont>
      <p:font typeface="Zen Kaku Gothic New"/>
      <p:regular r:id="rId117"/>
      <p:bold r:id="rId118"/>
    </p:embeddedFont>
    <p:embeddedFont>
      <p:font typeface="Century Gothic"/>
      <p:regular r:id="rId119"/>
      <p:bold r:id="rId120"/>
      <p:italic r:id="rId121"/>
      <p:boldItalic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4D2250-8479-4534-90F0-2AF717E22795}">
  <a:tblStyle styleId="{344D2250-8479-4534-90F0-2AF717E227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font" Target="fonts/Inter-regular.fntdata"/><Relationship Id="rId112" Type="http://schemas.openxmlformats.org/officeDocument/2006/relationships/font" Target="fonts/Inter-bold.fntdata"/><Relationship Id="rId113" Type="http://schemas.openxmlformats.org/officeDocument/2006/relationships/font" Target="fonts/Inter-italic.fntdata"/><Relationship Id="rId114" Type="http://schemas.openxmlformats.org/officeDocument/2006/relationships/font" Target="fonts/Inter-boldItalic.fntdata"/><Relationship Id="rId115" Type="http://schemas.openxmlformats.org/officeDocument/2006/relationships/font" Target="fonts/ZenKakuGothicNewMedium-regular.fntdata"/><Relationship Id="rId116" Type="http://schemas.openxmlformats.org/officeDocument/2006/relationships/font" Target="fonts/ZenKakuGothicNewMedium-bold.fntdata"/><Relationship Id="rId117" Type="http://schemas.openxmlformats.org/officeDocument/2006/relationships/font" Target="fonts/ZenKakuGothicNew-regular.fntdata"/><Relationship Id="rId118" Type="http://schemas.openxmlformats.org/officeDocument/2006/relationships/font" Target="fonts/ZenKakuGothicNew-bold.fntdata"/><Relationship Id="rId119" Type="http://schemas.openxmlformats.org/officeDocument/2006/relationships/font" Target="fonts/CenturyGothic-regular.fntdata"/><Relationship Id="rId120" Type="http://schemas.openxmlformats.org/officeDocument/2006/relationships/font" Target="fonts/CenturyGothic-bold.fntdata"/><Relationship Id="rId121" Type="http://schemas.openxmlformats.org/officeDocument/2006/relationships/font" Target="fonts/CenturyGothic-italic.fntdata"/><Relationship Id="rId122" Type="http://schemas.openxmlformats.org/officeDocument/2006/relationships/font" Target="fonts/CenturyGothic-boldItalic.fntdata"/><Relationship Id="rId123" Type="http://schemas.openxmlformats.org/officeDocument/2006/relationships/slide" Target="slides/slide1.xml"/><Relationship Id="rId124" Type="http://schemas.openxmlformats.org/officeDocument/2006/relationships/slide" Target="slides/slide2.xml"/><Relationship Id="rId125" Type="http://schemas.openxmlformats.org/officeDocument/2006/relationships/slide" Target="slides/slide3.xml"/><Relationship Id="rId126" Type="http://schemas.openxmlformats.org/officeDocument/2006/relationships/slide" Target="slides/slide4.xml"/><Relationship Id="rId127" Type="http://schemas.openxmlformats.org/officeDocument/2006/relationships/slide" Target="slides/slide5.xml"/><Relationship Id="rId128" Type="http://schemas.openxmlformats.org/officeDocument/2006/relationships/slide" Target="slides/slide6.xml"/><Relationship Id="rId129" Type="http://schemas.openxmlformats.org/officeDocument/2006/relationships/slide" Target="slides/slide7.xml"/><Relationship Id="rId130" Type="http://schemas.openxmlformats.org/officeDocument/2006/relationships/slide" Target="slides/slide8.xml"/><Relationship Id="rId131" Type="http://schemas.openxmlformats.org/officeDocument/2006/relationships/slide" Target="slides/slide9.xml"/><Relationship Id="rId132" Type="http://schemas.openxmlformats.org/officeDocument/2006/relationships/slide" Target="slides/slide10.xml"/><Relationship Id="rId133" Type="http://schemas.openxmlformats.org/officeDocument/2006/relationships/slide" Target="slides/slide11.xml"/><Relationship Id="rId134" Type="http://schemas.openxmlformats.org/officeDocument/2006/relationships/slide" Target="slides/slide12.xml"/><Relationship Id="rId135" Type="http://schemas.openxmlformats.org/officeDocument/2006/relationships/slide" Target="slides/slide13.xml"/><Relationship Id="rId136" Type="http://schemas.openxmlformats.org/officeDocument/2006/relationships/slide" Target="slides/slide14.xml"/><Relationship Id="rId137" Type="http://schemas.openxmlformats.org/officeDocument/2006/relationships/slide" Target="slides/slide15.xml"/><Relationship Id="rId138" Type="http://schemas.openxmlformats.org/officeDocument/2006/relationships/slide" Target="slides/slide16.xml"/><Relationship Id="rId139" Type="http://schemas.openxmlformats.org/officeDocument/2006/relationships/slide" Target="slides/slide17.xml"/><Relationship Id="rId140" Type="http://schemas.openxmlformats.org/officeDocument/2006/relationships/slide" Target="slides/slide18.xml"/><Relationship Id="rId141" Type="http://schemas.openxmlformats.org/officeDocument/2006/relationships/slide" Target="slides/slide19.xml"/><Relationship Id="rId142" Type="http://schemas.openxmlformats.org/officeDocument/2006/relationships/slide" Target="slides/slide20.xml"/><Relationship Id="rId143" Type="http://schemas.openxmlformats.org/officeDocument/2006/relationships/slide" Target="slides/slide21.xml"/><Relationship Id="rId144" Type="http://schemas.openxmlformats.org/officeDocument/2006/relationships/slide" Target="slides/slide22.xml"/><Relationship Id="rId145" Type="http://schemas.openxmlformats.org/officeDocument/2006/relationships/slide" Target="slides/slide23.xml"/><Relationship Id="rId146" Type="http://schemas.openxmlformats.org/officeDocument/2006/relationships/slide" Target="slides/slide24.xml"/><Relationship Id="rId147" Type="http://schemas.openxmlformats.org/officeDocument/2006/relationships/slide" Target="slides/slide25.xml"/><Relationship Id="rId148" Type="http://schemas.openxmlformats.org/officeDocument/2006/relationships/slide" Target="slides/slide26.xml"/><Relationship Id="rId149" Type="http://schemas.openxmlformats.org/officeDocument/2006/relationships/slide" Target="slides/slide27.xml"/><Relationship Id="rId150" Type="http://schemas.openxmlformats.org/officeDocument/2006/relationships/slide" Target="slides/slide28.xml"/><Relationship Id="rId151" Type="http://schemas.openxmlformats.org/officeDocument/2006/relationships/slide" Target="slides/slide29.xml"/><Relationship Id="rId152" Type="http://schemas.openxmlformats.org/officeDocument/2006/relationships/slide" Target="slides/slide30.xml"/><Relationship Id="rId153" Type="http://schemas.openxmlformats.org/officeDocument/2006/relationships/slide" Target="slides/slide31.xml"/><Relationship Id="rId154" Type="http://schemas.openxmlformats.org/officeDocument/2006/relationships/slide" Target="slides/slide32.xml"/><Relationship Id="rId155" Type="http://schemas.openxmlformats.org/officeDocument/2006/relationships/slide" Target="slides/slide33.xml"/><Relationship Id="rId156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1a5b9f81b_1_1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a1a5b9f81b_1_14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1a5b9f81b_1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a1a5b9f81b_1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1a5b9f81b_1_1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a1a5b9f81b_1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1a5b9f81b_1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a1a5b9f81b_1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1a5b9f81b_1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a1a5b9f81b_1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1a5b9f81b_1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a1a5b9f81b_1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1a5b9f81b_1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1a5b9f81b_1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1a5b9f81b_1_1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a1a5b9f81b_1_1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a1a5b9f81b_1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a1a5b9f81b_1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1a5b9f81b_1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a1a5b9f81b_1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1a5b9f81b_1_1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a1a5b9f81b_1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1a5b9f81b_1_1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a1a5b9f81b_1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a1a5b9f81b_1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a1a5b9f81b_1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1a5b9f81b_1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a1a5b9f81b_1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a1a5b9f81b_1_1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a1a5b9f81b_1_1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1a5b9f81b_1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a1a5b9f81b_1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1a5b9f81b_1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a1a5b9f81b_1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1a5b9f81b_1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a1a5b9f81b_1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1a5b9f81b_1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a1a5b9f81b_1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a1a5b9f81b_1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a1a5b9f81b_1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1a5b9f81b_1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a1a5b9f81b_1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a1a5b9f81b_1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a1a5b9f81b_1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1a5b9f81b_1_16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a1a5b9f81b_1_16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1a5b9f81b_1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a1a5b9f81b_1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1a5b9f81b_1_1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a1a5b9f81b_1_1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a1a5b9f81b_1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a1a5b9f81b_1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1a5b9f81b_1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1a5b9f81b_1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1a5b9f81b_1_1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1a5b9f81b_1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a1a5b9f81b_1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a1a5b9f81b_1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a1a5b9f81b_1_1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a1a5b9f81b_1_1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a1a5b9f81b_1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a1a5b9f81b_1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a1a5b9f81b_1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a1a5b9f81b_1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a1a5b9f81b_1_1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a1a5b9f81b_1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a1a5b9f81b_1_1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a1a5b9f81b_1_1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a1a5b9f81b_1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a1a5b9f81b_1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a1a5b9f81b_1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a1a5b9f81b_1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a1a5b9f81b_1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a1a5b9f81b_1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a1a5b9f81b_1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a1a5b9f81b_1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1a5b9f81b_1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a1a5b9f81b_1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a1a5b9f81b_1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a1a5b9f81b_1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1a5b9f81b_1_1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a1a5b9f81b_1_1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a1a5b9f81b_1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a1a5b9f81b_1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a1a5b9f81b_1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a1a5b9f81b_1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1a5b9f81b_1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a1a5b9f81b_1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a1a5b9f81b_1_1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a1a5b9f81b_1_1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a1a5b9f81b_1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a1a5b9f81b_1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1a5b9f81b_1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a1a5b9f81b_1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a1a5b9f81b_1_1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a1a5b9f81b_1_1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1a5b9f81b_1_1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a1a5b9f81b_1_1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a1a5b9f81b_1_1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a1a5b9f81b_1_1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1a5b9f81b_1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a1a5b9f81b_1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a1a5b9f81b_1_1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a1a5b9f81b_1_1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a1a5b9f81b_1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a1a5b9f81b_1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1a5b9f81b_1_1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a1a5b9f81b_1_1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1a5b9f81b_1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a1a5b9f81b_1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a1a5b9f81b_1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a1a5b9f81b_1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a1a5b9f81b_1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a1a5b9f81b_1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1a5b9f81b_1_1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a1a5b9f81b_1_1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a1a5b9f81b_1_1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a1a5b9f81b_1_1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a1a5b9f81b_1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3a1a5b9f81b_1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3a1a5b9f81b_1_2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3a1a5b9f81b_1_2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a1a5b9f81b_1_2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a1a5b9f81b_1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a1a5b9f81b_1_2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a1a5b9f81b_1_2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a1a5b9f81b_1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a1a5b9f81b_1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a1a5b9f81b_1_2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a1a5b9f81b_1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a1a5b9f81b_1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a1a5b9f81b_1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a1a5b9f81b_1_2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a1a5b9f81b_1_2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3a1a5b9f81b_1_2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3a1a5b9f81b_1_2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a1a5b9f81b_1_2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a1a5b9f81b_1_2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a1a5b9f81b_1_2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3a1a5b9f81b_1_2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a1a5b9f81b_1_2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a1a5b9f81b_1_2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a1a5b9f81b_1_2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a1a5b9f81b_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a1a5b9f81b_1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3a1a5b9f81b_1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a1a5b9f81b_1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a1a5b9f81b_1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a1a5b9f81b_1_2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3a1a5b9f81b_1_2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a1a5b9f81b_1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3a1a5b9f81b_1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a1a5b9f81b_1_2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3a1a5b9f81b_1_2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a1a5b9f81b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3a1a5b9f81b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a1a5b9f81b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a1a5b9f81b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a1a5b9f81b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a1a5b9f81b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a1a5b9f81b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3a1a5b9f81b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3a1a5b9f81b_2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3a1a5b9f81b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a1a5b9f81b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a1a5b9f81b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a1a5b9f81b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a1a5b9f81b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a1a5b9f81b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3a1a5b9f81b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a1a5b9f81b_1_2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3a1a5b9f81b_1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a1a5b9f81b_1_2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a1a5b9f81b_1_2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a1a5b9f81b_1_2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a1a5b9f81b_1_2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3a1a5b9f81b_1_2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3a1a5b9f81b_1_2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3a1a5b9f81b_1_2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3a1a5b9f81b_1_2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a1a5b9f81b_1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3a1a5b9f81b_1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a1a5b9f81b_1_2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3a1a5b9f81b_1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3a1a5b9f81b_1_2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3a1a5b9f81b_1_2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a1a5b9f81b_1_2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a1a5b9f81b_1_2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a1a5b9f81b_1_2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3a1a5b9f81b_1_2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a1a5b9f81b_1_2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3a1a5b9f81b_1_2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a1a5b9f81b_1_2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3a1a5b9f81b_1_2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a1a5b9f81b_1_2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a1a5b9f81b_1_2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a1a5b9f81b_1_2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a1a5b9f81b_1_2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a1a5b9f81b_1_2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a1a5b9f81b_1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" name="Google Shape;53;p13" title="Group 199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63" y="1813775"/>
            <a:ext cx="6167475" cy="9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7" name="Google Shape;57;p14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">
  <p:cSld name="CUSTOM_8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1" name="Google Shape;61;p15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1539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5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 1">
  <p:cSld name="CUSTOM_8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5" name="Google Shape;65;p16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6" name="Google Shape;66;p16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8355941" y="163645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">
  <p:cSld name="CUSTOM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1649100" y="2202300"/>
            <a:ext cx="584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瞑 想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">
  <p:cSld name="CUSTOM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4" name="Google Shape;74;p18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8"/>
          <p:cNvCxnSpPr/>
          <p:nvPr/>
        </p:nvCxnSpPr>
        <p:spPr>
          <a:xfrm>
            <a:off x="5119700" y="2186825"/>
            <a:ext cx="3420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">
  <p:cSld name="CUSTOM_2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9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9" name="Google Shape;79;p19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in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81" name="Google Shape;81;p19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2">
  <p:cSld name="CUSTOM_2_1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5" name="Google Shape;85;p2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out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87" name="Google Shape;87;p20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">
  <p:cSld name="CUSTOM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21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93" name="Google Shape;93;p21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">
  <p:cSld name="CUSTOM_2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" name="Google Shape;97;p22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99" name="Google Shape;99;p22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">
  <p:cSld name="CUSTOM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3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5">
  <p:cSld name="CUSTOM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/>
          <p:nvPr/>
        </p:nvSpPr>
        <p:spPr>
          <a:xfrm>
            <a:off x="-109075" y="-21750"/>
            <a:ext cx="2686800" cy="5187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6" name="Google Shape;106;p24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6">
  <p:cSld name="CUSTOM_5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25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5"/>
          <p:cNvSpPr txBox="1"/>
          <p:nvPr/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262626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111" name="Google Shape;111;p2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2" name="Google Shape;112;p25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">
  <p:cSld name="CUSTOM_6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26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7" name="Google Shape;117;p2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7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7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2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27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9" name="Google Shape;129;p29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30" name="Google Shape;130;p29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9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p29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9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35" name="Google Shape;135;p29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2" name="Google Shape;142;p31"/>
          <p:cNvSpPr/>
          <p:nvPr/>
        </p:nvSpPr>
        <p:spPr>
          <a:xfrm>
            <a:off x="-52325" y="-104675"/>
            <a:ext cx="9263400" cy="53382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">
  <p:cSld name="CUSTOM_9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41325" y="-49400"/>
            <a:ext cx="9323151" cy="523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9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438" y="-19375"/>
            <a:ext cx="9220874" cy="518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9" name="Google Shape;149;p34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50" name="Google Shape;150;p34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34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34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4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54" name="Google Shape;154;p34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55" name="Google Shape;155;p34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8" name="Google Shape;158;p35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5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0" name="Google Shape;160;p35"/>
          <p:cNvCxnSpPr/>
          <p:nvPr/>
        </p:nvCxnSpPr>
        <p:spPr>
          <a:xfrm>
            <a:off x="154044" y="808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35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  <p:pic>
        <p:nvPicPr>
          <p:cNvPr id="162" name="Google Shape;162;p35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">
  <p:cSld name="CUSTOM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6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36"/>
          <p:cNvCxnSpPr/>
          <p:nvPr/>
        </p:nvCxnSpPr>
        <p:spPr>
          <a:xfrm>
            <a:off x="3499625" y="1533000"/>
            <a:ext cx="5458200" cy="0"/>
          </a:xfrm>
          <a:prstGeom prst="straightConnector1">
            <a:avLst/>
          </a:prstGeom>
          <a:noFill/>
          <a:ln cap="flat" cmpd="sng" w="28575">
            <a:solidFill>
              <a:srgbClr val="DB4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36"/>
          <p:cNvSpPr txBox="1"/>
          <p:nvPr>
            <p:ph type="title"/>
          </p:nvPr>
        </p:nvSpPr>
        <p:spPr>
          <a:xfrm>
            <a:off x="3472775" y="280600"/>
            <a:ext cx="581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36"/>
          <p:cNvSpPr txBox="1"/>
          <p:nvPr>
            <p:ph idx="1" type="subTitle"/>
          </p:nvPr>
        </p:nvSpPr>
        <p:spPr>
          <a:xfrm>
            <a:off x="3499625" y="1071000"/>
            <a:ext cx="5816700" cy="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36"/>
          <p:cNvSpPr txBox="1"/>
          <p:nvPr>
            <p:ph idx="2" type="body"/>
          </p:nvPr>
        </p:nvSpPr>
        <p:spPr>
          <a:xfrm>
            <a:off x="3499625" y="1686575"/>
            <a:ext cx="5458200" cy="23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36"/>
          <p:cNvSpPr txBox="1"/>
          <p:nvPr>
            <p:ph idx="3" type="body"/>
          </p:nvPr>
        </p:nvSpPr>
        <p:spPr>
          <a:xfrm>
            <a:off x="3499625" y="4100850"/>
            <a:ext cx="5458200" cy="9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b="1" sz="13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36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  <p:pic>
        <p:nvPicPr>
          <p:cNvPr id="171" name="Google Shape;171;p36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37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5" name="Google Shape;175;p37"/>
          <p:cNvPicPr preferRelativeResize="0"/>
          <p:nvPr/>
        </p:nvPicPr>
        <p:blipFill rotWithShape="1">
          <a:blip r:embed="rId2">
            <a:alphaModFix/>
          </a:blip>
          <a:srcRect b="3183" l="0" r="0" t="3183"/>
          <a:stretch/>
        </p:blipFill>
        <p:spPr>
          <a:xfrm>
            <a:off x="8474750" y="202550"/>
            <a:ext cx="475350" cy="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9" name="Google Shape;179;p38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8"/>
          <p:cNvSpPr/>
          <p:nvPr/>
        </p:nvSpPr>
        <p:spPr>
          <a:xfrm rot="-1274391">
            <a:off x="-776734" y="2388431"/>
            <a:ext cx="10697457" cy="366247"/>
          </a:xfrm>
          <a:prstGeom prst="rect">
            <a:avLst/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8"/>
          <p:cNvSpPr txBox="1"/>
          <p:nvPr>
            <p:ph type="title"/>
          </p:nvPr>
        </p:nvSpPr>
        <p:spPr>
          <a:xfrm>
            <a:off x="822800" y="1866888"/>
            <a:ext cx="7498200" cy="1118700"/>
          </a:xfrm>
          <a:prstGeom prst="rect">
            <a:avLst/>
          </a:prstGeom>
          <a:effectLst>
            <a:outerShdw blurRad="57150" rotWithShape="0" algn="bl" dir="4320000" dist="4762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" type="subTitle"/>
          </p:nvPr>
        </p:nvSpPr>
        <p:spPr>
          <a:xfrm>
            <a:off x="1869500" y="2609013"/>
            <a:ext cx="5404800" cy="819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38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184" name="Google Shape;184;p38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7" name="Google Shape;187;p39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39"/>
          <p:cNvCxnSpPr/>
          <p:nvPr/>
        </p:nvCxnSpPr>
        <p:spPr>
          <a:xfrm>
            <a:off x="154044" y="17467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39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39"/>
          <p:cNvSpPr txBox="1"/>
          <p:nvPr>
            <p:ph idx="1" type="body"/>
          </p:nvPr>
        </p:nvSpPr>
        <p:spPr>
          <a:xfrm>
            <a:off x="579075" y="20773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9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193" name="Google Shape;193;p39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454">
          <p15:clr>
            <a:srgbClr val="E46962"/>
          </p15:clr>
        </p15:guide>
        <p15:guide id="3" pos="5306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6" name="Google Shape;196;p40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7" name="Google Shape;197;p40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40"/>
          <p:cNvCxnSpPr/>
          <p:nvPr/>
        </p:nvCxnSpPr>
        <p:spPr>
          <a:xfrm>
            <a:off x="154044" y="1297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40"/>
          <p:cNvSpPr txBox="1"/>
          <p:nvPr>
            <p:ph type="title"/>
          </p:nvPr>
        </p:nvSpPr>
        <p:spPr>
          <a:xfrm>
            <a:off x="617725" y="571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40"/>
          <p:cNvSpPr txBox="1"/>
          <p:nvPr>
            <p:ph idx="3" type="title"/>
          </p:nvPr>
        </p:nvSpPr>
        <p:spPr>
          <a:xfrm>
            <a:off x="617725" y="8479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579075" y="16278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40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203" name="Google Shape;203;p40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6" name="Google Shape;206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 1">
  <p:cSld name="CUSTOM_13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">
  <p:cSld name="TITLE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BC">
  <p:cSld name="TITLE_AND_BODY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16" name="Google Shape;216;p44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4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18" name="Google Shape;218;p44"/>
          <p:cNvCxnSpPr/>
          <p:nvPr/>
        </p:nvCxnSpPr>
        <p:spPr>
          <a:xfrm>
            <a:off x="154044" y="808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44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2" name="Google Shape;22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_1">
    <p:bg>
      <p:bgPr>
        <a:gradFill>
          <a:gsLst>
            <a:gs pos="0">
              <a:srgbClr val="2E5C9B"/>
            </a:gs>
            <a:gs pos="100000">
              <a:srgbClr val="03000E"/>
            </a:gs>
          </a:gsLst>
          <a:lin ang="10800025" scaled="0"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228" name="Google Shape;228;p47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">
  <p:cSld name="TITLE_10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232" name="Google Shape;232;p4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1">
  <p:cSld name="TITLE_10_1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">
  <p:cSld name="CUSTOM_2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5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5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0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41" name="Google Shape;241;p50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5" name="Google Shape;245;p51" title="Group 199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63" y="1813775"/>
            <a:ext cx="6167475" cy="9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">
  <p:cSld name="CUSTOM_14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5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9" name="Google Shape;249;p52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 1">
  <p:cSld name="CUSTOM_8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p53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1539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53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">
  <p:cSld name="CUSTOM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54"/>
          <p:cNvSpPr txBox="1"/>
          <p:nvPr/>
        </p:nvSpPr>
        <p:spPr>
          <a:xfrm>
            <a:off x="1649100" y="2202300"/>
            <a:ext cx="584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瞑 想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 1">
  <p:cSld name="CUSTOM_1_1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">
  <p:cSld name="CUSTOM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5" name="Google Shape;265;p5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56"/>
          <p:cNvCxnSpPr/>
          <p:nvPr/>
        </p:nvCxnSpPr>
        <p:spPr>
          <a:xfrm>
            <a:off x="5119700" y="2186825"/>
            <a:ext cx="3420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">
  <p:cSld name="CUSTOM_2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57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7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in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72" name="Google Shape;272;p57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2">
  <p:cSld name="CUSTOM_2_1_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6" name="Google Shape;276;p58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8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out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78" name="Google Shape;278;p58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">
  <p:cSld name="CUSTOM_2_1_1_2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9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9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2" name="Google Shape;282;p59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9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84" name="Google Shape;284;p59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 1">
  <p:cSld name="CUSTOM_2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6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8" name="Google Shape;288;p6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0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90" name="Google Shape;290;p60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 2">
  <p:cSld name="CUSTOM_3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6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61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5">
  <p:cSld name="CUSTOM_4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"/>
          <p:cNvSpPr/>
          <p:nvPr/>
        </p:nvSpPr>
        <p:spPr>
          <a:xfrm>
            <a:off x="-109075" y="-21750"/>
            <a:ext cx="2686800" cy="5187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7" name="Google Shape;297;p62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6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2">
  <p:cSld name="CUSTOM_6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6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63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6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3" name="Google Shape;303;p63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64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64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6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64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6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9" name="Google Shape;319;p6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0" name="Google Shape;320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3" name="Google Shape;32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7" name="Google Shape;32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7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" name="Google Shape;331;p7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2" name="Google Shape;34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6" name="Google Shape;346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7" name="Google Shape;347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51" name="Google Shape;351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0" name="Google Shape;360;p7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1" name="Google Shape;361;p7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4" name="Google Shape;364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5" name="Google Shape;365;p79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0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80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69" name="Google Shape;369;p80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80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1" name="Google Shape;371;p80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2" name="Google Shape;372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5208" y="246295"/>
            <a:ext cx="975856" cy="19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5">
          <p15:clr>
            <a:srgbClr val="FBAE40"/>
          </p15:clr>
        </p15:guide>
        <p15:guide id="2" pos="193">
          <p15:clr>
            <a:srgbClr val="FBAE40"/>
          </p15:clr>
        </p15:guide>
        <p15:guide id="3" pos="5567">
          <p15:clr>
            <a:srgbClr val="FBAE40"/>
          </p15:clr>
        </p15:guide>
        <p15:guide id="4" orient="horz" pos="1008">
          <p15:clr>
            <a:srgbClr val="FBAE40"/>
          </p15:clr>
        </p15:guide>
        <p15:guide id="5" orient="horz" pos="301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7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5" name="Google Shape;375;p81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">
  <p:cSld name="TITLE_8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8" name="Google Shape;378;p82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9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1" name="Google Shape;381;p83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4" name="Google Shape;384;p84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5">
  <p:cSld name="TITLE_1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7" name="Google Shape;387;p8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6">
  <p:cSld name="TITLE_12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0" name="Google Shape;390;p86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7">
  <p:cSld name="TITLE_13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3" name="Google Shape;393;p87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8">
  <p:cSld name="TITLE_14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6" name="Google Shape;396;p8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9">
  <p:cSld name="TITLE_15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9" name="Google Shape;399;p89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 1">
  <p:cSld name="3_タイトルとコンテンツ">
    <p:bg>
      <p:bgPr>
        <a:solidFill>
          <a:schemeClr val="lt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1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04" name="Google Shape;404;p91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indent="-2984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indent="-2984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indent="-2984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/>
        </p:txBody>
      </p:sp>
      <p:sp>
        <p:nvSpPr>
          <p:cNvPr id="405" name="Google Shape;405;p91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entury Gothic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9pPr>
          </a:lstStyle>
          <a:p/>
        </p:txBody>
      </p:sp>
      <p:sp>
        <p:nvSpPr>
          <p:cNvPr id="406" name="Google Shape;406;p91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407" name="Google Shape;407;p91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EA540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8" name="Google Shape;408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02662" y="-5287"/>
            <a:ext cx="1395487" cy="69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86">
          <p15:clr>
            <a:srgbClr val="FBAE40"/>
          </p15:clr>
        </p15:guide>
        <p15:guide id="2" pos="145">
          <p15:clr>
            <a:srgbClr val="FBAE40"/>
          </p15:clr>
        </p15:guide>
        <p15:guide id="3" pos="4175">
          <p15:clr>
            <a:srgbClr val="FBAE40"/>
          </p15:clr>
        </p15:guide>
        <p15:guide id="4" orient="horz" pos="756">
          <p15:clr>
            <a:srgbClr val="FBAE40"/>
          </p15:clr>
        </p15:guide>
        <p15:guide id="5" orient="horz" pos="226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11" name="Google Shape;411;p92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412" name="Google Shape;412;p92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92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4" name="Google Shape;414;p92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92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416" name="Google Shape;416;p92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17" name="Google Shape;417;p92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4" name="Google Shape;424;p9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5" name="Google Shape;425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8" name="Google Shape;428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1" name="Google Shape;431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2" name="Google Shape;432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5" name="Google Shape;435;p9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9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7" name="Google Shape;437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9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3" name="Google Shape;443;p9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4" name="Google Shape;444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7" name="Google Shape;447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1" name="Google Shape;451;p10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2" name="Google Shape;452;p10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6" name="Google Shape;45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0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9" name="Google Shape;459;p10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0" name="Google Shape;460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0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0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 1">
  <p:cSld name="CUSTOM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10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106"/>
          <p:cNvCxnSpPr/>
          <p:nvPr/>
        </p:nvCxnSpPr>
        <p:spPr>
          <a:xfrm>
            <a:off x="3499625" y="2003650"/>
            <a:ext cx="5458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9" name="Google Shape;469;p10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0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 1">
  <p:cSld name="TITLE_ONLY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73" name="Google Shape;473;p107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4" name="Google Shape;474;p107"/>
          <p:cNvCxnSpPr/>
          <p:nvPr/>
        </p:nvCxnSpPr>
        <p:spPr>
          <a:xfrm>
            <a:off x="154044" y="17467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5" name="Google Shape;475;p107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6" name="Google Shape;476;p107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p107"/>
          <p:cNvSpPr txBox="1"/>
          <p:nvPr>
            <p:ph idx="1" type="body"/>
          </p:nvPr>
        </p:nvSpPr>
        <p:spPr>
          <a:xfrm>
            <a:off x="579075" y="20773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8" name="Google Shape;478;p10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479" name="Google Shape;479;p107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454">
          <p15:clr>
            <a:srgbClr val="E46962"/>
          </p15:clr>
        </p15:guide>
        <p15:guide id="3" pos="5306">
          <p15:clr>
            <a:srgbClr val="E46962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2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10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08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108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10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108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タイトル スライド">
  <p:cSld name="3_タイトル スライド"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9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88" name="Google Shape;488;p109"/>
          <p:cNvSpPr txBox="1"/>
          <p:nvPr/>
        </p:nvSpPr>
        <p:spPr>
          <a:xfrm>
            <a:off x="0" y="4852000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9" name="Google Shape;489;p109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09"/>
          <p:cNvSpPr/>
          <p:nvPr/>
        </p:nvSpPr>
        <p:spPr>
          <a:xfrm>
            <a:off x="0" y="-125"/>
            <a:ext cx="2577600" cy="514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91" name="Google Shape;491;p109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09"/>
          <p:cNvSpPr txBox="1"/>
          <p:nvPr/>
        </p:nvSpPr>
        <p:spPr>
          <a:xfrm>
            <a:off x="0" y="4930125"/>
            <a:ext cx="8439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15">
          <p15:clr>
            <a:srgbClr val="FBAE40"/>
          </p15:clr>
        </p15:guide>
        <p15:guide id="2" pos="5567">
          <p15:clr>
            <a:srgbClr val="FBAE40"/>
          </p15:clr>
        </p15:guide>
        <p15:guide id="3" pos="187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_1_1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1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496" name="Google Shape;496;p110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1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1">
  <p:cSld name="TITLE_10_1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11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">
  <p:cSld name="TITLE_10_1_2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112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3" name="Google Shape;503;p112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1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5" name="Google Shape;505;p112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11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1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2">
  <p:cSld name="TITLE_10_3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p114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11" name="Google Shape;511;p114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1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114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13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11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15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1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8" name="Google Shape;518;p115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 2">
  <p:cSld name="TITLE_4_2">
    <p:bg>
      <p:bgPr>
        <a:solidFill>
          <a:srgbClr val="0A102A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6"/>
          <p:cNvSpPr txBox="1"/>
          <p:nvPr>
            <p:ph idx="1" type="subTitle"/>
          </p:nvPr>
        </p:nvSpPr>
        <p:spPr>
          <a:xfrm>
            <a:off x="1389600" y="2181675"/>
            <a:ext cx="6364800" cy="10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列（タイトルあり） 1">
  <p:cSld name="TITLE_AND_TWO_COLUMNS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23" name="Google Shape;523;p117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7"/>
          <p:cNvSpPr/>
          <p:nvPr/>
        </p:nvSpPr>
        <p:spPr>
          <a:xfrm rot="-1274391">
            <a:off x="-776734" y="2388431"/>
            <a:ext cx="10697457" cy="366247"/>
          </a:xfrm>
          <a:prstGeom prst="rect">
            <a:avLst/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7"/>
          <p:cNvSpPr txBox="1"/>
          <p:nvPr>
            <p:ph type="title"/>
          </p:nvPr>
        </p:nvSpPr>
        <p:spPr>
          <a:xfrm>
            <a:off x="822800" y="1866888"/>
            <a:ext cx="7498200" cy="1118700"/>
          </a:xfrm>
          <a:prstGeom prst="rect">
            <a:avLst/>
          </a:prstGeom>
          <a:effectLst>
            <a:outerShdw blurRad="57150" rotWithShape="0" algn="bl" dir="4320000" dist="4762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117"/>
          <p:cNvSpPr txBox="1"/>
          <p:nvPr>
            <p:ph idx="1" type="subTitle"/>
          </p:nvPr>
        </p:nvSpPr>
        <p:spPr>
          <a:xfrm>
            <a:off x="1869500" y="2609013"/>
            <a:ext cx="5404800" cy="819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7" name="Google Shape;527;p11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528" name="Google Shape;528;p117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31" name="Google Shape;531;p118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532" name="Google Shape;532;p118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3" name="Google Shape;533;p118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4" name="Google Shape;534;p118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18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536" name="Google Shape;536;p118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37" name="Google Shape;537;p118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 2 1">
  <p:cSld name="TITLE_4_2_1">
    <p:bg>
      <p:bgPr>
        <a:solidFill>
          <a:srgbClr val="0A102A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9"/>
          <p:cNvSpPr txBox="1"/>
          <p:nvPr>
            <p:ph idx="1" type="subTitle"/>
          </p:nvPr>
        </p:nvSpPr>
        <p:spPr>
          <a:xfrm>
            <a:off x="1389600" y="2181675"/>
            <a:ext cx="6364800" cy="10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_2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1" name="Google Shape;541;p120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2" name="Google Shape;542;p120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2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4" name="Google Shape;544;p120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2">
  <p:cSld name="TITLE_10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6" name="Google Shape;546;p121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7" name="Google Shape;547;p121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2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9" name="Google Shape;549;p121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 1">
  <p:cSld name="TITLE_11_1">
    <p:bg>
      <p:bgPr>
        <a:gradFill>
          <a:gsLst>
            <a:gs pos="0">
              <a:srgbClr val="1F3656"/>
            </a:gs>
            <a:gs pos="100000">
              <a:srgbClr val="090E27"/>
            </a:gs>
          </a:gsLst>
          <a:lin ang="5400012" scaled="0"/>
        </a:gra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2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22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12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4" name="Google Shape;554;p122"/>
          <p:cNvSpPr txBox="1"/>
          <p:nvPr>
            <p:ph type="title"/>
          </p:nvPr>
        </p:nvSpPr>
        <p:spPr>
          <a:xfrm>
            <a:off x="188852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1400" scaled="0"/>
        </a:gra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1" name="Google Shape;561;p1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2" name="Google Shape;562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1400" scaled="0"/>
        </a:gra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565" name="Google Shape;565;p12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8" name="Google Shape;568;p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9" name="Google Shape;569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2" name="Google Shape;572;p1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3" name="Google Shape;573;p1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4" name="Google Shape;574;p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0" name="Google Shape;580;p1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1" name="Google Shape;581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4" name="Google Shape;584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8" name="Google Shape;588;p1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9" name="Google Shape;589;p1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0" name="Google Shape;590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3" name="Google Shape;593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6" name="Google Shape;596;p1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7" name="Google Shape;597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35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135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3" name="Google Shape;603;p135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135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05" name="Google Shape;605;p13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6" name="Google Shape;606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5208" y="246295"/>
            <a:ext cx="975856" cy="19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5">
          <p15:clr>
            <a:srgbClr val="FBAE40"/>
          </p15:clr>
        </p15:guide>
        <p15:guide id="2" pos="193">
          <p15:clr>
            <a:srgbClr val="FBAE40"/>
          </p15:clr>
        </p15:guide>
        <p15:guide id="3" pos="5567">
          <p15:clr>
            <a:srgbClr val="FBAE40"/>
          </p15:clr>
        </p15:guide>
        <p15:guide id="4" orient="horz" pos="1008">
          <p15:clr>
            <a:srgbClr val="FBAE40"/>
          </p15:clr>
        </p15:guide>
        <p15:guide id="5" orient="horz" pos="3015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9" name="Google Shape;609;p1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0" name="Google Shape;610;p13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1">
    <p:bg>
      <p:bgPr>
        <a:gradFill>
          <a:gsLst>
            <a:gs pos="0">
              <a:srgbClr val="2E5C9B"/>
            </a:gs>
            <a:gs pos="100000">
              <a:srgbClr val="03000E"/>
            </a:gs>
          </a:gsLst>
          <a:lin ang="10800025" scaled="0"/>
        </a:gra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7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15" name="Google Shape;615;p13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18" name="Google Shape;618;p139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本文のみ 1">
  <p:cSld name="SECTION_HEADER_1_1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1" name="Google Shape;621;p1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0"/>
          <p:cNvSpPr txBox="1"/>
          <p:nvPr/>
        </p:nvSpPr>
        <p:spPr>
          <a:xfrm>
            <a:off x="0" y="4835700"/>
            <a:ext cx="54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lt1"/>
                </a:solidFill>
              </a:rPr>
              <a:t>© MIZUKARA Co., Ltd.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23" name="Google Shape;623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1951" y="-608099"/>
            <a:ext cx="1745398" cy="1861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40"/>
          <p:cNvSpPr txBox="1"/>
          <p:nvPr/>
        </p:nvSpPr>
        <p:spPr>
          <a:xfrm>
            <a:off x="1271850" y="2233200"/>
            <a:ext cx="6600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5" name="Google Shape;625;p140"/>
          <p:cNvSpPr txBox="1"/>
          <p:nvPr>
            <p:ph idx="1" type="body"/>
          </p:nvPr>
        </p:nvSpPr>
        <p:spPr>
          <a:xfrm>
            <a:off x="1151100" y="1001213"/>
            <a:ext cx="6841800" cy="3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3.xml"/><Relationship Id="rId36" Type="http://schemas.openxmlformats.org/officeDocument/2006/relationships/theme" Target="../theme/theme5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89.xml"/><Relationship Id="rId27" Type="http://schemas.openxmlformats.org/officeDocument/2006/relationships/theme" Target="../theme/theme2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Relationship Id="rId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08.xml"/><Relationship Id="rId20" Type="http://schemas.openxmlformats.org/officeDocument/2006/relationships/slideLayout" Target="../slideLayouts/slideLayout109.xml"/><Relationship Id="rId21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1.xml"/><Relationship Id="rId23" Type="http://schemas.openxmlformats.org/officeDocument/2006/relationships/slideLayout" Target="../slideLayouts/slideLayout112.xml"/><Relationship Id="rId24" Type="http://schemas.openxmlformats.org/officeDocument/2006/relationships/slideLayout" Target="../slideLayouts/slideLayout113.xml"/><Relationship Id="rId25" Type="http://schemas.openxmlformats.org/officeDocument/2006/relationships/slideLayout" Target="../slideLayouts/slideLayout114.xml"/><Relationship Id="rId26" Type="http://schemas.openxmlformats.org/officeDocument/2006/relationships/slideLayout" Target="../slideLayouts/slideLayout115.xml"/><Relationship Id="rId27" Type="http://schemas.openxmlformats.org/officeDocument/2006/relationships/slideLayout" Target="../slideLayouts/slideLayout116.xml"/><Relationship Id="rId28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18.xml"/><Relationship Id="rId30" Type="http://schemas.openxmlformats.org/officeDocument/2006/relationships/theme" Target="../theme/theme6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34.xml"/><Relationship Id="rId17" Type="http://schemas.openxmlformats.org/officeDocument/2006/relationships/slideLayout" Target="../slideLayouts/slideLayout135.xml"/><Relationship Id="rId1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6" name="Google Shape;31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1" name="Google Shape;421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8" name="Google Shape;558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Relationship Id="rId3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1 -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1 -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重要な観点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アウェアネス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思考パターン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重要な観点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アウェアネス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思考パターン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6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3656"/>
                </a:solidFill>
              </a:rPr>
              <a:t>Memo</a:t>
            </a:r>
            <a:endParaRPr b="1" sz="2400">
              <a:solidFill>
                <a:srgbClr val="1F3656"/>
              </a:solidFill>
            </a:endParaRPr>
          </a:p>
        </p:txBody>
      </p:sp>
      <p:sp>
        <p:nvSpPr>
          <p:cNvPr id="658" name="Google Shape;658;p146"/>
          <p:cNvSpPr txBox="1"/>
          <p:nvPr/>
        </p:nvSpPr>
        <p:spPr>
          <a:xfrm>
            <a:off x="257501" y="1384950"/>
            <a:ext cx="8684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「Ripple Effect」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あなたの気づきは誰かにとっての偉大な気づきとなる。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あなたの挑戦は誰かにとっての偉大な挑戦のきっかけとなる。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あなたの人生はあなただけの人生ではない。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6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3656"/>
                </a:solidFill>
              </a:rPr>
              <a:t>Memo</a:t>
            </a:r>
            <a:endParaRPr b="1" sz="2400">
              <a:solidFill>
                <a:srgbClr val="1F3656"/>
              </a:solidFill>
            </a:endParaRPr>
          </a:p>
        </p:txBody>
      </p:sp>
      <p:sp>
        <p:nvSpPr>
          <p:cNvPr id="658" name="Google Shape;658;p146"/>
          <p:cNvSpPr txBox="1"/>
          <p:nvPr/>
        </p:nvSpPr>
        <p:spPr>
          <a:xfrm>
            <a:off x="257501" y="1384950"/>
            <a:ext cx="8684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「Ripple Effect」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あなたの気づきは誰かにとっての偉大な気づきとなる。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あなたの挑戦は誰かにとっての偉大な挑戦のきっかけとなる。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あなたの人生はあなただけの人生ではない。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7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64" name="Google Shape;664;p147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147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言い換え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6" name="Google Shape;666;p147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7" name="Google Shape;667;p147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構造化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8" name="Google Shape;668;p147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9" name="Google Shape;669;p147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因果関係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70" name="Google Shape;670;p147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147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147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3" name="Google Shape;673;p147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4" name="Google Shape;674;p147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5" name="Google Shape;675;p147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6" name="Google Shape;676;p147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7" name="Google Shape;677;p147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78" name="Google Shape;678;p147"/>
          <p:cNvCxnSpPr>
            <a:stCxn id="674" idx="2"/>
            <a:endCxn id="675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47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47"/>
          <p:cNvCxnSpPr>
            <a:stCxn id="677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147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2" name="Google Shape;682;p147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3" name="Google Shape;683;p147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84" name="Google Shape;684;p147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147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6" name="Google Shape;686;p147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147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8" name="Google Shape;688;p147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9" name="Google Shape;689;p147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7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64" name="Google Shape;664;p147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147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言い換え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6" name="Google Shape;666;p147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7" name="Google Shape;667;p147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構造化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8" name="Google Shape;668;p147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9" name="Google Shape;669;p147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因果関係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70" name="Google Shape;670;p147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147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147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3" name="Google Shape;673;p147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4" name="Google Shape;674;p147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5" name="Google Shape;675;p147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6" name="Google Shape;676;p147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7" name="Google Shape;677;p147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78" name="Google Shape;678;p147"/>
          <p:cNvCxnSpPr>
            <a:stCxn id="674" idx="2"/>
            <a:endCxn id="675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47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47"/>
          <p:cNvCxnSpPr>
            <a:stCxn id="677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147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2" name="Google Shape;682;p147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3" name="Google Shape;683;p147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84" name="Google Shape;684;p147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147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6" name="Google Shape;686;p147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147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8" name="Google Shape;688;p147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9" name="Google Shape;689;p147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認知科学コーチ養成講座JCCの目的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組織変革における人のパフォーマンス最大化のために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認知科学コーチングに紐づく重要な観点を学習・体現することによって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この場にいる139名がこれからの日本を牽引する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事業・組織を変革するリーダーとして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自身の在り方にブレイクスルーを起こすこと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※ブレイクスルー：現状の枠を大きく突破すること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認知科学コーチ養成講座JCCの目的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組織変革における人のパフォーマンス最大化のために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認知科学コーチングに紐づく重要な観点を学習・体現することによって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この場にいる139名がこれからの日本を牽引する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事業・組織を変革するリーダーとして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自身の在り方にブレイクスルーを起こすこと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※ブレイクスルー：現状の枠を大きく突破すること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技術課題（DO）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ある課題に対して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>新たな知識やスキル</a:t>
            </a:r>
            <a:r>
              <a:rPr b="1" lang="ja" sz="1500">
                <a:solidFill>
                  <a:srgbClr val="000000"/>
                </a:solidFill>
              </a:rPr>
              <a:t>を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身につけることにより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特定の「正解」を導き出すことが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できる課題のこと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適応課題（BE）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自分や組織の価値観や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考え方に根ざしており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>そのままの信念や価値観</a:t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>では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対応が難しいような課題のこと</a:t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コーチングで解決する課題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技術課題（DO）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ある課題に対して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>新たな知識やスキル</a:t>
            </a:r>
            <a:r>
              <a:rPr b="1" lang="ja" sz="1500">
                <a:solidFill>
                  <a:srgbClr val="000000"/>
                </a:solidFill>
              </a:rPr>
              <a:t>を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身につけることにより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特定の「正解」を導き出すことが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できる課題のこと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適応課題（BE）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自分や組織の価値観や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考え方に根ざしており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>そのままの信念や価値観</a:t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>では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対応が難しいような課題のこと</a:t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コーチングで解決する課題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組織の成長を引き止める根本原因は何ですか？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※どの組織・個人にも共通する普遍の適応課題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組織の成長を引き止める根本原因は何ですか？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※どの組織・個人にも共通する普遍の適応課題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48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ビリーフシステム（認知バイアス）</a:t>
            </a:r>
            <a:endParaRPr b="1" sz="2400">
              <a:solidFill>
                <a:schemeClr val="lt1"/>
              </a:solidFill>
            </a:endParaRPr>
          </a:p>
        </p:txBody>
      </p:sp>
      <p:cxnSp>
        <p:nvCxnSpPr>
          <p:cNvPr id="695" name="Google Shape;695;p148"/>
          <p:cNvCxnSpPr/>
          <p:nvPr/>
        </p:nvCxnSpPr>
        <p:spPr>
          <a:xfrm>
            <a:off x="3007813" y="1367750"/>
            <a:ext cx="21600" cy="3170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148"/>
          <p:cNvCxnSpPr/>
          <p:nvPr/>
        </p:nvCxnSpPr>
        <p:spPr>
          <a:xfrm>
            <a:off x="5903413" y="1367750"/>
            <a:ext cx="21600" cy="3170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148"/>
          <p:cNvSpPr txBox="1"/>
          <p:nvPr/>
        </p:nvSpPr>
        <p:spPr>
          <a:xfrm>
            <a:off x="3587563" y="1226375"/>
            <a:ext cx="17577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思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考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プ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ロ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セ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ス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の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ズ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レ</a:t>
            </a:r>
            <a:endParaRPr b="1" sz="2100">
              <a:solidFill>
                <a:srgbClr val="FCBC05"/>
              </a:solidFill>
            </a:endParaRPr>
          </a:p>
        </p:txBody>
      </p:sp>
      <p:sp>
        <p:nvSpPr>
          <p:cNvPr id="698" name="Google Shape;698;p148"/>
          <p:cNvSpPr txBox="1"/>
          <p:nvPr/>
        </p:nvSpPr>
        <p:spPr>
          <a:xfrm>
            <a:off x="7625838" y="1271375"/>
            <a:ext cx="1207200" cy="3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ア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ウ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ト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プ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ッ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ト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の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ズ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レ</a:t>
            </a:r>
            <a:endParaRPr b="1" sz="2100">
              <a:solidFill>
                <a:srgbClr val="FCBC05"/>
              </a:solidFill>
            </a:endParaRPr>
          </a:p>
        </p:txBody>
      </p:sp>
      <p:sp>
        <p:nvSpPr>
          <p:cNvPr id="699" name="Google Shape;699;p148"/>
          <p:cNvSpPr/>
          <p:nvPr/>
        </p:nvSpPr>
        <p:spPr>
          <a:xfrm rot="1984950">
            <a:off x="972769" y="2295085"/>
            <a:ext cx="1757639" cy="1292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8"/>
          <p:cNvSpPr/>
          <p:nvPr/>
        </p:nvSpPr>
        <p:spPr>
          <a:xfrm rot="1173">
            <a:off x="812469" y="2975835"/>
            <a:ext cx="1757700" cy="12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48"/>
          <p:cNvSpPr/>
          <p:nvPr/>
        </p:nvSpPr>
        <p:spPr>
          <a:xfrm rot="-2198699">
            <a:off x="972718" y="3684829"/>
            <a:ext cx="1757714" cy="1293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8"/>
          <p:cNvSpPr/>
          <p:nvPr/>
        </p:nvSpPr>
        <p:spPr>
          <a:xfrm rot="-2014569">
            <a:off x="5928680" y="2344138"/>
            <a:ext cx="1757543" cy="1292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48"/>
          <p:cNvSpPr/>
          <p:nvPr/>
        </p:nvSpPr>
        <p:spPr>
          <a:xfrm rot="1173">
            <a:off x="6070269" y="2975835"/>
            <a:ext cx="1757700" cy="12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48"/>
          <p:cNvSpPr/>
          <p:nvPr/>
        </p:nvSpPr>
        <p:spPr>
          <a:xfrm rot="2414629">
            <a:off x="5928661" y="3684836"/>
            <a:ext cx="1757626" cy="1292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48"/>
          <p:cNvSpPr txBox="1"/>
          <p:nvPr/>
        </p:nvSpPr>
        <p:spPr>
          <a:xfrm>
            <a:off x="310963" y="815675"/>
            <a:ext cx="25341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FF"/>
                </a:solidFill>
              </a:rPr>
              <a:t>入力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706" name="Google Shape;706;p148"/>
          <p:cNvSpPr txBox="1"/>
          <p:nvPr/>
        </p:nvSpPr>
        <p:spPr>
          <a:xfrm>
            <a:off x="5903413" y="815675"/>
            <a:ext cx="25341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FF"/>
                </a:solidFill>
              </a:rPr>
              <a:t>出力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48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ビリーフシステム（認知バイアス）</a:t>
            </a:r>
            <a:endParaRPr b="1" sz="2400">
              <a:solidFill>
                <a:schemeClr val="lt1"/>
              </a:solidFill>
            </a:endParaRPr>
          </a:p>
        </p:txBody>
      </p:sp>
      <p:cxnSp>
        <p:nvCxnSpPr>
          <p:cNvPr id="695" name="Google Shape;695;p148"/>
          <p:cNvCxnSpPr/>
          <p:nvPr/>
        </p:nvCxnSpPr>
        <p:spPr>
          <a:xfrm>
            <a:off x="3007813" y="1367750"/>
            <a:ext cx="21600" cy="3170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148"/>
          <p:cNvCxnSpPr/>
          <p:nvPr/>
        </p:nvCxnSpPr>
        <p:spPr>
          <a:xfrm>
            <a:off x="5903413" y="1367750"/>
            <a:ext cx="21600" cy="3170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148"/>
          <p:cNvSpPr txBox="1"/>
          <p:nvPr/>
        </p:nvSpPr>
        <p:spPr>
          <a:xfrm>
            <a:off x="3587563" y="1226375"/>
            <a:ext cx="17577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思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考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プ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ロ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セ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ス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の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ズ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レ</a:t>
            </a:r>
            <a:endParaRPr b="1" sz="2100">
              <a:solidFill>
                <a:srgbClr val="FCBC05"/>
              </a:solidFill>
            </a:endParaRPr>
          </a:p>
        </p:txBody>
      </p:sp>
      <p:sp>
        <p:nvSpPr>
          <p:cNvPr id="698" name="Google Shape;698;p148"/>
          <p:cNvSpPr txBox="1"/>
          <p:nvPr/>
        </p:nvSpPr>
        <p:spPr>
          <a:xfrm>
            <a:off x="7625838" y="1271375"/>
            <a:ext cx="1207200" cy="3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ア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ウ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ト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プ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ッ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ト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の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ズ</a:t>
            </a:r>
            <a:endParaRPr b="1" sz="2100">
              <a:solidFill>
                <a:srgbClr val="FCBC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CBC05"/>
                </a:solidFill>
              </a:rPr>
              <a:t>レ</a:t>
            </a:r>
            <a:endParaRPr b="1" sz="2100">
              <a:solidFill>
                <a:srgbClr val="FCBC05"/>
              </a:solidFill>
            </a:endParaRPr>
          </a:p>
        </p:txBody>
      </p:sp>
      <p:sp>
        <p:nvSpPr>
          <p:cNvPr id="699" name="Google Shape;699;p148"/>
          <p:cNvSpPr/>
          <p:nvPr/>
        </p:nvSpPr>
        <p:spPr>
          <a:xfrm rot="1984950">
            <a:off x="972769" y="2295085"/>
            <a:ext cx="1757639" cy="1292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8"/>
          <p:cNvSpPr/>
          <p:nvPr/>
        </p:nvSpPr>
        <p:spPr>
          <a:xfrm rot="1173">
            <a:off x="812469" y="2975835"/>
            <a:ext cx="1757700" cy="12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48"/>
          <p:cNvSpPr/>
          <p:nvPr/>
        </p:nvSpPr>
        <p:spPr>
          <a:xfrm rot="-2198699">
            <a:off x="972718" y="3684829"/>
            <a:ext cx="1757714" cy="1293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8"/>
          <p:cNvSpPr/>
          <p:nvPr/>
        </p:nvSpPr>
        <p:spPr>
          <a:xfrm rot="-2014569">
            <a:off x="5928680" y="2344138"/>
            <a:ext cx="1757543" cy="1292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48"/>
          <p:cNvSpPr/>
          <p:nvPr/>
        </p:nvSpPr>
        <p:spPr>
          <a:xfrm rot="1173">
            <a:off x="6070269" y="2975835"/>
            <a:ext cx="1757700" cy="12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48"/>
          <p:cNvSpPr/>
          <p:nvPr/>
        </p:nvSpPr>
        <p:spPr>
          <a:xfrm rot="2414629">
            <a:off x="5928661" y="3684836"/>
            <a:ext cx="1757626" cy="1292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48"/>
          <p:cNvSpPr txBox="1"/>
          <p:nvPr/>
        </p:nvSpPr>
        <p:spPr>
          <a:xfrm>
            <a:off x="310963" y="815675"/>
            <a:ext cx="25341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FF"/>
                </a:solidFill>
              </a:rPr>
              <a:t>入力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706" name="Google Shape;706;p148"/>
          <p:cNvSpPr txBox="1"/>
          <p:nvPr/>
        </p:nvSpPr>
        <p:spPr>
          <a:xfrm>
            <a:off x="5903413" y="815675"/>
            <a:ext cx="25341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FF"/>
                </a:solidFill>
              </a:rPr>
              <a:t>出力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63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普遍的な問題が生まれる市場の構造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63"/>
          <p:cNvSpPr/>
          <p:nvPr/>
        </p:nvSpPr>
        <p:spPr>
          <a:xfrm>
            <a:off x="814775" y="2508525"/>
            <a:ext cx="1027800" cy="985200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現在地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0" name="Google Shape;840;p163"/>
          <p:cNvSpPr/>
          <p:nvPr/>
        </p:nvSpPr>
        <p:spPr>
          <a:xfrm>
            <a:off x="632975" y="36214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1" name="Google Shape;841;p163"/>
          <p:cNvSpPr/>
          <p:nvPr/>
        </p:nvSpPr>
        <p:spPr>
          <a:xfrm>
            <a:off x="632975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2" name="Google Shape;842;p163"/>
          <p:cNvSpPr/>
          <p:nvPr/>
        </p:nvSpPr>
        <p:spPr>
          <a:xfrm>
            <a:off x="3855913" y="1750625"/>
            <a:ext cx="1027800" cy="985200"/>
          </a:xfrm>
          <a:prstGeom prst="ellipse">
            <a:avLst/>
          </a:prstGeom>
          <a:solidFill>
            <a:srgbClr val="BECB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3" name="Google Shape;843;p163"/>
          <p:cNvSpPr/>
          <p:nvPr/>
        </p:nvSpPr>
        <p:spPr>
          <a:xfrm>
            <a:off x="3674113" y="2895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4" name="Google Shape;844;p163"/>
          <p:cNvSpPr/>
          <p:nvPr/>
        </p:nvSpPr>
        <p:spPr>
          <a:xfrm>
            <a:off x="7078850" y="1126450"/>
            <a:ext cx="1027800" cy="985200"/>
          </a:xfrm>
          <a:prstGeom prst="ellipse">
            <a:avLst/>
          </a:prstGeom>
          <a:gradFill>
            <a:gsLst>
              <a:gs pos="0">
                <a:srgbClr val="434B76"/>
              </a:gs>
              <a:gs pos="100000">
                <a:srgbClr val="1F365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5" name="Google Shape;845;p163"/>
          <p:cNvSpPr/>
          <p:nvPr/>
        </p:nvSpPr>
        <p:spPr>
          <a:xfrm>
            <a:off x="6897050" y="2249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6" name="Google Shape;846;p163"/>
          <p:cNvCxnSpPr/>
          <p:nvPr/>
        </p:nvCxnSpPr>
        <p:spPr>
          <a:xfrm flipH="1" rot="10800000">
            <a:off x="2157600" y="31279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" name="Google Shape;847;p163"/>
          <p:cNvSpPr txBox="1"/>
          <p:nvPr/>
        </p:nvSpPr>
        <p:spPr>
          <a:xfrm>
            <a:off x="1944750" y="248935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sp>
        <p:nvSpPr>
          <p:cNvPr id="848" name="Google Shape;848;p163"/>
          <p:cNvSpPr/>
          <p:nvPr/>
        </p:nvSpPr>
        <p:spPr>
          <a:xfrm>
            <a:off x="3674113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9" name="Google Shape;849;p163"/>
          <p:cNvCxnSpPr/>
          <p:nvPr/>
        </p:nvCxnSpPr>
        <p:spPr>
          <a:xfrm>
            <a:off x="4369825" y="3409350"/>
            <a:ext cx="0" cy="6429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850" name="Google Shape;850;p163"/>
          <p:cNvSpPr txBox="1"/>
          <p:nvPr/>
        </p:nvSpPr>
        <p:spPr>
          <a:xfrm>
            <a:off x="2634175" y="3422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1" name="Google Shape;851;p163"/>
          <p:cNvSpPr/>
          <p:nvPr/>
        </p:nvSpPr>
        <p:spPr>
          <a:xfrm>
            <a:off x="6897038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52" name="Google Shape;852;p163"/>
          <p:cNvCxnSpPr/>
          <p:nvPr/>
        </p:nvCxnSpPr>
        <p:spPr>
          <a:xfrm>
            <a:off x="7592750" y="2821150"/>
            <a:ext cx="0" cy="11733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853" name="Google Shape;853;p163"/>
          <p:cNvCxnSpPr/>
          <p:nvPr/>
        </p:nvCxnSpPr>
        <p:spPr>
          <a:xfrm flipH="1" rot="10800000">
            <a:off x="5284975" y="24364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4" name="Google Shape;854;p163"/>
          <p:cNvSpPr txBox="1"/>
          <p:nvPr/>
        </p:nvSpPr>
        <p:spPr>
          <a:xfrm>
            <a:off x="5872163" y="3129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さらなる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5" name="Google Shape;855;p163"/>
          <p:cNvSpPr txBox="1"/>
          <p:nvPr/>
        </p:nvSpPr>
        <p:spPr>
          <a:xfrm>
            <a:off x="5076788" y="178720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cxnSp>
        <p:nvCxnSpPr>
          <p:cNvPr id="856" name="Google Shape;856;p163"/>
          <p:cNvCxnSpPr/>
          <p:nvPr/>
        </p:nvCxnSpPr>
        <p:spPr>
          <a:xfrm>
            <a:off x="2236200" y="4365950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163"/>
          <p:cNvCxnSpPr/>
          <p:nvPr/>
        </p:nvCxnSpPr>
        <p:spPr>
          <a:xfrm>
            <a:off x="5368238" y="4350675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63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普遍的な問題が生まれる市場の構造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63"/>
          <p:cNvSpPr/>
          <p:nvPr/>
        </p:nvSpPr>
        <p:spPr>
          <a:xfrm>
            <a:off x="814775" y="2508525"/>
            <a:ext cx="1027800" cy="985200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現在地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0" name="Google Shape;840;p163"/>
          <p:cNvSpPr/>
          <p:nvPr/>
        </p:nvSpPr>
        <p:spPr>
          <a:xfrm>
            <a:off x="632975" y="36214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1" name="Google Shape;841;p163"/>
          <p:cNvSpPr/>
          <p:nvPr/>
        </p:nvSpPr>
        <p:spPr>
          <a:xfrm>
            <a:off x="632975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2" name="Google Shape;842;p163"/>
          <p:cNvSpPr/>
          <p:nvPr/>
        </p:nvSpPr>
        <p:spPr>
          <a:xfrm>
            <a:off x="3855913" y="1750625"/>
            <a:ext cx="1027800" cy="985200"/>
          </a:xfrm>
          <a:prstGeom prst="ellipse">
            <a:avLst/>
          </a:prstGeom>
          <a:solidFill>
            <a:srgbClr val="BECB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3" name="Google Shape;843;p163"/>
          <p:cNvSpPr/>
          <p:nvPr/>
        </p:nvSpPr>
        <p:spPr>
          <a:xfrm>
            <a:off x="3674113" y="2895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4" name="Google Shape;844;p163"/>
          <p:cNvSpPr/>
          <p:nvPr/>
        </p:nvSpPr>
        <p:spPr>
          <a:xfrm>
            <a:off x="7078850" y="1126450"/>
            <a:ext cx="1027800" cy="985200"/>
          </a:xfrm>
          <a:prstGeom prst="ellipse">
            <a:avLst/>
          </a:prstGeom>
          <a:gradFill>
            <a:gsLst>
              <a:gs pos="0">
                <a:srgbClr val="434B76"/>
              </a:gs>
              <a:gs pos="100000">
                <a:srgbClr val="1F365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5" name="Google Shape;845;p163"/>
          <p:cNvSpPr/>
          <p:nvPr/>
        </p:nvSpPr>
        <p:spPr>
          <a:xfrm>
            <a:off x="6897050" y="2249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6" name="Google Shape;846;p163"/>
          <p:cNvCxnSpPr/>
          <p:nvPr/>
        </p:nvCxnSpPr>
        <p:spPr>
          <a:xfrm flipH="1" rot="10800000">
            <a:off x="2157600" y="31279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" name="Google Shape;847;p163"/>
          <p:cNvSpPr txBox="1"/>
          <p:nvPr/>
        </p:nvSpPr>
        <p:spPr>
          <a:xfrm>
            <a:off x="1944750" y="248935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sp>
        <p:nvSpPr>
          <p:cNvPr id="848" name="Google Shape;848;p163"/>
          <p:cNvSpPr/>
          <p:nvPr/>
        </p:nvSpPr>
        <p:spPr>
          <a:xfrm>
            <a:off x="3674113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9" name="Google Shape;849;p163"/>
          <p:cNvCxnSpPr/>
          <p:nvPr/>
        </p:nvCxnSpPr>
        <p:spPr>
          <a:xfrm>
            <a:off x="4369825" y="3409350"/>
            <a:ext cx="0" cy="6429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850" name="Google Shape;850;p163"/>
          <p:cNvSpPr txBox="1"/>
          <p:nvPr/>
        </p:nvSpPr>
        <p:spPr>
          <a:xfrm>
            <a:off x="2634175" y="3422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1" name="Google Shape;851;p163"/>
          <p:cNvSpPr/>
          <p:nvPr/>
        </p:nvSpPr>
        <p:spPr>
          <a:xfrm>
            <a:off x="6897038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52" name="Google Shape;852;p163"/>
          <p:cNvCxnSpPr/>
          <p:nvPr/>
        </p:nvCxnSpPr>
        <p:spPr>
          <a:xfrm>
            <a:off x="7592750" y="2821150"/>
            <a:ext cx="0" cy="11733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853" name="Google Shape;853;p163"/>
          <p:cNvCxnSpPr/>
          <p:nvPr/>
        </p:nvCxnSpPr>
        <p:spPr>
          <a:xfrm flipH="1" rot="10800000">
            <a:off x="5284975" y="24364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4" name="Google Shape;854;p163"/>
          <p:cNvSpPr txBox="1"/>
          <p:nvPr/>
        </p:nvSpPr>
        <p:spPr>
          <a:xfrm>
            <a:off x="5872163" y="3129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さらなる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5" name="Google Shape;855;p163"/>
          <p:cNvSpPr txBox="1"/>
          <p:nvPr/>
        </p:nvSpPr>
        <p:spPr>
          <a:xfrm>
            <a:off x="5076788" y="178720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cxnSp>
        <p:nvCxnSpPr>
          <p:cNvPr id="856" name="Google Shape;856;p163"/>
          <p:cNvCxnSpPr/>
          <p:nvPr/>
        </p:nvCxnSpPr>
        <p:spPr>
          <a:xfrm>
            <a:off x="2236200" y="4365950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163"/>
          <p:cNvCxnSpPr/>
          <p:nvPr/>
        </p:nvCxnSpPr>
        <p:spPr>
          <a:xfrm>
            <a:off x="5368238" y="4350675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183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83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7" name="Google Shape;1047;p183"/>
          <p:cNvSpPr txBox="1"/>
          <p:nvPr/>
        </p:nvSpPr>
        <p:spPr>
          <a:xfrm>
            <a:off x="3144450" y="4225850"/>
            <a:ext cx="285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（マインド）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8" name="Google Shape;1048;p183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49" name="Google Shape;1049;p183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0" name="Google Shape;1050;p183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1" name="Google Shape;1051;p183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2" name="Google Shape;1052;p183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183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83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7" name="Google Shape;1047;p183"/>
          <p:cNvSpPr txBox="1"/>
          <p:nvPr/>
        </p:nvSpPr>
        <p:spPr>
          <a:xfrm>
            <a:off x="3144450" y="4225850"/>
            <a:ext cx="285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（マインド）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8" name="Google Shape;1048;p183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49" name="Google Shape;1049;p183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0" name="Google Shape;1050;p183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1" name="Google Shape;1051;p183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2" name="Google Shape;1052;p183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84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84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9" name="Google Shape;1059;p184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自己否定⇨自己肯定感⇨自己効力感</a:t>
            </a:r>
            <a:endParaRPr b="1" sz="27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0" name="Google Shape;1060;p18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61" name="Google Shape;1061;p184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2" name="Google Shape;1062;p184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3" name="Google Shape;1063;p184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4" name="Google Shape;1064;p184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84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84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9" name="Google Shape;1059;p184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自己否定⇨自己肯定感⇨自己効力感</a:t>
            </a:r>
            <a:endParaRPr b="1" sz="27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0" name="Google Shape;1060;p18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61" name="Google Shape;1061;p184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2" name="Google Shape;1062;p184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3" name="Google Shape;1063;p184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4" name="Google Shape;1064;p184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185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85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1" name="Google Shape;1071;p185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</a:t>
            </a:r>
            <a:r>
              <a:rPr b="1" lang="ja" sz="2700">
                <a:solidFill>
                  <a:srgbClr val="FFFF00"/>
                </a:solidFill>
                <a:latin typeface="Meiryo"/>
                <a:ea typeface="Meiryo"/>
                <a:cs typeface="Meiryo"/>
                <a:sym typeface="Meiryo"/>
              </a:rPr>
              <a:t>自己肯定感⇨自己効力感</a:t>
            </a:r>
            <a:endParaRPr b="1" sz="2700">
              <a:solidFill>
                <a:srgbClr val="FFFF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2" name="Google Shape;1072;p18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73" name="Google Shape;1073;p185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4" name="Google Shape;1074;p185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5" name="Google Shape;1075;p185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6" name="Google Shape;1076;p185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185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85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1" name="Google Shape;1071;p185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</a:t>
            </a:r>
            <a:r>
              <a:rPr b="1" lang="ja" sz="2700">
                <a:solidFill>
                  <a:srgbClr val="FFFF00"/>
                </a:solidFill>
                <a:latin typeface="Meiryo"/>
                <a:ea typeface="Meiryo"/>
                <a:cs typeface="Meiryo"/>
                <a:sym typeface="Meiryo"/>
              </a:rPr>
              <a:t>自己肯定感⇨自己効力感</a:t>
            </a:r>
            <a:endParaRPr b="1" sz="2700">
              <a:solidFill>
                <a:srgbClr val="FFFF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2" name="Google Shape;1072;p18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73" name="Google Shape;1073;p185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4" name="Google Shape;1074;p185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5" name="Google Shape;1075;p185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6" name="Google Shape;1076;p185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92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92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9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92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92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92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2" name="Google Shape;1142;p192"/>
          <p:cNvCxnSpPr>
            <a:stCxn id="1141" idx="0"/>
            <a:endCxn id="1141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3" name="Google Shape;1143;p192"/>
          <p:cNvCxnSpPr>
            <a:stCxn id="1141" idx="1"/>
            <a:endCxn id="1141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144" name="Google Shape;1144;p192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92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lang="ja" sz="1800">
                <a:solidFill>
                  <a:srgbClr val="FFFFFF"/>
                </a:solidFill>
              </a:rPr>
              <a:t>戦略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92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92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lang="ja" sz="1800"/>
              <a:t>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148" name="Google Shape;1148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149" name="Google Shape;1149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150" name="Google Shape;1150;p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151" name="Google Shape;1151;p1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92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92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92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事業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92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組織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92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92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9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92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92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92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2" name="Google Shape;1142;p192"/>
          <p:cNvCxnSpPr>
            <a:stCxn id="1141" idx="0"/>
            <a:endCxn id="1141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3" name="Google Shape;1143;p192"/>
          <p:cNvCxnSpPr>
            <a:stCxn id="1141" idx="1"/>
            <a:endCxn id="1141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144" name="Google Shape;1144;p192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92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lang="ja" sz="1800">
                <a:solidFill>
                  <a:srgbClr val="FFFFFF"/>
                </a:solidFill>
              </a:rPr>
              <a:t>戦略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92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92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lang="ja" sz="1800"/>
              <a:t>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148" name="Google Shape;1148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149" name="Google Shape;1149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150" name="Google Shape;1150;p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151" name="Google Shape;1151;p1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92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92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92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事業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92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組織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170;p194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94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94"/>
          <p:cNvSpPr txBox="1"/>
          <p:nvPr/>
        </p:nvSpPr>
        <p:spPr>
          <a:xfrm>
            <a:off x="3035200" y="4225850"/>
            <a:ext cx="2855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（マインド）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9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94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94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94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94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170;p194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94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94"/>
          <p:cNvSpPr txBox="1"/>
          <p:nvPr/>
        </p:nvSpPr>
        <p:spPr>
          <a:xfrm>
            <a:off x="3035200" y="4225850"/>
            <a:ext cx="2855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（マインド）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9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94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94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94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94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195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95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195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（個人のマインド）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85" name="Google Shape;1185;p195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95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95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95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9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195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95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195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（個人のマインド）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85" name="Google Shape;1185;p195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95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95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95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9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96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96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96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（組織のカルチャー）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97" name="Google Shape;1197;p196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96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96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96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96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96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96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96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（組織のカルチャー）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97" name="Google Shape;1197;p196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96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96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96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96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97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97"/>
          <p:cNvSpPr/>
          <p:nvPr/>
        </p:nvSpPr>
        <p:spPr>
          <a:xfrm>
            <a:off x="290250" y="119875"/>
            <a:ext cx="8401200" cy="3690300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97"/>
          <p:cNvSpPr/>
          <p:nvPr/>
        </p:nvSpPr>
        <p:spPr>
          <a:xfrm>
            <a:off x="2568575" y="4623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09" name="Google Shape;1209;p197"/>
          <p:cNvSpPr/>
          <p:nvPr/>
        </p:nvSpPr>
        <p:spPr>
          <a:xfrm>
            <a:off x="6306175" y="18676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0" name="Google Shape;1210;p197"/>
          <p:cNvSpPr/>
          <p:nvPr/>
        </p:nvSpPr>
        <p:spPr>
          <a:xfrm>
            <a:off x="4591100" y="20464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1" name="Google Shape;1211;p197"/>
          <p:cNvSpPr/>
          <p:nvPr/>
        </p:nvSpPr>
        <p:spPr>
          <a:xfrm>
            <a:off x="2493525" y="25302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2" name="Google Shape;1212;p197"/>
          <p:cNvSpPr/>
          <p:nvPr/>
        </p:nvSpPr>
        <p:spPr>
          <a:xfrm>
            <a:off x="3135338" y="14962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3" name="Google Shape;1213;p197"/>
          <p:cNvSpPr/>
          <p:nvPr/>
        </p:nvSpPr>
        <p:spPr>
          <a:xfrm>
            <a:off x="5621175" y="26246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4" name="Google Shape;1214;p197"/>
          <p:cNvSpPr/>
          <p:nvPr/>
        </p:nvSpPr>
        <p:spPr>
          <a:xfrm>
            <a:off x="4260525" y="1124263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5" name="Google Shape;1215;p197"/>
          <p:cNvSpPr/>
          <p:nvPr/>
        </p:nvSpPr>
        <p:spPr>
          <a:xfrm>
            <a:off x="5385725" y="15354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6" name="Google Shape;1216;p197"/>
          <p:cNvSpPr/>
          <p:nvPr/>
        </p:nvSpPr>
        <p:spPr>
          <a:xfrm>
            <a:off x="3713600" y="25775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7" name="Google Shape;1217;p197"/>
          <p:cNvSpPr/>
          <p:nvPr/>
        </p:nvSpPr>
        <p:spPr>
          <a:xfrm>
            <a:off x="5039263" y="2908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8" name="Google Shape;1218;p197"/>
          <p:cNvSpPr/>
          <p:nvPr/>
        </p:nvSpPr>
        <p:spPr>
          <a:xfrm>
            <a:off x="591200" y="1428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9" name="Google Shape;1219;p197"/>
          <p:cNvSpPr/>
          <p:nvPr/>
        </p:nvSpPr>
        <p:spPr>
          <a:xfrm>
            <a:off x="1863275" y="11686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0" name="Google Shape;1220;p197"/>
          <p:cNvSpPr/>
          <p:nvPr/>
        </p:nvSpPr>
        <p:spPr>
          <a:xfrm>
            <a:off x="7226625" y="9898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1" name="Google Shape;1221;p197"/>
          <p:cNvSpPr/>
          <p:nvPr/>
        </p:nvSpPr>
        <p:spPr>
          <a:xfrm>
            <a:off x="6202513" y="611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2" name="Google Shape;1222;p197"/>
          <p:cNvSpPr/>
          <p:nvPr/>
        </p:nvSpPr>
        <p:spPr>
          <a:xfrm>
            <a:off x="1414825" y="21340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3" name="Google Shape;1223;p197"/>
          <p:cNvSpPr/>
          <p:nvPr/>
        </p:nvSpPr>
        <p:spPr>
          <a:xfrm>
            <a:off x="7318925" y="1976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4" name="Google Shape;1224;p197"/>
          <p:cNvSpPr/>
          <p:nvPr/>
        </p:nvSpPr>
        <p:spPr>
          <a:xfrm>
            <a:off x="3528325" y="202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5" name="Google Shape;1225;p197"/>
          <p:cNvSpPr txBox="1"/>
          <p:nvPr/>
        </p:nvSpPr>
        <p:spPr>
          <a:xfrm>
            <a:off x="454950" y="3891775"/>
            <a:ext cx="82341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個人のビリーフシステムの最大公約数が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組織のビリーフシステムになる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97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97"/>
          <p:cNvSpPr/>
          <p:nvPr/>
        </p:nvSpPr>
        <p:spPr>
          <a:xfrm>
            <a:off x="290250" y="119875"/>
            <a:ext cx="8401200" cy="3690300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97"/>
          <p:cNvSpPr/>
          <p:nvPr/>
        </p:nvSpPr>
        <p:spPr>
          <a:xfrm>
            <a:off x="2568575" y="4623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09" name="Google Shape;1209;p197"/>
          <p:cNvSpPr/>
          <p:nvPr/>
        </p:nvSpPr>
        <p:spPr>
          <a:xfrm>
            <a:off x="6306175" y="18676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0" name="Google Shape;1210;p197"/>
          <p:cNvSpPr/>
          <p:nvPr/>
        </p:nvSpPr>
        <p:spPr>
          <a:xfrm>
            <a:off x="4591100" y="20464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1" name="Google Shape;1211;p197"/>
          <p:cNvSpPr/>
          <p:nvPr/>
        </p:nvSpPr>
        <p:spPr>
          <a:xfrm>
            <a:off x="2493525" y="25302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2" name="Google Shape;1212;p197"/>
          <p:cNvSpPr/>
          <p:nvPr/>
        </p:nvSpPr>
        <p:spPr>
          <a:xfrm>
            <a:off x="3135338" y="14962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3" name="Google Shape;1213;p197"/>
          <p:cNvSpPr/>
          <p:nvPr/>
        </p:nvSpPr>
        <p:spPr>
          <a:xfrm>
            <a:off x="5621175" y="26246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4" name="Google Shape;1214;p197"/>
          <p:cNvSpPr/>
          <p:nvPr/>
        </p:nvSpPr>
        <p:spPr>
          <a:xfrm>
            <a:off x="4260525" y="1124263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5" name="Google Shape;1215;p197"/>
          <p:cNvSpPr/>
          <p:nvPr/>
        </p:nvSpPr>
        <p:spPr>
          <a:xfrm>
            <a:off x="5385725" y="15354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6" name="Google Shape;1216;p197"/>
          <p:cNvSpPr/>
          <p:nvPr/>
        </p:nvSpPr>
        <p:spPr>
          <a:xfrm>
            <a:off x="3713600" y="25775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7" name="Google Shape;1217;p197"/>
          <p:cNvSpPr/>
          <p:nvPr/>
        </p:nvSpPr>
        <p:spPr>
          <a:xfrm>
            <a:off x="5039263" y="2908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8" name="Google Shape;1218;p197"/>
          <p:cNvSpPr/>
          <p:nvPr/>
        </p:nvSpPr>
        <p:spPr>
          <a:xfrm>
            <a:off x="591200" y="1428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9" name="Google Shape;1219;p197"/>
          <p:cNvSpPr/>
          <p:nvPr/>
        </p:nvSpPr>
        <p:spPr>
          <a:xfrm>
            <a:off x="1863275" y="11686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0" name="Google Shape;1220;p197"/>
          <p:cNvSpPr/>
          <p:nvPr/>
        </p:nvSpPr>
        <p:spPr>
          <a:xfrm>
            <a:off x="7226625" y="9898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1" name="Google Shape;1221;p197"/>
          <p:cNvSpPr/>
          <p:nvPr/>
        </p:nvSpPr>
        <p:spPr>
          <a:xfrm>
            <a:off x="6202513" y="611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2" name="Google Shape;1222;p197"/>
          <p:cNvSpPr/>
          <p:nvPr/>
        </p:nvSpPr>
        <p:spPr>
          <a:xfrm>
            <a:off x="1414825" y="21340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3" name="Google Shape;1223;p197"/>
          <p:cNvSpPr/>
          <p:nvPr/>
        </p:nvSpPr>
        <p:spPr>
          <a:xfrm>
            <a:off x="7318925" y="1976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4" name="Google Shape;1224;p197"/>
          <p:cNvSpPr/>
          <p:nvPr/>
        </p:nvSpPr>
        <p:spPr>
          <a:xfrm>
            <a:off x="3528325" y="202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5" name="Google Shape;1225;p197"/>
          <p:cNvSpPr txBox="1"/>
          <p:nvPr/>
        </p:nvSpPr>
        <p:spPr>
          <a:xfrm>
            <a:off x="454950" y="3891775"/>
            <a:ext cx="82341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個人のビリーフシステムの最大公約数が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組織のビリーフシステムになる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19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99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9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99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99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99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1" name="Google Shape;1241;p199"/>
          <p:cNvCxnSpPr>
            <a:stCxn id="1240" idx="0"/>
            <a:endCxn id="1240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2" name="Google Shape;1242;p199"/>
          <p:cNvCxnSpPr>
            <a:stCxn id="1240" idx="1"/>
            <a:endCxn id="1240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43" name="Google Shape;1243;p199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99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99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99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47" name="Google Shape;1247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248" name="Google Shape;1248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49" name="Google Shape;1249;p1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50" name="Google Shape;1250;p1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199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99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99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99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19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99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9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99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99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99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1" name="Google Shape;1241;p199"/>
          <p:cNvCxnSpPr>
            <a:stCxn id="1240" idx="0"/>
            <a:endCxn id="1240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2" name="Google Shape;1242;p199"/>
          <p:cNvCxnSpPr>
            <a:stCxn id="1240" idx="1"/>
            <a:endCxn id="1240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43" name="Google Shape;1243;p199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99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99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99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47" name="Google Shape;1247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248" name="Google Shape;1248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49" name="Google Shape;1249;p1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50" name="Google Shape;1250;p1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199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99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99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99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202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20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0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0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99" name="Google Shape;1299;p20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00" name="Google Shape;1300;p202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01" name="Google Shape;1301;p202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02" name="Google Shape;1302;p202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3" name="Google Shape;1303;p202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4" name="Google Shape;1304;p202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5" name="Google Shape;1305;p202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202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20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0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0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99" name="Google Shape;1299;p20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00" name="Google Shape;1300;p202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01" name="Google Shape;1301;p202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02" name="Google Shape;1302;p202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3" name="Google Shape;1303;p202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4" name="Google Shape;1304;p202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5" name="Google Shape;1305;p202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203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20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0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0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14" name="Google Shape;1314;p20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15" name="Google Shape;1315;p203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6" name="Google Shape;1316;p203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17" name="Google Shape;1317;p203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8" name="Google Shape;1318;p203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9" name="Google Shape;1319;p203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20" name="Google Shape;1320;p203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21" name="Google Shape;1321;p203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22" name="Google Shape;1322;p203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3" name="Google Shape;1323;p203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4" name="Google Shape;1324;p203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203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20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0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0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14" name="Google Shape;1314;p20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15" name="Google Shape;1315;p203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6" name="Google Shape;1316;p203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17" name="Google Shape;1317;p203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8" name="Google Shape;1318;p203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9" name="Google Shape;1319;p203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20" name="Google Shape;1320;p203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21" name="Google Shape;1321;p203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22" name="Google Shape;1322;p203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3" name="Google Shape;1323;p203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4" name="Google Shape;1324;p203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422" name="Google Shape;1422;p215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3" name="Google Shape;1423;p215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言い換え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4" name="Google Shape;1424;p215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5" name="Google Shape;1425;p215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構造化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6" name="Google Shape;1426;p215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7" name="Google Shape;1427;p215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因果関係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8" name="Google Shape;1428;p215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9" name="Google Shape;1429;p215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0" name="Google Shape;1430;p215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1" name="Google Shape;1431;p215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2" name="Google Shape;1432;p215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3" name="Google Shape;1433;p215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4" name="Google Shape;1434;p215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5" name="Google Shape;1435;p215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36" name="Google Shape;1436;p215"/>
          <p:cNvCxnSpPr>
            <a:stCxn id="1432" idx="2"/>
            <a:endCxn id="1433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215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215"/>
          <p:cNvCxnSpPr>
            <a:stCxn id="1435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215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0" name="Google Shape;1440;p215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1" name="Google Shape;1441;p215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42" name="Google Shape;1442;p215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3" name="Google Shape;1443;p215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4" name="Google Shape;1444;p215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215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6" name="Google Shape;1446;p215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7" name="Google Shape;1447;p215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8" name="Google Shape;1448;p215"/>
          <p:cNvSpPr/>
          <p:nvPr/>
        </p:nvSpPr>
        <p:spPr>
          <a:xfrm>
            <a:off x="2904200" y="900000"/>
            <a:ext cx="3366000" cy="37986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422" name="Google Shape;1422;p215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3" name="Google Shape;1423;p215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言い換え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4" name="Google Shape;1424;p215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5" name="Google Shape;1425;p215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構造化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6" name="Google Shape;1426;p215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7" name="Google Shape;1427;p215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因果関係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8" name="Google Shape;1428;p215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9" name="Google Shape;1429;p215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0" name="Google Shape;1430;p215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1" name="Google Shape;1431;p215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2" name="Google Shape;1432;p215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3" name="Google Shape;1433;p215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4" name="Google Shape;1434;p215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5" name="Google Shape;1435;p215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36" name="Google Shape;1436;p215"/>
          <p:cNvCxnSpPr>
            <a:stCxn id="1432" idx="2"/>
            <a:endCxn id="1433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215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215"/>
          <p:cNvCxnSpPr>
            <a:stCxn id="1435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215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0" name="Google Shape;1440;p215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1" name="Google Shape;1441;p215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42" name="Google Shape;1442;p215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3" name="Google Shape;1443;p215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4" name="Google Shape;1444;p215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215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6" name="Google Shape;1446;p215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7" name="Google Shape;1447;p215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8" name="Google Shape;1448;p215"/>
          <p:cNvSpPr/>
          <p:nvPr/>
        </p:nvSpPr>
        <p:spPr>
          <a:xfrm>
            <a:off x="2904200" y="900000"/>
            <a:ext cx="3366000" cy="37986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216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216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非言語情報</a:t>
            </a:r>
            <a:endParaRPr sz="2572"/>
          </a:p>
        </p:txBody>
      </p:sp>
      <p:graphicFrame>
        <p:nvGraphicFramePr>
          <p:cNvPr id="1455" name="Google Shape;1455;p216"/>
          <p:cNvGraphicFramePr/>
          <p:nvPr/>
        </p:nvGraphicFramePr>
        <p:xfrm>
          <a:off x="530138" y="93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1985725"/>
                <a:gridCol w="5995750"/>
              </a:tblGrid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動作行動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身振り手振・表情・振る舞い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身体特徴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体型・体臭・髪型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接触行動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あいさつ・抱く・触る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パラ言語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声のトーン・声の強弱・リズム感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空間行動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距離感・対人距離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環境要因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照明・空調・音響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人工物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服装・アクセサリー・数珠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216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216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非言語情報</a:t>
            </a:r>
            <a:endParaRPr sz="2572"/>
          </a:p>
        </p:txBody>
      </p:sp>
      <p:graphicFrame>
        <p:nvGraphicFramePr>
          <p:cNvPr id="1455" name="Google Shape;1455;p216"/>
          <p:cNvGraphicFramePr/>
          <p:nvPr/>
        </p:nvGraphicFramePr>
        <p:xfrm>
          <a:off x="530138" y="93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1985725"/>
                <a:gridCol w="5995750"/>
              </a:tblGrid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動作行動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身振り手振・表情・振る舞い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身体特徴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体型・体臭・髪型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接触行動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あいさつ・抱く・触る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パラ言語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声のトーン・声の強弱・リズム感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空間行動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距離感・対人距離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環境要因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照明・空調・音響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人工物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服装・アクセサリー・数珠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21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2" name="Google Shape;1472;p219"/>
          <p:cNvGraphicFramePr/>
          <p:nvPr/>
        </p:nvGraphicFramePr>
        <p:xfrm>
          <a:off x="454438" y="135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34025"/>
                <a:gridCol w="6105475"/>
              </a:tblGrid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場の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音響・照明・空調・場所・エネルギー・関係性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思考プロセスの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過去未来・事実解釈・言語定義・抽象具体・構造化・因果関係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前提条件の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事業・部署・従業員数・配置・単価・顧客・業務内容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3" name="Google Shape;1473;p219"/>
          <p:cNvSpPr txBox="1"/>
          <p:nvPr/>
        </p:nvSpPr>
        <p:spPr>
          <a:xfrm>
            <a:off x="229850" y="0"/>
            <a:ext cx="8239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3つのコンテキスト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21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2" name="Google Shape;1472;p219"/>
          <p:cNvGraphicFramePr/>
          <p:nvPr/>
        </p:nvGraphicFramePr>
        <p:xfrm>
          <a:off x="454438" y="135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34025"/>
                <a:gridCol w="6105475"/>
              </a:tblGrid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場の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音響・照明・空調・場所・エネルギー・関係性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思考プロセスの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過去未来・事実解釈・言語定義・抽象具体・構造化・因果関係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前提条件の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事業・部署・従業員数・配置・単価・顧客・業務内容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3" name="Google Shape;1473;p219"/>
          <p:cNvSpPr txBox="1"/>
          <p:nvPr/>
        </p:nvSpPr>
        <p:spPr>
          <a:xfrm>
            <a:off x="229850" y="0"/>
            <a:ext cx="8239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3つのコンテキスト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68"/>
          <p:cNvSpPr/>
          <p:nvPr/>
        </p:nvSpPr>
        <p:spPr>
          <a:xfrm>
            <a:off x="-106050" y="125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6" name="Google Shape;896;p168"/>
          <p:cNvGrpSpPr/>
          <p:nvPr/>
        </p:nvGrpSpPr>
        <p:grpSpPr>
          <a:xfrm>
            <a:off x="1191827" y="1007238"/>
            <a:ext cx="6785563" cy="1084633"/>
            <a:chOff x="1191813" y="931025"/>
            <a:chExt cx="6785563" cy="1188900"/>
          </a:xfrm>
        </p:grpSpPr>
        <p:sp>
          <p:nvSpPr>
            <p:cNvPr id="897" name="Google Shape;897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過去の成功体験の認知バイアス・コンフォートゾーン</a:t>
              </a:r>
              <a:r>
                <a:rPr lang="ja" sz="1200"/>
                <a:t>により、新たな選択を取れなくなる。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一部の経営陣だけで意思決定する閉鎖環境</a:t>
              </a:r>
              <a:r>
                <a:rPr lang="ja" sz="1200"/>
                <a:t>が常態化。</a:t>
              </a:r>
              <a:endParaRPr sz="1200"/>
            </a:p>
          </p:txBody>
        </p:sp>
        <p:sp>
          <p:nvSpPr>
            <p:cNvPr id="899" name="Google Shape;899;p168"/>
            <p:cNvSpPr txBox="1"/>
            <p:nvPr/>
          </p:nvSpPr>
          <p:spPr>
            <a:xfrm>
              <a:off x="1191813" y="931025"/>
              <a:ext cx="6781200" cy="3888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500">
                  <a:solidFill>
                    <a:srgbClr val="000000"/>
                  </a:solidFill>
                </a:rPr>
                <a:t>経営層</a:t>
              </a:r>
              <a:endParaRPr b="1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900" name="Google Shape;900;p168"/>
          <p:cNvGrpSpPr/>
          <p:nvPr/>
        </p:nvGrpSpPr>
        <p:grpSpPr>
          <a:xfrm>
            <a:off x="1196200" y="2457407"/>
            <a:ext cx="6781200" cy="1047302"/>
            <a:chOff x="1196175" y="931025"/>
            <a:chExt cx="6781200" cy="1188900"/>
          </a:xfrm>
        </p:grpSpPr>
        <p:sp>
          <p:nvSpPr>
            <p:cNvPr id="901" name="Google Shape;901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出世のために</a:t>
              </a:r>
              <a:r>
                <a:rPr b="1" lang="ja" sz="1100" u="sng"/>
                <a:t>「無難に調整する」選択肢を取ってしまう</a:t>
              </a:r>
              <a:r>
                <a:rPr b="1" lang="ja" sz="1100"/>
                <a:t>。</a:t>
              </a:r>
              <a:endParaRPr b="1"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 u="sng"/>
                <a:t>経営を立てる人が評価</a:t>
              </a:r>
              <a:r>
                <a:rPr lang="ja" sz="1100"/>
                <a:t>され、新たな提案や本質的な課題を言えず、</a:t>
              </a:r>
              <a:r>
                <a:rPr b="1" lang="ja" sz="1100" u="sng"/>
                <a:t>本音と建前が乖離</a:t>
              </a:r>
              <a:r>
                <a:rPr lang="ja" sz="1100"/>
                <a:t>する。</a:t>
              </a:r>
              <a:endParaRPr sz="1100"/>
            </a:p>
          </p:txBody>
        </p:sp>
      </p:grpSp>
      <p:grpSp>
        <p:nvGrpSpPr>
          <p:cNvPr id="903" name="Google Shape;903;p168"/>
          <p:cNvGrpSpPr/>
          <p:nvPr/>
        </p:nvGrpSpPr>
        <p:grpSpPr>
          <a:xfrm>
            <a:off x="1196198" y="3870226"/>
            <a:ext cx="6781200" cy="1047302"/>
            <a:chOff x="1196175" y="931025"/>
            <a:chExt cx="6781200" cy="1188900"/>
          </a:xfrm>
        </p:grpSpPr>
        <p:sp>
          <p:nvSpPr>
            <p:cNvPr id="904" name="Google Shape;904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マネジャー層の統制の元で</a:t>
              </a:r>
              <a:r>
                <a:rPr b="1" lang="ja" sz="1100" u="sng"/>
                <a:t>「言われたこと」をこなす</a:t>
              </a:r>
              <a:r>
                <a:rPr lang="ja" sz="1100"/>
                <a:t>ようになる。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/>
                <a:t>組織の所属意義や働く意味を実感できずエンゲージメントが下がる。</a:t>
              </a:r>
              <a:endParaRPr b="1" sz="1100"/>
            </a:p>
          </p:txBody>
        </p:sp>
      </p:grpSp>
      <p:cxnSp>
        <p:nvCxnSpPr>
          <p:cNvPr id="906" name="Google Shape;906;p168"/>
          <p:cNvCxnSpPr/>
          <p:nvPr/>
        </p:nvCxnSpPr>
        <p:spPr>
          <a:xfrm>
            <a:off x="3292900" y="2170388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168"/>
          <p:cNvCxnSpPr/>
          <p:nvPr/>
        </p:nvCxnSpPr>
        <p:spPr>
          <a:xfrm flipH="1" rot="10800000">
            <a:off x="5760375" y="2143388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168"/>
          <p:cNvCxnSpPr/>
          <p:nvPr/>
        </p:nvCxnSpPr>
        <p:spPr>
          <a:xfrm>
            <a:off x="3284738" y="3582750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168"/>
          <p:cNvCxnSpPr/>
          <p:nvPr/>
        </p:nvCxnSpPr>
        <p:spPr>
          <a:xfrm flipH="1" rot="10800000">
            <a:off x="5752213" y="3555750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p168"/>
          <p:cNvSpPr txBox="1"/>
          <p:nvPr/>
        </p:nvSpPr>
        <p:spPr>
          <a:xfrm>
            <a:off x="5855950" y="2205038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迎合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1" name="Google Shape;911;p168"/>
          <p:cNvSpPr txBox="1"/>
          <p:nvPr/>
        </p:nvSpPr>
        <p:spPr>
          <a:xfrm>
            <a:off x="5855950" y="3617863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不信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2" name="Google Shape;912;p168"/>
          <p:cNvSpPr txBox="1"/>
          <p:nvPr/>
        </p:nvSpPr>
        <p:spPr>
          <a:xfrm>
            <a:off x="2394000" y="2205025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抑圧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3" name="Google Shape;913;p168"/>
          <p:cNvSpPr txBox="1"/>
          <p:nvPr/>
        </p:nvSpPr>
        <p:spPr>
          <a:xfrm>
            <a:off x="2394000" y="3617850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統制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4" name="Google Shape;914;p168"/>
          <p:cNvSpPr/>
          <p:nvPr/>
        </p:nvSpPr>
        <p:spPr>
          <a:xfrm>
            <a:off x="1191825" y="1007250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経営層</a:t>
            </a:r>
            <a:endParaRPr/>
          </a:p>
        </p:txBody>
      </p:sp>
      <p:sp>
        <p:nvSpPr>
          <p:cNvPr id="915" name="Google Shape;915;p168"/>
          <p:cNvSpPr/>
          <p:nvPr/>
        </p:nvSpPr>
        <p:spPr>
          <a:xfrm>
            <a:off x="1193950" y="243873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マネジメント層</a:t>
            </a:r>
            <a:endParaRPr/>
          </a:p>
        </p:txBody>
      </p:sp>
      <p:sp>
        <p:nvSpPr>
          <p:cNvPr id="916" name="Google Shape;916;p168"/>
          <p:cNvSpPr/>
          <p:nvPr/>
        </p:nvSpPr>
        <p:spPr>
          <a:xfrm>
            <a:off x="1191825" y="386928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現場層</a:t>
            </a:r>
            <a:endParaRPr/>
          </a:p>
        </p:txBody>
      </p:sp>
      <p:sp>
        <p:nvSpPr>
          <p:cNvPr id="917" name="Google Shape;917;p168"/>
          <p:cNvSpPr txBox="1"/>
          <p:nvPr/>
        </p:nvSpPr>
        <p:spPr>
          <a:xfrm>
            <a:off x="36637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なぜメンバーの主体性が生まれないのか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918" name="Google Shape;918;p16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68"/>
          <p:cNvSpPr/>
          <p:nvPr/>
        </p:nvSpPr>
        <p:spPr>
          <a:xfrm>
            <a:off x="-106050" y="125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6" name="Google Shape;896;p168"/>
          <p:cNvGrpSpPr/>
          <p:nvPr/>
        </p:nvGrpSpPr>
        <p:grpSpPr>
          <a:xfrm>
            <a:off x="1191827" y="1007238"/>
            <a:ext cx="6785563" cy="1084633"/>
            <a:chOff x="1191813" y="931025"/>
            <a:chExt cx="6785563" cy="1188900"/>
          </a:xfrm>
        </p:grpSpPr>
        <p:sp>
          <p:nvSpPr>
            <p:cNvPr id="897" name="Google Shape;897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過去の成功体験の認知バイアス・コンフォートゾーン</a:t>
              </a:r>
              <a:r>
                <a:rPr lang="ja" sz="1200"/>
                <a:t>により、新たな選択を取れなくなる。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一部の経営陣だけで意思決定する閉鎖環境</a:t>
              </a:r>
              <a:r>
                <a:rPr lang="ja" sz="1200"/>
                <a:t>が常態化。</a:t>
              </a:r>
              <a:endParaRPr sz="1200"/>
            </a:p>
          </p:txBody>
        </p:sp>
        <p:sp>
          <p:nvSpPr>
            <p:cNvPr id="899" name="Google Shape;899;p168"/>
            <p:cNvSpPr txBox="1"/>
            <p:nvPr/>
          </p:nvSpPr>
          <p:spPr>
            <a:xfrm>
              <a:off x="1191813" y="931025"/>
              <a:ext cx="6781200" cy="3888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500">
                  <a:solidFill>
                    <a:srgbClr val="000000"/>
                  </a:solidFill>
                </a:rPr>
                <a:t>経営層</a:t>
              </a:r>
              <a:endParaRPr b="1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900" name="Google Shape;900;p168"/>
          <p:cNvGrpSpPr/>
          <p:nvPr/>
        </p:nvGrpSpPr>
        <p:grpSpPr>
          <a:xfrm>
            <a:off x="1196200" y="2457407"/>
            <a:ext cx="6781200" cy="1047302"/>
            <a:chOff x="1196175" y="931025"/>
            <a:chExt cx="6781200" cy="1188900"/>
          </a:xfrm>
        </p:grpSpPr>
        <p:sp>
          <p:nvSpPr>
            <p:cNvPr id="901" name="Google Shape;901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出世のために</a:t>
              </a:r>
              <a:r>
                <a:rPr b="1" lang="ja" sz="1100" u="sng"/>
                <a:t>「無難に調整する」選択肢を取ってしまう</a:t>
              </a:r>
              <a:r>
                <a:rPr b="1" lang="ja" sz="1100"/>
                <a:t>。</a:t>
              </a:r>
              <a:endParaRPr b="1"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 u="sng"/>
                <a:t>経営を立てる人が評価</a:t>
              </a:r>
              <a:r>
                <a:rPr lang="ja" sz="1100"/>
                <a:t>され、新たな提案や本質的な課題を言えず、</a:t>
              </a:r>
              <a:r>
                <a:rPr b="1" lang="ja" sz="1100" u="sng"/>
                <a:t>本音と建前が乖離</a:t>
              </a:r>
              <a:r>
                <a:rPr lang="ja" sz="1100"/>
                <a:t>する。</a:t>
              </a:r>
              <a:endParaRPr sz="1100"/>
            </a:p>
          </p:txBody>
        </p:sp>
      </p:grpSp>
      <p:grpSp>
        <p:nvGrpSpPr>
          <p:cNvPr id="903" name="Google Shape;903;p168"/>
          <p:cNvGrpSpPr/>
          <p:nvPr/>
        </p:nvGrpSpPr>
        <p:grpSpPr>
          <a:xfrm>
            <a:off x="1196198" y="3870226"/>
            <a:ext cx="6781200" cy="1047302"/>
            <a:chOff x="1196175" y="931025"/>
            <a:chExt cx="6781200" cy="1188900"/>
          </a:xfrm>
        </p:grpSpPr>
        <p:sp>
          <p:nvSpPr>
            <p:cNvPr id="904" name="Google Shape;904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マネジャー層の統制の元で</a:t>
              </a:r>
              <a:r>
                <a:rPr b="1" lang="ja" sz="1100" u="sng"/>
                <a:t>「言われたこと」をこなす</a:t>
              </a:r>
              <a:r>
                <a:rPr lang="ja" sz="1100"/>
                <a:t>ようになる。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/>
                <a:t>組織の所属意義や働く意味を実感できずエンゲージメントが下がる。</a:t>
              </a:r>
              <a:endParaRPr b="1" sz="1100"/>
            </a:p>
          </p:txBody>
        </p:sp>
      </p:grpSp>
      <p:cxnSp>
        <p:nvCxnSpPr>
          <p:cNvPr id="906" name="Google Shape;906;p168"/>
          <p:cNvCxnSpPr/>
          <p:nvPr/>
        </p:nvCxnSpPr>
        <p:spPr>
          <a:xfrm>
            <a:off x="3292900" y="2170388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168"/>
          <p:cNvCxnSpPr/>
          <p:nvPr/>
        </p:nvCxnSpPr>
        <p:spPr>
          <a:xfrm flipH="1" rot="10800000">
            <a:off x="5760375" y="2143388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168"/>
          <p:cNvCxnSpPr/>
          <p:nvPr/>
        </p:nvCxnSpPr>
        <p:spPr>
          <a:xfrm>
            <a:off x="3284738" y="3582750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168"/>
          <p:cNvCxnSpPr/>
          <p:nvPr/>
        </p:nvCxnSpPr>
        <p:spPr>
          <a:xfrm flipH="1" rot="10800000">
            <a:off x="5752213" y="3555750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p168"/>
          <p:cNvSpPr txBox="1"/>
          <p:nvPr/>
        </p:nvSpPr>
        <p:spPr>
          <a:xfrm>
            <a:off x="5855950" y="2205038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迎合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1" name="Google Shape;911;p168"/>
          <p:cNvSpPr txBox="1"/>
          <p:nvPr/>
        </p:nvSpPr>
        <p:spPr>
          <a:xfrm>
            <a:off x="5855950" y="3617863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不信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2" name="Google Shape;912;p168"/>
          <p:cNvSpPr txBox="1"/>
          <p:nvPr/>
        </p:nvSpPr>
        <p:spPr>
          <a:xfrm>
            <a:off x="2394000" y="2205025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抑圧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3" name="Google Shape;913;p168"/>
          <p:cNvSpPr txBox="1"/>
          <p:nvPr/>
        </p:nvSpPr>
        <p:spPr>
          <a:xfrm>
            <a:off x="2394000" y="3617850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統制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4" name="Google Shape;914;p168"/>
          <p:cNvSpPr/>
          <p:nvPr/>
        </p:nvSpPr>
        <p:spPr>
          <a:xfrm>
            <a:off x="1191825" y="1007250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経営層</a:t>
            </a:r>
            <a:endParaRPr/>
          </a:p>
        </p:txBody>
      </p:sp>
      <p:sp>
        <p:nvSpPr>
          <p:cNvPr id="915" name="Google Shape;915;p168"/>
          <p:cNvSpPr/>
          <p:nvPr/>
        </p:nvSpPr>
        <p:spPr>
          <a:xfrm>
            <a:off x="1193950" y="243873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マネジメント層</a:t>
            </a:r>
            <a:endParaRPr/>
          </a:p>
        </p:txBody>
      </p:sp>
      <p:sp>
        <p:nvSpPr>
          <p:cNvPr id="916" name="Google Shape;916;p168"/>
          <p:cNvSpPr/>
          <p:nvPr/>
        </p:nvSpPr>
        <p:spPr>
          <a:xfrm>
            <a:off x="1191825" y="386928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現場層</a:t>
            </a:r>
            <a:endParaRPr/>
          </a:p>
        </p:txBody>
      </p:sp>
      <p:sp>
        <p:nvSpPr>
          <p:cNvPr id="917" name="Google Shape;917;p168"/>
          <p:cNvSpPr txBox="1"/>
          <p:nvPr/>
        </p:nvSpPr>
        <p:spPr>
          <a:xfrm>
            <a:off x="36637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なぜメンバーの主体性が生まれないのか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918" name="Google Shape;918;p16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173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173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73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73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73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73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52" name="Google Shape;952;p173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問題も理想も不明確であり創発し続けることが難しい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173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173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73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73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73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73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52" name="Google Shape;952;p173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問題も理想も不明確であり創発し続けることが難しい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174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74"/>
          <p:cNvSpPr/>
          <p:nvPr/>
        </p:nvSpPr>
        <p:spPr>
          <a:xfrm>
            <a:off x="787200" y="668850"/>
            <a:ext cx="7569600" cy="3148800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74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74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74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74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74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4" name="Google Shape;964;p174"/>
          <p:cNvSpPr txBox="1"/>
          <p:nvPr/>
        </p:nvSpPr>
        <p:spPr>
          <a:xfrm>
            <a:off x="708525" y="700188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原則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5" name="Google Shape;965;p174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174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74"/>
          <p:cNvSpPr/>
          <p:nvPr/>
        </p:nvSpPr>
        <p:spPr>
          <a:xfrm>
            <a:off x="787200" y="668850"/>
            <a:ext cx="7569600" cy="3148800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74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74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74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74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74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4" name="Google Shape;964;p174"/>
          <p:cNvSpPr txBox="1"/>
          <p:nvPr/>
        </p:nvSpPr>
        <p:spPr>
          <a:xfrm>
            <a:off x="708525" y="700188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原則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5" name="Google Shape;965;p174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175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175"/>
          <p:cNvSpPr/>
          <p:nvPr/>
        </p:nvSpPr>
        <p:spPr>
          <a:xfrm>
            <a:off x="4728138" y="1585175"/>
            <a:ext cx="3596400" cy="197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75"/>
          <p:cNvSpPr/>
          <p:nvPr/>
        </p:nvSpPr>
        <p:spPr>
          <a:xfrm>
            <a:off x="4728138" y="911875"/>
            <a:ext cx="3596400" cy="50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75"/>
          <p:cNvSpPr/>
          <p:nvPr/>
        </p:nvSpPr>
        <p:spPr>
          <a:xfrm>
            <a:off x="882413" y="911875"/>
            <a:ext cx="3596400" cy="5073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75"/>
          <p:cNvSpPr/>
          <p:nvPr/>
        </p:nvSpPr>
        <p:spPr>
          <a:xfrm>
            <a:off x="882413" y="1585175"/>
            <a:ext cx="3596400" cy="1974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75"/>
          <p:cNvSpPr txBox="1"/>
          <p:nvPr/>
        </p:nvSpPr>
        <p:spPr>
          <a:xfrm>
            <a:off x="1534963" y="934663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原理の不在</a:t>
            </a:r>
            <a:endParaRPr b="1" sz="1800">
              <a:solidFill>
                <a:schemeClr val="dk2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976" name="Google Shape;976;p175"/>
          <p:cNvSpPr txBox="1"/>
          <p:nvPr/>
        </p:nvSpPr>
        <p:spPr>
          <a:xfrm>
            <a:off x="5398838" y="934675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原則の存在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7" name="Google Shape;977;p175"/>
          <p:cNvSpPr txBox="1"/>
          <p:nvPr/>
        </p:nvSpPr>
        <p:spPr>
          <a:xfrm>
            <a:off x="882425" y="1787525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個人の解釈や感想の言い合い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問題や理想の不明確化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再現性のない施策実行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78" name="Google Shape;978;p175"/>
          <p:cNvSpPr txBox="1"/>
          <p:nvPr/>
        </p:nvSpPr>
        <p:spPr>
          <a:xfrm>
            <a:off x="4728150" y="1786800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問題や理想の設定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アクションの明確化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再現性の施策実行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9" name="Google Shape;979;p175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  <p:cxnSp>
        <p:nvCxnSpPr>
          <p:cNvPr id="980" name="Google Shape;980;p175"/>
          <p:cNvCxnSpPr/>
          <p:nvPr/>
        </p:nvCxnSpPr>
        <p:spPr>
          <a:xfrm>
            <a:off x="1201925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175"/>
          <p:cNvCxnSpPr/>
          <p:nvPr/>
        </p:nvCxnSpPr>
        <p:spPr>
          <a:xfrm>
            <a:off x="1201925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175"/>
          <p:cNvCxnSpPr/>
          <p:nvPr/>
        </p:nvCxnSpPr>
        <p:spPr>
          <a:xfrm>
            <a:off x="5047650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175"/>
          <p:cNvCxnSpPr/>
          <p:nvPr/>
        </p:nvCxnSpPr>
        <p:spPr>
          <a:xfrm>
            <a:off x="5047650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175"/>
          <p:cNvSpPr txBox="1"/>
          <p:nvPr>
            <p:ph type="title"/>
          </p:nvPr>
        </p:nvSpPr>
        <p:spPr>
          <a:xfrm>
            <a:off x="3871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90"/>
              <a:buFont typeface="Century Gothic"/>
              <a:buNone/>
            </a:pPr>
            <a:r>
              <a:rPr b="1" lang="ja" sz="2420">
                <a:solidFill>
                  <a:schemeClr val="lt1"/>
                </a:solidFill>
              </a:rPr>
              <a:t>何故が原理が必要か？</a:t>
            </a:r>
            <a:endParaRPr b="1" sz="24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175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175"/>
          <p:cNvSpPr/>
          <p:nvPr/>
        </p:nvSpPr>
        <p:spPr>
          <a:xfrm>
            <a:off x="4728138" y="1585175"/>
            <a:ext cx="3596400" cy="197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75"/>
          <p:cNvSpPr/>
          <p:nvPr/>
        </p:nvSpPr>
        <p:spPr>
          <a:xfrm>
            <a:off x="4728138" y="911875"/>
            <a:ext cx="3596400" cy="50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75"/>
          <p:cNvSpPr/>
          <p:nvPr/>
        </p:nvSpPr>
        <p:spPr>
          <a:xfrm>
            <a:off x="882413" y="911875"/>
            <a:ext cx="3596400" cy="5073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75"/>
          <p:cNvSpPr/>
          <p:nvPr/>
        </p:nvSpPr>
        <p:spPr>
          <a:xfrm>
            <a:off x="882413" y="1585175"/>
            <a:ext cx="3596400" cy="1974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75"/>
          <p:cNvSpPr txBox="1"/>
          <p:nvPr/>
        </p:nvSpPr>
        <p:spPr>
          <a:xfrm>
            <a:off x="1534963" y="934663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原理の不在</a:t>
            </a:r>
            <a:endParaRPr b="1" sz="1800">
              <a:solidFill>
                <a:schemeClr val="dk2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976" name="Google Shape;976;p175"/>
          <p:cNvSpPr txBox="1"/>
          <p:nvPr/>
        </p:nvSpPr>
        <p:spPr>
          <a:xfrm>
            <a:off x="5398838" y="934675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原則の存在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7" name="Google Shape;977;p175"/>
          <p:cNvSpPr txBox="1"/>
          <p:nvPr/>
        </p:nvSpPr>
        <p:spPr>
          <a:xfrm>
            <a:off x="882425" y="1787525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個人の解釈や感想の言い合い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問題や理想の不明確化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再現性のない施策実行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78" name="Google Shape;978;p175"/>
          <p:cNvSpPr txBox="1"/>
          <p:nvPr/>
        </p:nvSpPr>
        <p:spPr>
          <a:xfrm>
            <a:off x="4728150" y="1786800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問題や理想の設定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アクションの明確化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再現性の施策実行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9" name="Google Shape;979;p175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  <p:cxnSp>
        <p:nvCxnSpPr>
          <p:cNvPr id="980" name="Google Shape;980;p175"/>
          <p:cNvCxnSpPr/>
          <p:nvPr/>
        </p:nvCxnSpPr>
        <p:spPr>
          <a:xfrm>
            <a:off x="1201925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175"/>
          <p:cNvCxnSpPr/>
          <p:nvPr/>
        </p:nvCxnSpPr>
        <p:spPr>
          <a:xfrm>
            <a:off x="1201925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175"/>
          <p:cNvCxnSpPr/>
          <p:nvPr/>
        </p:nvCxnSpPr>
        <p:spPr>
          <a:xfrm>
            <a:off x="5047650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175"/>
          <p:cNvCxnSpPr/>
          <p:nvPr/>
        </p:nvCxnSpPr>
        <p:spPr>
          <a:xfrm>
            <a:off x="5047650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175"/>
          <p:cNvSpPr txBox="1"/>
          <p:nvPr>
            <p:ph type="title"/>
          </p:nvPr>
        </p:nvSpPr>
        <p:spPr>
          <a:xfrm>
            <a:off x="3871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90"/>
              <a:buFont typeface="Century Gothic"/>
              <a:buNone/>
            </a:pPr>
            <a:r>
              <a:rPr b="1" lang="ja" sz="2420">
                <a:solidFill>
                  <a:schemeClr val="lt1"/>
                </a:solidFill>
              </a:rPr>
              <a:t>何故が原理が必要か？</a:t>
            </a:r>
            <a:endParaRPr b="1" sz="24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186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86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86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186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5" name="Google Shape;1085;p186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6" name="Google Shape;1086;p186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コーチングとは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エフィカシーを最大限高めること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※エフィカシーとは必ずGOALを達成することができるという「やれる気」のこと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186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86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86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186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5" name="Google Shape;1085;p186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6" name="Google Shape;1086;p186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コーチングとは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エフィカシーを最大限高めること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※エフィカシーとは必ずGOALを達成することができるという「やれる気」のこと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19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9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9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9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0" name="Google Shape;1130;p19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1" name="Google Shape;1131;p19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どの象限にも</a:t>
            </a:r>
            <a:r>
              <a:rPr b="1" lang="ja" sz="2300">
                <a:solidFill>
                  <a:srgbClr val="FFFF00"/>
                </a:solidFill>
              </a:rPr>
              <a:t>『人間の原理原則』</a:t>
            </a:r>
            <a:r>
              <a:rPr b="1" lang="ja" sz="2000">
                <a:solidFill>
                  <a:schemeClr val="lt1"/>
                </a:solidFill>
              </a:rPr>
              <a:t>は必ず通底している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300">
                <a:solidFill>
                  <a:srgbClr val="FFFF00"/>
                </a:solidFill>
              </a:rPr>
              <a:t>理論なき持論</a:t>
            </a:r>
            <a:r>
              <a:rPr b="1" lang="ja" sz="2000">
                <a:solidFill>
                  <a:schemeClr val="lt1"/>
                </a:solidFill>
              </a:rPr>
              <a:t>は扱わない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19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9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9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9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0" name="Google Shape;1130;p19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1" name="Google Shape;1131;p19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どの象限にも</a:t>
            </a:r>
            <a:r>
              <a:rPr b="1" lang="ja" sz="2300">
                <a:solidFill>
                  <a:srgbClr val="FFFF00"/>
                </a:solidFill>
              </a:rPr>
              <a:t>『人間の原理原則』</a:t>
            </a:r>
            <a:r>
              <a:rPr b="1" lang="ja" sz="2000">
                <a:solidFill>
                  <a:schemeClr val="lt1"/>
                </a:solidFill>
              </a:rPr>
              <a:t>は必ず通底している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300">
                <a:solidFill>
                  <a:srgbClr val="FFFF00"/>
                </a:solidFill>
              </a:rPr>
              <a:t>理論なき持論</a:t>
            </a:r>
            <a:r>
              <a:rPr b="1" lang="ja" sz="2000">
                <a:solidFill>
                  <a:schemeClr val="lt1"/>
                </a:solidFill>
              </a:rPr>
              <a:t>は扱わない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20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20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0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0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8" name="Google Shape;1288;p20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9" name="Google Shape;1289;p20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290" name="Google Shape;1290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20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20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0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0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8" name="Google Shape;1288;p20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9" name="Google Shape;1289;p20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290" name="Google Shape;1290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47"/>
          <p:cNvGraphicFramePr/>
          <p:nvPr/>
        </p:nvGraphicFramePr>
        <p:xfrm>
          <a:off x="1566672" y="1920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{FF07CFD5-3485-48FE-A829-E50906DC0AFE}</a:tableStyleId>
              </a:tblPr>
              <a:tblGrid>
                <a:gridCol w="1203000"/>
                <a:gridCol w="1203000"/>
                <a:gridCol w="1203000"/>
                <a:gridCol w="1203000"/>
                <a:gridCol w="1203000"/>
                <a:gridCol w="1203000"/>
              </a:tblGrid>
              <a:tr h="69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① 問題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（Problem）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②事実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（Fact）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③課題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（1~5What）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④理想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（GOAL）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⑤方針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（Plan）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⑥行動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（Action）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</a:tr>
              <a:tr h="20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47"/>
          <p:cNvSpPr txBox="1"/>
          <p:nvPr/>
        </p:nvSpPr>
        <p:spPr>
          <a:xfrm>
            <a:off x="780994" y="503200"/>
            <a:ext cx="40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過去（フィードバック）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11" name="Google Shape;211;p47"/>
          <p:cNvSpPr txBox="1"/>
          <p:nvPr/>
        </p:nvSpPr>
        <p:spPr>
          <a:xfrm>
            <a:off x="5348700" y="548781"/>
            <a:ext cx="343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未来（フィードフォワード）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212" name="Google Shape;212;p47"/>
          <p:cNvCxnSpPr/>
          <p:nvPr/>
        </p:nvCxnSpPr>
        <p:spPr>
          <a:xfrm flipH="1">
            <a:off x="5173375" y="688675"/>
            <a:ext cx="2400" cy="121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47"/>
          <p:cNvSpPr/>
          <p:nvPr/>
        </p:nvSpPr>
        <p:spPr>
          <a:xfrm rot="-5400000">
            <a:off x="3103188" y="-316212"/>
            <a:ext cx="581075" cy="3559300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47"/>
          <p:cNvSpPr txBox="1"/>
          <p:nvPr/>
        </p:nvSpPr>
        <p:spPr>
          <a:xfrm>
            <a:off x="2036605" y="1217128"/>
            <a:ext cx="21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特定</a:t>
            </a:r>
            <a:endParaRPr b="1" sz="2000"/>
          </a:p>
        </p:txBody>
      </p:sp>
      <p:sp>
        <p:nvSpPr>
          <p:cNvPr id="215" name="Google Shape;215;p47"/>
          <p:cNvSpPr/>
          <p:nvPr/>
        </p:nvSpPr>
        <p:spPr>
          <a:xfrm rot="-5400000">
            <a:off x="6739415" y="-285533"/>
            <a:ext cx="602575" cy="3497925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7"/>
          <p:cNvSpPr txBox="1"/>
          <p:nvPr/>
        </p:nvSpPr>
        <p:spPr>
          <a:xfrm>
            <a:off x="6494842" y="1217121"/>
            <a:ext cx="75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改善</a:t>
            </a:r>
            <a:endParaRPr b="1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47"/>
          <p:cNvGraphicFramePr/>
          <p:nvPr/>
        </p:nvGraphicFramePr>
        <p:xfrm>
          <a:off x="1566672" y="1920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{FF07CFD5-3485-48FE-A829-E50906DC0AFE}</a:tableStyleId>
              </a:tblPr>
              <a:tblGrid>
                <a:gridCol w="1203000"/>
                <a:gridCol w="1203000"/>
                <a:gridCol w="1203000"/>
                <a:gridCol w="1203000"/>
                <a:gridCol w="1203000"/>
                <a:gridCol w="1203000"/>
              </a:tblGrid>
              <a:tr h="69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① 問題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（Problem）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②事実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（Fact）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③課題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（1~5What）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④理想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（GOAL）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⑤方針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（Plan）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⑥行動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（Action）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</a:tr>
              <a:tr h="206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47"/>
          <p:cNvSpPr txBox="1"/>
          <p:nvPr/>
        </p:nvSpPr>
        <p:spPr>
          <a:xfrm>
            <a:off x="780994" y="503200"/>
            <a:ext cx="40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過去（フィードバック）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11" name="Google Shape;211;p47"/>
          <p:cNvSpPr txBox="1"/>
          <p:nvPr/>
        </p:nvSpPr>
        <p:spPr>
          <a:xfrm>
            <a:off x="5348700" y="548781"/>
            <a:ext cx="343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未来（フィードフォワード）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212" name="Google Shape;212;p47"/>
          <p:cNvCxnSpPr/>
          <p:nvPr/>
        </p:nvCxnSpPr>
        <p:spPr>
          <a:xfrm flipH="1">
            <a:off x="5173375" y="688675"/>
            <a:ext cx="2400" cy="121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47"/>
          <p:cNvSpPr/>
          <p:nvPr/>
        </p:nvSpPr>
        <p:spPr>
          <a:xfrm rot="-5400000">
            <a:off x="3103188" y="-316212"/>
            <a:ext cx="581075" cy="3559300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47"/>
          <p:cNvSpPr txBox="1"/>
          <p:nvPr/>
        </p:nvSpPr>
        <p:spPr>
          <a:xfrm>
            <a:off x="2036605" y="1217128"/>
            <a:ext cx="21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特定</a:t>
            </a:r>
            <a:endParaRPr b="1" sz="2000"/>
          </a:p>
        </p:txBody>
      </p:sp>
      <p:sp>
        <p:nvSpPr>
          <p:cNvPr id="215" name="Google Shape;215;p47"/>
          <p:cNvSpPr/>
          <p:nvPr/>
        </p:nvSpPr>
        <p:spPr>
          <a:xfrm rot="-5400000">
            <a:off x="6739415" y="-285533"/>
            <a:ext cx="602575" cy="3497925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7"/>
          <p:cNvSpPr txBox="1"/>
          <p:nvPr/>
        </p:nvSpPr>
        <p:spPr>
          <a:xfrm>
            <a:off x="6494842" y="1217121"/>
            <a:ext cx="75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改善</a:t>
            </a:r>
            <a:endParaRPr b="1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9"/>
          <p:cNvGraphicFramePr/>
          <p:nvPr/>
        </p:nvGraphicFramePr>
        <p:xfrm>
          <a:off x="361500" y="1920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{FF07CFD5-3485-48FE-A829-E50906DC0AFE}</a:tableStyleId>
              </a:tblPr>
              <a:tblGrid>
                <a:gridCol w="1203000"/>
                <a:gridCol w="1203000"/>
                <a:gridCol w="1203000"/>
                <a:gridCol w="1203000"/>
                <a:gridCol w="1203000"/>
                <a:gridCol w="1203000"/>
                <a:gridCol w="1203000"/>
              </a:tblGrid>
              <a:tr h="69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②理由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（Why）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① 問題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（Problem）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②事実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（Fact）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③課題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（1~5What）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④理想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（GOAL）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⑤方針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（Plan）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⑥行動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（Action）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</a:tr>
              <a:tr h="206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500">
                          <a:solidFill>
                            <a:schemeClr val="dk1"/>
                          </a:solidFill>
                        </a:rPr>
                        <a:t>起点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49"/>
          <p:cNvSpPr txBox="1"/>
          <p:nvPr/>
        </p:nvSpPr>
        <p:spPr>
          <a:xfrm>
            <a:off x="780994" y="503200"/>
            <a:ext cx="40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過去（フィードバック）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35" name="Google Shape;235;p49"/>
          <p:cNvSpPr txBox="1"/>
          <p:nvPr/>
        </p:nvSpPr>
        <p:spPr>
          <a:xfrm>
            <a:off x="5348700" y="548781"/>
            <a:ext cx="343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未来（フィードフォワード）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236" name="Google Shape;236;p49"/>
          <p:cNvCxnSpPr/>
          <p:nvPr/>
        </p:nvCxnSpPr>
        <p:spPr>
          <a:xfrm flipH="1">
            <a:off x="5173375" y="688675"/>
            <a:ext cx="2400" cy="121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49"/>
          <p:cNvSpPr/>
          <p:nvPr/>
        </p:nvSpPr>
        <p:spPr>
          <a:xfrm rot="-5400000">
            <a:off x="3103188" y="-316212"/>
            <a:ext cx="581075" cy="3559300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49"/>
          <p:cNvSpPr txBox="1"/>
          <p:nvPr/>
        </p:nvSpPr>
        <p:spPr>
          <a:xfrm>
            <a:off x="2036605" y="1217128"/>
            <a:ext cx="21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特定</a:t>
            </a:r>
            <a:endParaRPr b="1" sz="2000"/>
          </a:p>
        </p:txBody>
      </p:sp>
      <p:sp>
        <p:nvSpPr>
          <p:cNvPr id="239" name="Google Shape;239;p49"/>
          <p:cNvSpPr/>
          <p:nvPr/>
        </p:nvSpPr>
        <p:spPr>
          <a:xfrm rot="-5400000">
            <a:off x="6739415" y="-285533"/>
            <a:ext cx="602575" cy="3497925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9"/>
          <p:cNvSpPr txBox="1"/>
          <p:nvPr/>
        </p:nvSpPr>
        <p:spPr>
          <a:xfrm>
            <a:off x="6494842" y="1217121"/>
            <a:ext cx="75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改善</a:t>
            </a:r>
            <a:endParaRPr b="1" sz="2000"/>
          </a:p>
        </p:txBody>
      </p:sp>
      <p:sp>
        <p:nvSpPr>
          <p:cNvPr id="241" name="Google Shape;241;p49"/>
          <p:cNvSpPr/>
          <p:nvPr/>
        </p:nvSpPr>
        <p:spPr>
          <a:xfrm rot="5400000">
            <a:off x="581063" y="850088"/>
            <a:ext cx="581075" cy="1226700"/>
          </a:xfrm>
          <a:prstGeom prst="flowChartOffpageConnector">
            <a:avLst/>
          </a:prstGeom>
          <a:solidFill>
            <a:schemeClr val="dk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" name="Google Shape;242;p49"/>
          <p:cNvSpPr txBox="1"/>
          <p:nvPr/>
        </p:nvSpPr>
        <p:spPr>
          <a:xfrm>
            <a:off x="361500" y="1217117"/>
            <a:ext cx="120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非効果的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9"/>
          <p:cNvGraphicFramePr/>
          <p:nvPr/>
        </p:nvGraphicFramePr>
        <p:xfrm>
          <a:off x="361500" y="1920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{FF07CFD5-3485-48FE-A829-E50906DC0AFE}</a:tableStyleId>
              </a:tblPr>
              <a:tblGrid>
                <a:gridCol w="1203000"/>
                <a:gridCol w="1203000"/>
                <a:gridCol w="1203000"/>
                <a:gridCol w="1203000"/>
                <a:gridCol w="1203000"/>
                <a:gridCol w="1203000"/>
                <a:gridCol w="1203000"/>
              </a:tblGrid>
              <a:tr h="69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②理由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（Why）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① 問題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（Problem）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②事実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（Fact）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③課題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（1~5What）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④理想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（GOAL）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⑤方針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（Plan）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⑥行動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300">
                          <a:solidFill>
                            <a:srgbClr val="FFFFFF"/>
                          </a:solidFill>
                        </a:rPr>
                        <a:t>（Action）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51900"/>
                      </a:srgbClr>
                    </a:solidFill>
                  </a:tcPr>
                </a:tc>
              </a:tr>
              <a:tr h="206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500">
                          <a:solidFill>
                            <a:schemeClr val="dk1"/>
                          </a:solidFill>
                        </a:rPr>
                        <a:t>起点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49"/>
          <p:cNvSpPr txBox="1"/>
          <p:nvPr/>
        </p:nvSpPr>
        <p:spPr>
          <a:xfrm>
            <a:off x="780994" y="503200"/>
            <a:ext cx="40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過去（フィードバック）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35" name="Google Shape;235;p49"/>
          <p:cNvSpPr txBox="1"/>
          <p:nvPr/>
        </p:nvSpPr>
        <p:spPr>
          <a:xfrm>
            <a:off x="5348700" y="548781"/>
            <a:ext cx="343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未来（フィードフォワード）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236" name="Google Shape;236;p49"/>
          <p:cNvCxnSpPr/>
          <p:nvPr/>
        </p:nvCxnSpPr>
        <p:spPr>
          <a:xfrm flipH="1">
            <a:off x="5173375" y="688675"/>
            <a:ext cx="2400" cy="121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49"/>
          <p:cNvSpPr/>
          <p:nvPr/>
        </p:nvSpPr>
        <p:spPr>
          <a:xfrm rot="-5400000">
            <a:off x="3103188" y="-316212"/>
            <a:ext cx="581075" cy="3559300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49"/>
          <p:cNvSpPr txBox="1"/>
          <p:nvPr/>
        </p:nvSpPr>
        <p:spPr>
          <a:xfrm>
            <a:off x="2036605" y="1217128"/>
            <a:ext cx="21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特定</a:t>
            </a:r>
            <a:endParaRPr b="1" sz="2000"/>
          </a:p>
        </p:txBody>
      </p:sp>
      <p:sp>
        <p:nvSpPr>
          <p:cNvPr id="239" name="Google Shape;239;p49"/>
          <p:cNvSpPr/>
          <p:nvPr/>
        </p:nvSpPr>
        <p:spPr>
          <a:xfrm rot="-5400000">
            <a:off x="6739415" y="-285533"/>
            <a:ext cx="602575" cy="3497925"/>
          </a:xfrm>
          <a:prstGeom prst="flowChartOffpageConnector">
            <a:avLst/>
          </a:prstGeom>
          <a:solidFill>
            <a:srgbClr val="FFFF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9"/>
          <p:cNvSpPr txBox="1"/>
          <p:nvPr/>
        </p:nvSpPr>
        <p:spPr>
          <a:xfrm>
            <a:off x="6494842" y="1217121"/>
            <a:ext cx="75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改善</a:t>
            </a:r>
            <a:endParaRPr b="1" sz="2000"/>
          </a:p>
        </p:txBody>
      </p:sp>
      <p:sp>
        <p:nvSpPr>
          <p:cNvPr id="241" name="Google Shape;241;p49"/>
          <p:cNvSpPr/>
          <p:nvPr/>
        </p:nvSpPr>
        <p:spPr>
          <a:xfrm rot="5400000">
            <a:off x="581063" y="850088"/>
            <a:ext cx="581075" cy="1226700"/>
          </a:xfrm>
          <a:prstGeom prst="flowChartOffpageConnector">
            <a:avLst/>
          </a:prstGeom>
          <a:solidFill>
            <a:schemeClr val="dk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" name="Google Shape;242;p49"/>
          <p:cNvSpPr txBox="1"/>
          <p:nvPr/>
        </p:nvSpPr>
        <p:spPr>
          <a:xfrm>
            <a:off x="361500" y="1217117"/>
            <a:ext cx="120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非効果的</a:t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17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175"/>
          <p:cNvSpPr/>
          <p:nvPr/>
        </p:nvSpPr>
        <p:spPr>
          <a:xfrm>
            <a:off x="4728138" y="1585175"/>
            <a:ext cx="3596400" cy="197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75"/>
          <p:cNvSpPr/>
          <p:nvPr/>
        </p:nvSpPr>
        <p:spPr>
          <a:xfrm>
            <a:off x="4728138" y="911875"/>
            <a:ext cx="3596400" cy="50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75"/>
          <p:cNvSpPr/>
          <p:nvPr/>
        </p:nvSpPr>
        <p:spPr>
          <a:xfrm>
            <a:off x="882413" y="911875"/>
            <a:ext cx="3596400" cy="5073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75"/>
          <p:cNvSpPr/>
          <p:nvPr/>
        </p:nvSpPr>
        <p:spPr>
          <a:xfrm>
            <a:off x="882413" y="1585175"/>
            <a:ext cx="3596400" cy="1974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75"/>
          <p:cNvSpPr txBox="1"/>
          <p:nvPr/>
        </p:nvSpPr>
        <p:spPr>
          <a:xfrm>
            <a:off x="1534963" y="934663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原理の不在</a:t>
            </a:r>
            <a:endParaRPr b="1" sz="1800">
              <a:solidFill>
                <a:schemeClr val="dk2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976" name="Google Shape;976;p175"/>
          <p:cNvSpPr txBox="1"/>
          <p:nvPr/>
        </p:nvSpPr>
        <p:spPr>
          <a:xfrm>
            <a:off x="5398838" y="934675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原則の存在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7" name="Google Shape;977;p175"/>
          <p:cNvSpPr txBox="1"/>
          <p:nvPr/>
        </p:nvSpPr>
        <p:spPr>
          <a:xfrm>
            <a:off x="882425" y="1787525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個人の解釈や感想の言い合い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問題や理想の不明確化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再現性のない施策実行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78" name="Google Shape;978;p175"/>
          <p:cNvSpPr txBox="1"/>
          <p:nvPr/>
        </p:nvSpPr>
        <p:spPr>
          <a:xfrm>
            <a:off x="4728150" y="1786800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問題や理想の設定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アクションの明確化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再現性の施策実行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9" name="Google Shape;979;p175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  <p:cxnSp>
        <p:nvCxnSpPr>
          <p:cNvPr id="980" name="Google Shape;980;p175"/>
          <p:cNvCxnSpPr/>
          <p:nvPr/>
        </p:nvCxnSpPr>
        <p:spPr>
          <a:xfrm>
            <a:off x="1201925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175"/>
          <p:cNvCxnSpPr/>
          <p:nvPr/>
        </p:nvCxnSpPr>
        <p:spPr>
          <a:xfrm>
            <a:off x="1201925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175"/>
          <p:cNvCxnSpPr/>
          <p:nvPr/>
        </p:nvCxnSpPr>
        <p:spPr>
          <a:xfrm>
            <a:off x="5047650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175"/>
          <p:cNvCxnSpPr/>
          <p:nvPr/>
        </p:nvCxnSpPr>
        <p:spPr>
          <a:xfrm>
            <a:off x="5047650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175"/>
          <p:cNvSpPr txBox="1"/>
          <p:nvPr>
            <p:ph type="title"/>
          </p:nvPr>
        </p:nvSpPr>
        <p:spPr>
          <a:xfrm>
            <a:off x="3871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90"/>
              <a:buFont typeface="Century Gothic"/>
              <a:buNone/>
            </a:pPr>
            <a:r>
              <a:rPr b="1" lang="ja" sz="2420">
                <a:solidFill>
                  <a:schemeClr val="lt1"/>
                </a:solidFill>
              </a:rPr>
              <a:t>何故が原理が必要か？</a:t>
            </a:r>
            <a:endParaRPr b="1" sz="24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9" name="Google Shape;989;p17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176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991" name="Google Shape;991;p176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7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997" name="Google Shape;997;p177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998" name="Google Shape;998;p177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17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178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005" name="Google Shape;1005;p178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組織コーチングとは何か？</a:t>
            </a:r>
            <a:endParaRPr sz="2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oogle Shape;1010;p17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179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組織と集団の違い</a:t>
            </a:r>
            <a:endParaRPr sz="2572"/>
          </a:p>
        </p:txBody>
      </p:sp>
      <p:graphicFrame>
        <p:nvGraphicFramePr>
          <p:cNvPr id="1012" name="Google Shape;1012;p179"/>
          <p:cNvGraphicFramePr/>
          <p:nvPr/>
        </p:nvGraphicFramePr>
        <p:xfrm>
          <a:off x="708338" y="143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874700"/>
                <a:gridCol w="4669350"/>
              </a:tblGrid>
              <a:tr h="150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組織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集団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13" name="Google Shape;1013;p179"/>
          <p:cNvCxnSpPr/>
          <p:nvPr/>
        </p:nvCxnSpPr>
        <p:spPr>
          <a:xfrm>
            <a:off x="301300" y="86084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8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180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組織と集団の違い</a:t>
            </a:r>
            <a:endParaRPr sz="2572"/>
          </a:p>
        </p:txBody>
      </p:sp>
      <p:graphicFrame>
        <p:nvGraphicFramePr>
          <p:cNvPr id="1020" name="Google Shape;1020;p180"/>
          <p:cNvGraphicFramePr/>
          <p:nvPr/>
        </p:nvGraphicFramePr>
        <p:xfrm>
          <a:off x="708338" y="143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874700"/>
                <a:gridCol w="4669350"/>
              </a:tblGrid>
              <a:tr h="150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組織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目的を目指して集結している存在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集団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多くの人が集まった存在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21" name="Google Shape;1021;p180"/>
          <p:cNvCxnSpPr/>
          <p:nvPr/>
        </p:nvCxnSpPr>
        <p:spPr>
          <a:xfrm>
            <a:off x="301300" y="86084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18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18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8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8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30" name="Google Shape;1030;p18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8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8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8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8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39" name="Google Shape;1039;p18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40" name="Google Shape;1040;p182"/>
          <p:cNvSpPr/>
          <p:nvPr/>
        </p:nvSpPr>
        <p:spPr>
          <a:xfrm>
            <a:off x="639150" y="1041300"/>
            <a:ext cx="7865700" cy="3071700"/>
          </a:xfrm>
          <a:prstGeom prst="rect">
            <a:avLst/>
          </a:prstGeom>
          <a:solidFill>
            <a:srgbClr val="FF9900">
              <a:alpha val="9494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rgbClr val="FFFFFF"/>
                </a:solidFill>
              </a:rPr>
              <a:t>コーチングとは</a:t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rgbClr val="FFFFFF"/>
                </a:solidFill>
              </a:rPr>
              <a:t>エフィカシーを最大限高めること</a:t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※エフィカシーとは必ずGOALを達成することができるという「やれる気」のこと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18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83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7" name="Google Shape;1047;p183"/>
          <p:cNvSpPr txBox="1"/>
          <p:nvPr/>
        </p:nvSpPr>
        <p:spPr>
          <a:xfrm>
            <a:off x="3144450" y="4225850"/>
            <a:ext cx="285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（マインド）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8" name="Google Shape;1048;p183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49" name="Google Shape;1049;p183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0" name="Google Shape;1050;p183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1" name="Google Shape;1051;p183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2" name="Google Shape;1052;p183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8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84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9" name="Google Shape;1059;p184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自己否定⇨自己肯定感⇨自己効力感</a:t>
            </a:r>
            <a:endParaRPr b="1" sz="27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0" name="Google Shape;1060;p18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61" name="Google Shape;1061;p184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2" name="Google Shape;1062;p184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3" name="Google Shape;1063;p184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4" name="Google Shape;1064;p184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18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85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1" name="Google Shape;1071;p185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</a:t>
            </a:r>
            <a:r>
              <a:rPr b="1" lang="ja" sz="2700">
                <a:solidFill>
                  <a:srgbClr val="FFFF00"/>
                </a:solidFill>
                <a:latin typeface="Meiryo"/>
                <a:ea typeface="Meiryo"/>
                <a:cs typeface="Meiryo"/>
                <a:sym typeface="Meiryo"/>
              </a:rPr>
              <a:t>自己肯定感⇨自己効力感</a:t>
            </a:r>
            <a:endParaRPr b="1" sz="2700">
              <a:solidFill>
                <a:srgbClr val="FFFF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2" name="Google Shape;1072;p18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73" name="Google Shape;1073;p185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4" name="Google Shape;1074;p185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5" name="Google Shape;1075;p185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6" name="Google Shape;1076;p185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18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86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86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186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5" name="Google Shape;1085;p186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6" name="Google Shape;1086;p186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コーチングとは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エフィカシーを最大限高めること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※エフィカシーとは必ずGOALを達成することができるという「やれる気」のこと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18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187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87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87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95" name="Google Shape;1095;p187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96" name="Google Shape;1096;p187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88"/>
          <p:cNvSpPr txBox="1"/>
          <p:nvPr/>
        </p:nvSpPr>
        <p:spPr>
          <a:xfrm>
            <a:off x="0" y="2287050"/>
            <a:ext cx="91440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エフィカシー &gt; エスティーム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lt1"/>
                </a:solidFill>
              </a:rPr>
              <a:t>　　　　　　　</a:t>
            </a:r>
            <a:r>
              <a:rPr lang="ja" sz="1200">
                <a:solidFill>
                  <a:schemeClr val="lt1"/>
                </a:solidFill>
              </a:rPr>
              <a:t>   　　　　　　　　　エフィカシー：GOAL達成における自己能力の自己評価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lt1"/>
                </a:solidFill>
              </a:rPr>
              <a:t>　　　　　　　　　　　　　　  　 　エスティーム：現状のポジションの自己評価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p18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189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8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89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10" name="Google Shape;1110;p189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11" name="Google Shape;1111;p189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p19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90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190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90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20" name="Google Shape;1120;p190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21" name="Google Shape;1121;p190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19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9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9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9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0" name="Google Shape;1130;p19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1" name="Google Shape;1131;p19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どの象限にも</a:t>
            </a:r>
            <a:r>
              <a:rPr b="1" lang="ja" sz="2300">
                <a:solidFill>
                  <a:srgbClr val="FFFF00"/>
                </a:solidFill>
              </a:rPr>
              <a:t>『人間の原理原則』</a:t>
            </a:r>
            <a:r>
              <a:rPr b="1" lang="ja" sz="2000">
                <a:solidFill>
                  <a:schemeClr val="lt1"/>
                </a:solidFill>
              </a:rPr>
              <a:t>は必ず通底している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300">
                <a:solidFill>
                  <a:srgbClr val="FFFF00"/>
                </a:solidFill>
              </a:rPr>
              <a:t>理論なき持論</a:t>
            </a:r>
            <a:r>
              <a:rPr b="1" lang="ja" sz="2000">
                <a:solidFill>
                  <a:schemeClr val="lt1"/>
                </a:solidFill>
              </a:rPr>
              <a:t>は扱わない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9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92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9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92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92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92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2" name="Google Shape;1142;p192"/>
          <p:cNvCxnSpPr>
            <a:stCxn id="1141" idx="0"/>
            <a:endCxn id="1141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3" name="Google Shape;1143;p192"/>
          <p:cNvCxnSpPr>
            <a:stCxn id="1141" idx="1"/>
            <a:endCxn id="1141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144" name="Google Shape;1144;p192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92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lang="ja" sz="1800">
                <a:solidFill>
                  <a:srgbClr val="FFFFFF"/>
                </a:solidFill>
              </a:rPr>
              <a:t>戦略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92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92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lang="ja" sz="1800"/>
              <a:t>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148" name="Google Shape;1148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149" name="Google Shape;1149;p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150" name="Google Shape;1150;p1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151" name="Google Shape;1151;p1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92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92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92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事業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92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組織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19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9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9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9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64" name="Google Shape;1164;p19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65" name="Google Shape;1165;p193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170;p19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94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94"/>
          <p:cNvSpPr txBox="1"/>
          <p:nvPr/>
        </p:nvSpPr>
        <p:spPr>
          <a:xfrm>
            <a:off x="3035200" y="4225850"/>
            <a:ext cx="2855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（マインド）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9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94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94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94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94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19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95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195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（個人のマインド）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85" name="Google Shape;1185;p195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95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95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95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9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9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96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96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（組織のカルチャー）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97" name="Google Shape;1197;p196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96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96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96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96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9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97"/>
          <p:cNvSpPr/>
          <p:nvPr/>
        </p:nvSpPr>
        <p:spPr>
          <a:xfrm>
            <a:off x="290250" y="119875"/>
            <a:ext cx="8401200" cy="3690300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97"/>
          <p:cNvSpPr/>
          <p:nvPr/>
        </p:nvSpPr>
        <p:spPr>
          <a:xfrm>
            <a:off x="2568575" y="4623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09" name="Google Shape;1209;p197"/>
          <p:cNvSpPr/>
          <p:nvPr/>
        </p:nvSpPr>
        <p:spPr>
          <a:xfrm>
            <a:off x="6306175" y="18676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0" name="Google Shape;1210;p197"/>
          <p:cNvSpPr/>
          <p:nvPr/>
        </p:nvSpPr>
        <p:spPr>
          <a:xfrm>
            <a:off x="4591100" y="20464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1" name="Google Shape;1211;p197"/>
          <p:cNvSpPr/>
          <p:nvPr/>
        </p:nvSpPr>
        <p:spPr>
          <a:xfrm>
            <a:off x="2493525" y="25302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2" name="Google Shape;1212;p197"/>
          <p:cNvSpPr/>
          <p:nvPr/>
        </p:nvSpPr>
        <p:spPr>
          <a:xfrm>
            <a:off x="3135338" y="14962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3" name="Google Shape;1213;p197"/>
          <p:cNvSpPr/>
          <p:nvPr/>
        </p:nvSpPr>
        <p:spPr>
          <a:xfrm>
            <a:off x="5621175" y="26246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4" name="Google Shape;1214;p197"/>
          <p:cNvSpPr/>
          <p:nvPr/>
        </p:nvSpPr>
        <p:spPr>
          <a:xfrm>
            <a:off x="4260525" y="1124263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5" name="Google Shape;1215;p197"/>
          <p:cNvSpPr/>
          <p:nvPr/>
        </p:nvSpPr>
        <p:spPr>
          <a:xfrm>
            <a:off x="5385725" y="15354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6" name="Google Shape;1216;p197"/>
          <p:cNvSpPr/>
          <p:nvPr/>
        </p:nvSpPr>
        <p:spPr>
          <a:xfrm>
            <a:off x="3713600" y="25775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7" name="Google Shape;1217;p197"/>
          <p:cNvSpPr/>
          <p:nvPr/>
        </p:nvSpPr>
        <p:spPr>
          <a:xfrm>
            <a:off x="5039263" y="2908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8" name="Google Shape;1218;p197"/>
          <p:cNvSpPr/>
          <p:nvPr/>
        </p:nvSpPr>
        <p:spPr>
          <a:xfrm>
            <a:off x="591200" y="1428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9" name="Google Shape;1219;p197"/>
          <p:cNvSpPr/>
          <p:nvPr/>
        </p:nvSpPr>
        <p:spPr>
          <a:xfrm>
            <a:off x="1863275" y="11686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0" name="Google Shape;1220;p197"/>
          <p:cNvSpPr/>
          <p:nvPr/>
        </p:nvSpPr>
        <p:spPr>
          <a:xfrm>
            <a:off x="7226625" y="9898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1" name="Google Shape;1221;p197"/>
          <p:cNvSpPr/>
          <p:nvPr/>
        </p:nvSpPr>
        <p:spPr>
          <a:xfrm>
            <a:off x="6202513" y="611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2" name="Google Shape;1222;p197"/>
          <p:cNvSpPr/>
          <p:nvPr/>
        </p:nvSpPr>
        <p:spPr>
          <a:xfrm>
            <a:off x="1414825" y="21340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3" name="Google Shape;1223;p197"/>
          <p:cNvSpPr/>
          <p:nvPr/>
        </p:nvSpPr>
        <p:spPr>
          <a:xfrm>
            <a:off x="7318925" y="1976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4" name="Google Shape;1224;p197"/>
          <p:cNvSpPr/>
          <p:nvPr/>
        </p:nvSpPr>
        <p:spPr>
          <a:xfrm>
            <a:off x="3528325" y="202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5" name="Google Shape;1225;p197"/>
          <p:cNvSpPr txBox="1"/>
          <p:nvPr/>
        </p:nvSpPr>
        <p:spPr>
          <a:xfrm>
            <a:off x="454950" y="3891775"/>
            <a:ext cx="82341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個人のビリーフシステムの最大公約数が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組織のビリーフシステムになる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98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人間の原理原則なくして、組織変革は達成できない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19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99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9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99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99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99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1" name="Google Shape;1241;p199"/>
          <p:cNvCxnSpPr>
            <a:stCxn id="1240" idx="0"/>
            <a:endCxn id="1240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2" name="Google Shape;1242;p199"/>
          <p:cNvCxnSpPr>
            <a:stCxn id="1240" idx="1"/>
            <a:endCxn id="1240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43" name="Google Shape;1243;p199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99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99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99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47" name="Google Shape;1247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248" name="Google Shape;1248;p1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49" name="Google Shape;1249;p1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50" name="Google Shape;1250;p1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199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99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99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99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p20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200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00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00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00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00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5" name="Google Shape;1265;p200"/>
          <p:cNvCxnSpPr>
            <a:stCxn id="1264" idx="0"/>
            <a:endCxn id="1264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66" name="Google Shape;1266;p200"/>
          <p:cNvCxnSpPr>
            <a:stCxn id="1264" idx="1"/>
            <a:endCxn id="1264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67" name="Google Shape;1267;p200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200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00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70" name="Google Shape;1270;p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71" name="Google Shape;1271;p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72" name="Google Shape;1272;p2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200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200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200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200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200"/>
          <p:cNvSpPr/>
          <p:nvPr/>
        </p:nvSpPr>
        <p:spPr>
          <a:xfrm>
            <a:off x="11638" y="0"/>
            <a:ext cx="9144000" cy="5143500"/>
          </a:xfrm>
          <a:prstGeom prst="rect">
            <a:avLst/>
          </a:prstGeom>
          <a:solidFill>
            <a:srgbClr val="000000">
              <a:alpha val="5633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00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事業の成長" id="1279" name="Google Shape;1279;p2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20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20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0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0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8" name="Google Shape;1288;p20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9" name="Google Shape;1289;p20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290" name="Google Shape;1290;p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20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20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0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0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99" name="Google Shape;1299;p20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00" name="Google Shape;1300;p202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01" name="Google Shape;1301;p202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02" name="Google Shape;1302;p202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3" name="Google Shape;1303;p202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4" name="Google Shape;1304;p202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5" name="Google Shape;1305;p202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20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20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0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0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14" name="Google Shape;1314;p20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15" name="Google Shape;1315;p203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6" name="Google Shape;1316;p203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17" name="Google Shape;1317;p203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8" name="Google Shape;1318;p203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9" name="Google Shape;1319;p203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20" name="Google Shape;1320;p203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21" name="Google Shape;1321;p203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22" name="Google Shape;1322;p203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3" name="Google Shape;1323;p203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4" name="Google Shape;1324;p203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20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204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04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04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33" name="Google Shape;1333;p204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34" name="Google Shape;1334;p204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335" name="Google Shape;1335;p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20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205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05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05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44" name="Google Shape;1344;p205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45" name="Google Shape;1345;p205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46" name="Google Shape;1346;p205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47" name="Google Shape;1347;p205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48" name="Google Shape;1348;p205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49" name="Google Shape;1349;p205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50" name="Google Shape;1350;p205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51" name="Google Shape;1351;p205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52" name="Google Shape;1352;p205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53" name="Google Shape;1353;p205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54" name="Google Shape;1354;p205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06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360" name="Google Shape;1360;p206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361" name="Google Shape;1361;p206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③ 非言語エネルギーの現在地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20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20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68" name="Google Shape;1368;p20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あなたが自分の人生を大成功させる上で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自分のコーチに選択したいと思える人は誰ですか？</a:t>
            </a:r>
            <a:endParaRPr sz="22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20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208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75" name="Google Shape;1375;p208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そのコーチを選択させられた要素は何ですか？</a:t>
            </a:r>
            <a:endParaRPr sz="2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20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20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82" name="Google Shape;1382;p20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場のフィードバックを受け取り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自分に要求したい在り方は何ですか？</a:t>
            </a:r>
            <a:endParaRPr sz="2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1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388" name="Google Shape;1388;p21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389" name="Google Shape;1389;p210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④ 非言語とは何か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21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211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96" name="Google Shape;1396;p211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非言語とは何だと思いますか？</a:t>
            </a:r>
            <a:endParaRPr sz="22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212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言語以外で行うコミュニケーションのこと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21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213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Key Point</a:t>
            </a:r>
            <a:endParaRPr/>
          </a:p>
        </p:txBody>
      </p:sp>
      <p:sp>
        <p:nvSpPr>
          <p:cNvPr id="1408" name="Google Shape;1408;p213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最も重要な鍵</a:t>
            </a:r>
            <a:endParaRPr sz="2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21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214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/>
              <a:t>Key Point</a:t>
            </a:r>
            <a:endParaRPr sz="4000"/>
          </a:p>
        </p:txBody>
      </p:sp>
      <p:sp>
        <p:nvSpPr>
          <p:cNvPr id="1415" name="Google Shape;1415;p214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/>
              <a:t>最も重要な鍵</a:t>
            </a:r>
            <a:endParaRPr sz="1820"/>
          </a:p>
        </p:txBody>
      </p:sp>
      <p:sp>
        <p:nvSpPr>
          <p:cNvPr id="1416" name="Google Shape;1416;p214"/>
          <p:cNvSpPr txBox="1"/>
          <p:nvPr/>
        </p:nvSpPr>
        <p:spPr>
          <a:xfrm>
            <a:off x="821050" y="1923275"/>
            <a:ext cx="74007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メラビアンの法則</a:t>
            </a:r>
            <a:endParaRPr b="1"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　・言語情報：7%</a:t>
            </a:r>
            <a:endParaRPr b="1"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　・非言語情報：93%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422" name="Google Shape;1422;p215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3" name="Google Shape;1423;p215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言い換え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4" name="Google Shape;1424;p215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5" name="Google Shape;1425;p215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構造化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6" name="Google Shape;1426;p215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7" name="Google Shape;1427;p215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因果関係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8" name="Google Shape;1428;p215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9" name="Google Shape;1429;p215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0" name="Google Shape;1430;p215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1" name="Google Shape;1431;p215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2" name="Google Shape;1432;p215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3" name="Google Shape;1433;p215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4" name="Google Shape;1434;p215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5" name="Google Shape;1435;p215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36" name="Google Shape;1436;p215"/>
          <p:cNvCxnSpPr>
            <a:stCxn id="1432" idx="2"/>
            <a:endCxn id="1433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215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215"/>
          <p:cNvCxnSpPr>
            <a:stCxn id="1435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215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0" name="Google Shape;1440;p215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1" name="Google Shape;1441;p215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42" name="Google Shape;1442;p215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3" name="Google Shape;1443;p215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4" name="Google Shape;1444;p215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215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6" name="Google Shape;1446;p215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7" name="Google Shape;1447;p215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8" name="Google Shape;1448;p215"/>
          <p:cNvSpPr/>
          <p:nvPr/>
        </p:nvSpPr>
        <p:spPr>
          <a:xfrm>
            <a:off x="2904200" y="900000"/>
            <a:ext cx="3366000" cy="37986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21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216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非言語情報</a:t>
            </a:r>
            <a:endParaRPr sz="2572"/>
          </a:p>
        </p:txBody>
      </p:sp>
      <p:graphicFrame>
        <p:nvGraphicFramePr>
          <p:cNvPr id="1455" name="Google Shape;1455;p216"/>
          <p:cNvGraphicFramePr/>
          <p:nvPr/>
        </p:nvGraphicFramePr>
        <p:xfrm>
          <a:off x="530138" y="93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1985725"/>
                <a:gridCol w="5995750"/>
              </a:tblGrid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動作行動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身振り手振・表情・振る舞い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身体特徴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体型・体臭・髪型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接触行動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あいさつ・抱く・触る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パラ言語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声のトーン・声の強弱・リズム感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空間行動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距離感・対人距離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環境要因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照明・空調・音響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人工物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服装・アクセサリー・数珠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217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コンテキスト＞コンテンツ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5" name="Google Shape;1465;p21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218"/>
          <p:cNvSpPr txBox="1"/>
          <p:nvPr/>
        </p:nvSpPr>
        <p:spPr>
          <a:xfrm>
            <a:off x="1526100" y="2202300"/>
            <a:ext cx="609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3つのコンテキスト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21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2" name="Google Shape;1472;p219"/>
          <p:cNvGraphicFramePr/>
          <p:nvPr/>
        </p:nvGraphicFramePr>
        <p:xfrm>
          <a:off x="454438" y="135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34025"/>
                <a:gridCol w="6105475"/>
              </a:tblGrid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場の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音響・照明・空調・場所・エネルギー・関係性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思考プロセスの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過去未来・事実解釈・言語定義・抽象具体・構造化・因果関係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前提条件の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事業・部署・従業員数・配置・単価・顧客・業務内容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3" name="Google Shape;1473;p219"/>
          <p:cNvSpPr txBox="1"/>
          <p:nvPr/>
        </p:nvSpPr>
        <p:spPr>
          <a:xfrm>
            <a:off x="229850" y="0"/>
            <a:ext cx="8239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3つのコンテキスト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8" name="Google Shape;1478;p22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220"/>
          <p:cNvSpPr/>
          <p:nvPr/>
        </p:nvSpPr>
        <p:spPr>
          <a:xfrm>
            <a:off x="4916825" y="1186250"/>
            <a:ext cx="2572200" cy="3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220"/>
          <p:cNvSpPr txBox="1"/>
          <p:nvPr/>
        </p:nvSpPr>
        <p:spPr>
          <a:xfrm>
            <a:off x="157800" y="0"/>
            <a:ext cx="88284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組織コーチとは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81" name="Google Shape;1481;p220"/>
          <p:cNvSpPr txBox="1"/>
          <p:nvPr/>
        </p:nvSpPr>
        <p:spPr>
          <a:xfrm>
            <a:off x="342750" y="1106588"/>
            <a:ext cx="84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コンテンツ介入のプロではなく </a:t>
            </a:r>
            <a:r>
              <a:rPr b="1" lang="ja" sz="1800">
                <a:solidFill>
                  <a:schemeClr val="dk1"/>
                </a:solidFill>
              </a:rPr>
              <a:t>コンテキスト介入のプロ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482" name="Google Shape;1482;p220"/>
          <p:cNvGraphicFramePr/>
          <p:nvPr/>
        </p:nvGraphicFramePr>
        <p:xfrm>
          <a:off x="1786613" y="189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22775"/>
                <a:gridCol w="3448000"/>
              </a:tblGrid>
              <a:tr h="1129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コンテキスト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場・思考プロセス・前提条件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コンテンツ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手段・手法・内容・中身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4" name="Google Shape;1494;p22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5" name="Google Shape;1495;p222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0C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0C28"/>
                    </a:solidFill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6" name="Google Shape;1496;p222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22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2" name="Google Shape;1502;p223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3" name="Google Shape;1503;p223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" name="Google Shape;1508;p22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9" name="Google Shape;1509;p224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0" name="Google Shape;1510;p224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11" name="Google Shape;1511;p224"/>
          <p:cNvSpPr/>
          <p:nvPr/>
        </p:nvSpPr>
        <p:spPr>
          <a:xfrm>
            <a:off x="1066850" y="952475"/>
            <a:ext cx="7105800" cy="3759300"/>
          </a:xfrm>
          <a:prstGeom prst="rect">
            <a:avLst/>
          </a:prstGeom>
          <a:solidFill>
            <a:srgbClr val="FFFF00">
              <a:alpha val="860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5つの手法で創発し続ける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創発：従来のものを変革して新たな価値を創造する新結合をすること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6" name="Google Shape;1516;p22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225"/>
          <p:cNvSpPr txBox="1"/>
          <p:nvPr/>
        </p:nvSpPr>
        <p:spPr>
          <a:xfrm>
            <a:off x="251354" y="102900"/>
            <a:ext cx="628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コンテキストギバーとコンテキストテイカー</a:t>
            </a:r>
            <a:endParaRPr b="1" sz="2000">
              <a:solidFill>
                <a:schemeClr val="lt1"/>
              </a:solidFill>
            </a:endParaRPr>
          </a:p>
        </p:txBody>
      </p:sp>
      <p:graphicFrame>
        <p:nvGraphicFramePr>
          <p:cNvPr id="1518" name="Google Shape;1518;p225"/>
          <p:cNvGraphicFramePr/>
          <p:nvPr/>
        </p:nvGraphicFramePr>
        <p:xfrm>
          <a:off x="251350" y="158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962050"/>
                <a:gridCol w="5607075"/>
              </a:tblGrid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① エンパワー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自信を持たせる力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②シリアス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緊張感を生み出す力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③パッション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言葉に感情を乗せる力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④ユーモア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場を明るくする力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⑤グランディング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神聖な場を作る力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9" name="Google Shape;1519;p225"/>
          <p:cNvSpPr txBox="1"/>
          <p:nvPr/>
        </p:nvSpPr>
        <p:spPr>
          <a:xfrm>
            <a:off x="251350" y="782650"/>
            <a:ext cx="8569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</a:rPr>
              <a:t>その場に必要なコンテキストを「自ら」創る力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4" name="Google Shape;1524;p22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226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26" name="Google Shape;1526;p226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7つの観点でGOOD ＆ MOREを共有してください</a:t>
            </a:r>
            <a:endParaRPr sz="2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22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22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33" name="Google Shape;1533;p22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28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39" name="Google Shape;1539;p228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40" name="Google Shape;1540;p228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⑤ 非言語エネルギーを創り出す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22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22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47" name="Google Shape;1547;p22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最も重要な非言語エネルギーとは何ですか？</a:t>
            </a:r>
            <a:endParaRPr sz="2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230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エフィカシー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3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31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59" name="Google Shape;1559;p231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エフィカシーが非言語情報で滲み出ている人は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どんな条件を満たしている人ですか？</a:t>
            </a:r>
            <a:endParaRPr sz="22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232"/>
          <p:cNvSpPr txBox="1"/>
          <p:nvPr/>
        </p:nvSpPr>
        <p:spPr>
          <a:xfrm>
            <a:off x="0" y="2157925"/>
            <a:ext cx="91440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現状の外側の生き様を創りきっている人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※コーチングスキルの話ではなく、コーチングとは生き方そのもの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233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70" name="Google Shape;1570;p233"/>
          <p:cNvSpPr txBox="1"/>
          <p:nvPr/>
        </p:nvSpPr>
        <p:spPr>
          <a:xfrm>
            <a:off x="657902" y="1203752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71" name="Google Shape;1571;p233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他者のブレイクスルーに貢献する為に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表現すべき重要な在り方「①非言語領域」「②言語領域」の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2つの観点を学習&amp;体現する事で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あなたがその場に存在しているだけで場にインパクトが生まれ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生きているだけでコーチングが行われている異常な現象を獲得すること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34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77" name="Google Shape;1577;p234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78" name="Google Shape;1578;p234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⑥ セールスとは何か</a:t>
            </a:r>
            <a:endParaRPr b="1" sz="2000">
              <a:solidFill>
                <a:srgbClr val="00206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23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235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85" name="Google Shape;1585;p235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セールスとは何ですか？</a:t>
            </a:r>
            <a:endParaRPr sz="22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236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顧客の決断を導くこと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5" name="Google Shape;1595;p23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23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97" name="Google Shape;1597;p23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238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603" name="Google Shape;1603;p238"/>
          <p:cNvSpPr txBox="1"/>
          <p:nvPr/>
        </p:nvSpPr>
        <p:spPr>
          <a:xfrm>
            <a:off x="657902" y="1203752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604" name="Google Shape;1604;p238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他者のブレイクスルーに貢献する為に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表現すべき重要な在り方「①非言語領域」「②言語領域」の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2つの観点を学習&amp;体現する事で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あなたがその場に存在しているだけで場にインパクトが生まれ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生きているだけでコーチングが行われている異常な現象を獲得すること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9" name="Google Shape;1609;p23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239"/>
          <p:cNvSpPr txBox="1"/>
          <p:nvPr>
            <p:ph type="title"/>
          </p:nvPr>
        </p:nvSpPr>
        <p:spPr>
          <a:xfrm>
            <a:off x="0" y="15692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Check out</a:t>
            </a:r>
            <a:endParaRPr/>
          </a:p>
        </p:txBody>
      </p:sp>
      <p:sp>
        <p:nvSpPr>
          <p:cNvPr id="1611" name="Google Shape;1611;p239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今日最も受け取った事は何ですか？</a:t>
            </a:r>
            <a:endParaRPr sz="22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6" name="Google Shape;1616;p24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240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1618" name="Google Shape;1618;p240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
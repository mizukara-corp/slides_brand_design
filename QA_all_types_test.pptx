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83" r:id="rId5"/>
    <p:sldMasterId id="2147483784" r:id="rId6"/>
    <p:sldMasterId id="2147483785" r:id="rId7"/>
    <p:sldMasterId id="2147483786" r:id="rId8"/>
    <p:sldMasterId id="2147483787" r:id="rId9"/>
  </p:sldMasterIdLst>
  <p:notesMasterIdLst>
    <p:notesMasterId r:id="rId10"/>
  </p:notesMasterIdLst>
  <p:sldIdLst>
    <p:sldId id="365" r:id="rId132"/>
    <p:sldId id="366" r:id="rId133"/>
    <p:sldId id="367" r:id="rId134"/>
    <p:sldId id="368" r:id="rId135"/>
    <p:sldId id="369" r:id="rId136"/>
    <p:sldId id="370" r:id="rId137"/>
    <p:sldId id="371" r:id="rId138"/>
    <p:sldId id="372" r:id="rId139"/>
    <p:sldId id="373" r:id="rId140"/>
  </p:sldIdLst>
  <p:sldSz cy="5143500" cx="9144000"/>
  <p:notesSz cx="6858000" cy="9144000"/>
  <p:embeddedFontLst>
    <p:embeddedFont>
      <p:font typeface="Inter"/>
      <p:regular r:id="rId111"/>
      <p:bold r:id="rId112"/>
      <p:italic r:id="rId113"/>
      <p:boldItalic r:id="rId114"/>
    </p:embeddedFont>
    <p:embeddedFont>
      <p:font typeface="Zen Kaku Gothic New Medium"/>
      <p:regular r:id="rId115"/>
      <p:bold r:id="rId116"/>
    </p:embeddedFont>
    <p:embeddedFont>
      <p:font typeface="Zen Kaku Gothic New"/>
      <p:regular r:id="rId117"/>
      <p:bold r:id="rId118"/>
    </p:embeddedFont>
    <p:embeddedFont>
      <p:font typeface="Century Gothic"/>
      <p:regular r:id="rId119"/>
      <p:bold r:id="rId120"/>
      <p:italic r:id="rId121"/>
      <p:boldItalic r:id="rId1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44D2250-8479-4534-90F0-2AF717E22795}">
  <a:tblStyle styleId="{344D2250-8479-4534-90F0-2AF717E2279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9" Type="http://schemas.openxmlformats.org/officeDocument/2006/relationships/slideMaster" Target="slideMasters/slideMaster5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38.xml"/><Relationship Id="rId49" Type="http://schemas.openxmlformats.org/officeDocument/2006/relationships/slide" Target="slides/slide39.xml"/><Relationship Id="rId50" Type="http://schemas.openxmlformats.org/officeDocument/2006/relationships/slide" Target="slides/slide40.xml"/><Relationship Id="rId51" Type="http://schemas.openxmlformats.org/officeDocument/2006/relationships/slide" Target="slides/slide41.xml"/><Relationship Id="rId52" Type="http://schemas.openxmlformats.org/officeDocument/2006/relationships/slide" Target="slides/slide42.xml"/><Relationship Id="rId53" Type="http://schemas.openxmlformats.org/officeDocument/2006/relationships/slide" Target="slides/slide43.xml"/><Relationship Id="rId54" Type="http://schemas.openxmlformats.org/officeDocument/2006/relationships/slide" Target="slides/slide44.xml"/><Relationship Id="rId55" Type="http://schemas.openxmlformats.org/officeDocument/2006/relationships/slide" Target="slides/slide45.xml"/><Relationship Id="rId56" Type="http://schemas.openxmlformats.org/officeDocument/2006/relationships/slide" Target="slides/slide46.xml"/><Relationship Id="rId57" Type="http://schemas.openxmlformats.org/officeDocument/2006/relationships/slide" Target="slides/slide47.xml"/><Relationship Id="rId58" Type="http://schemas.openxmlformats.org/officeDocument/2006/relationships/slide" Target="slides/slide48.xml"/><Relationship Id="rId59" Type="http://schemas.openxmlformats.org/officeDocument/2006/relationships/slide" Target="slides/slide49.xml"/><Relationship Id="rId60" Type="http://schemas.openxmlformats.org/officeDocument/2006/relationships/slide" Target="slides/slide50.xml"/><Relationship Id="rId61" Type="http://schemas.openxmlformats.org/officeDocument/2006/relationships/slide" Target="slides/slide51.xml"/><Relationship Id="rId62" Type="http://schemas.openxmlformats.org/officeDocument/2006/relationships/slide" Target="slides/slide52.xml"/><Relationship Id="rId63" Type="http://schemas.openxmlformats.org/officeDocument/2006/relationships/slide" Target="slides/slide53.xml"/><Relationship Id="rId64" Type="http://schemas.openxmlformats.org/officeDocument/2006/relationships/slide" Target="slides/slide54.xml"/><Relationship Id="rId65" Type="http://schemas.openxmlformats.org/officeDocument/2006/relationships/slide" Target="slides/slide55.xml"/><Relationship Id="rId66" Type="http://schemas.openxmlformats.org/officeDocument/2006/relationships/slide" Target="slides/slide56.xml"/><Relationship Id="rId67" Type="http://schemas.openxmlformats.org/officeDocument/2006/relationships/slide" Target="slides/slide57.xml"/><Relationship Id="rId68" Type="http://schemas.openxmlformats.org/officeDocument/2006/relationships/slide" Target="slides/slide58.xml"/><Relationship Id="rId69" Type="http://schemas.openxmlformats.org/officeDocument/2006/relationships/slide" Target="slides/slide59.xml"/><Relationship Id="rId70" Type="http://schemas.openxmlformats.org/officeDocument/2006/relationships/slide" Target="slides/slide60.xml"/><Relationship Id="rId71" Type="http://schemas.openxmlformats.org/officeDocument/2006/relationships/slide" Target="slides/slide61.xml"/><Relationship Id="rId72" Type="http://schemas.openxmlformats.org/officeDocument/2006/relationships/slide" Target="slides/slide62.xml"/><Relationship Id="rId73" Type="http://schemas.openxmlformats.org/officeDocument/2006/relationships/slide" Target="slides/slide63.xml"/><Relationship Id="rId74" Type="http://schemas.openxmlformats.org/officeDocument/2006/relationships/slide" Target="slides/slide64.xml"/><Relationship Id="rId75" Type="http://schemas.openxmlformats.org/officeDocument/2006/relationships/slide" Target="slides/slide65.xml"/><Relationship Id="rId76" Type="http://schemas.openxmlformats.org/officeDocument/2006/relationships/slide" Target="slides/slide66.xml"/><Relationship Id="rId77" Type="http://schemas.openxmlformats.org/officeDocument/2006/relationships/slide" Target="slides/slide67.xml"/><Relationship Id="rId78" Type="http://schemas.openxmlformats.org/officeDocument/2006/relationships/slide" Target="slides/slide68.xml"/><Relationship Id="rId79" Type="http://schemas.openxmlformats.org/officeDocument/2006/relationships/slide" Target="slides/slide69.xml"/><Relationship Id="rId80" Type="http://schemas.openxmlformats.org/officeDocument/2006/relationships/slide" Target="slides/slide70.xml"/><Relationship Id="rId81" Type="http://schemas.openxmlformats.org/officeDocument/2006/relationships/slide" Target="slides/slide71.xml"/><Relationship Id="rId82" Type="http://schemas.openxmlformats.org/officeDocument/2006/relationships/slide" Target="slides/slide72.xml"/><Relationship Id="rId83" Type="http://schemas.openxmlformats.org/officeDocument/2006/relationships/slide" Target="slides/slide73.xml"/><Relationship Id="rId84" Type="http://schemas.openxmlformats.org/officeDocument/2006/relationships/slide" Target="slides/slide74.xml"/><Relationship Id="rId85" Type="http://schemas.openxmlformats.org/officeDocument/2006/relationships/slide" Target="slides/slide75.xml"/><Relationship Id="rId86" Type="http://schemas.openxmlformats.org/officeDocument/2006/relationships/slide" Target="slides/slide76.xml"/><Relationship Id="rId87" Type="http://schemas.openxmlformats.org/officeDocument/2006/relationships/slide" Target="slides/slide77.xml"/><Relationship Id="rId88" Type="http://schemas.openxmlformats.org/officeDocument/2006/relationships/slide" Target="slides/slide78.xml"/><Relationship Id="rId89" Type="http://schemas.openxmlformats.org/officeDocument/2006/relationships/slide" Target="slides/slide79.xml"/><Relationship Id="rId90" Type="http://schemas.openxmlformats.org/officeDocument/2006/relationships/slide" Target="slides/slide80.xml"/><Relationship Id="rId91" Type="http://schemas.openxmlformats.org/officeDocument/2006/relationships/slide" Target="slides/slide81.xml"/><Relationship Id="rId92" Type="http://schemas.openxmlformats.org/officeDocument/2006/relationships/slide" Target="slides/slide82.xml"/><Relationship Id="rId93" Type="http://schemas.openxmlformats.org/officeDocument/2006/relationships/slide" Target="slides/slide83.xml"/><Relationship Id="rId94" Type="http://schemas.openxmlformats.org/officeDocument/2006/relationships/slide" Target="slides/slide84.xml"/><Relationship Id="rId95" Type="http://schemas.openxmlformats.org/officeDocument/2006/relationships/slide" Target="slides/slide85.xml"/><Relationship Id="rId96" Type="http://schemas.openxmlformats.org/officeDocument/2006/relationships/slide" Target="slides/slide86.xml"/><Relationship Id="rId97" Type="http://schemas.openxmlformats.org/officeDocument/2006/relationships/slide" Target="slides/slide87.xml"/><Relationship Id="rId98" Type="http://schemas.openxmlformats.org/officeDocument/2006/relationships/slide" Target="slides/slide88.xml"/><Relationship Id="rId99" Type="http://schemas.openxmlformats.org/officeDocument/2006/relationships/slide" Target="slides/slide89.xml"/><Relationship Id="rId100" Type="http://schemas.openxmlformats.org/officeDocument/2006/relationships/slide" Target="slides/slide90.xml"/><Relationship Id="rId101" Type="http://schemas.openxmlformats.org/officeDocument/2006/relationships/slide" Target="slides/slide91.xml"/><Relationship Id="rId102" Type="http://schemas.openxmlformats.org/officeDocument/2006/relationships/slide" Target="slides/slide92.xml"/><Relationship Id="rId103" Type="http://schemas.openxmlformats.org/officeDocument/2006/relationships/slide" Target="slides/slide93.xml"/><Relationship Id="rId104" Type="http://schemas.openxmlformats.org/officeDocument/2006/relationships/slide" Target="slides/slide94.xml"/><Relationship Id="rId105" Type="http://schemas.openxmlformats.org/officeDocument/2006/relationships/slide" Target="slides/slide95.xml"/><Relationship Id="rId106" Type="http://schemas.openxmlformats.org/officeDocument/2006/relationships/slide" Target="slides/slide96.xml"/><Relationship Id="rId107" Type="http://schemas.openxmlformats.org/officeDocument/2006/relationships/slide" Target="slides/slide97.xml"/><Relationship Id="rId108" Type="http://schemas.openxmlformats.org/officeDocument/2006/relationships/slide" Target="slides/slide98.xml"/><Relationship Id="rId109" Type="http://schemas.openxmlformats.org/officeDocument/2006/relationships/slide" Target="slides/slide99.xml"/><Relationship Id="rId110" Type="http://schemas.openxmlformats.org/officeDocument/2006/relationships/slide" Target="slides/slide100.xml"/><Relationship Id="rId111" Type="http://schemas.openxmlformats.org/officeDocument/2006/relationships/font" Target="fonts/Inter-regular.fntdata"/><Relationship Id="rId112" Type="http://schemas.openxmlformats.org/officeDocument/2006/relationships/font" Target="fonts/Inter-bold.fntdata"/><Relationship Id="rId113" Type="http://schemas.openxmlformats.org/officeDocument/2006/relationships/font" Target="fonts/Inter-italic.fntdata"/><Relationship Id="rId114" Type="http://schemas.openxmlformats.org/officeDocument/2006/relationships/font" Target="fonts/Inter-boldItalic.fntdata"/><Relationship Id="rId115" Type="http://schemas.openxmlformats.org/officeDocument/2006/relationships/font" Target="fonts/ZenKakuGothicNewMedium-regular.fntdata"/><Relationship Id="rId116" Type="http://schemas.openxmlformats.org/officeDocument/2006/relationships/font" Target="fonts/ZenKakuGothicNewMedium-bold.fntdata"/><Relationship Id="rId117" Type="http://schemas.openxmlformats.org/officeDocument/2006/relationships/font" Target="fonts/ZenKakuGothicNew-regular.fntdata"/><Relationship Id="rId118" Type="http://schemas.openxmlformats.org/officeDocument/2006/relationships/font" Target="fonts/ZenKakuGothicNew-bold.fntdata"/><Relationship Id="rId119" Type="http://schemas.openxmlformats.org/officeDocument/2006/relationships/font" Target="fonts/CenturyGothic-regular.fntdata"/><Relationship Id="rId120" Type="http://schemas.openxmlformats.org/officeDocument/2006/relationships/font" Target="fonts/CenturyGothic-bold.fntdata"/><Relationship Id="rId121" Type="http://schemas.openxmlformats.org/officeDocument/2006/relationships/font" Target="fonts/CenturyGothic-italic.fntdata"/><Relationship Id="rId122" Type="http://schemas.openxmlformats.org/officeDocument/2006/relationships/font" Target="fonts/CenturyGothic-boldItalic.fntdata"/><Relationship Id="rId123" Type="http://schemas.openxmlformats.org/officeDocument/2006/relationships/slide" Target="slides/slide1.xml"/><Relationship Id="rId124" Type="http://schemas.openxmlformats.org/officeDocument/2006/relationships/slide" Target="slides/slide2.xml"/><Relationship Id="rId125" Type="http://schemas.openxmlformats.org/officeDocument/2006/relationships/slide" Target="slides/slide3.xml"/><Relationship Id="rId126" Type="http://schemas.openxmlformats.org/officeDocument/2006/relationships/slide" Target="slides/slide4.xml"/><Relationship Id="rId127" Type="http://schemas.openxmlformats.org/officeDocument/2006/relationships/slide" Target="slides/slide5.xml"/><Relationship Id="rId128" Type="http://schemas.openxmlformats.org/officeDocument/2006/relationships/slide" Target="slides/slide6.xml"/><Relationship Id="rId129" Type="http://schemas.openxmlformats.org/officeDocument/2006/relationships/slide" Target="slides/slide7.xml"/><Relationship Id="rId130" Type="http://schemas.openxmlformats.org/officeDocument/2006/relationships/slide" Target="slides/slide8.xml"/><Relationship Id="rId131" Type="http://schemas.openxmlformats.org/officeDocument/2006/relationships/slide" Target="slides/slide9.xml"/><Relationship Id="rId132" Type="http://schemas.openxmlformats.org/officeDocument/2006/relationships/slide" Target="slides/slide10.xml"/><Relationship Id="rId133" Type="http://schemas.openxmlformats.org/officeDocument/2006/relationships/slide" Target="slides/slide11.xml"/><Relationship Id="rId134" Type="http://schemas.openxmlformats.org/officeDocument/2006/relationships/slide" Target="slides/slide12.xml"/><Relationship Id="rId135" Type="http://schemas.openxmlformats.org/officeDocument/2006/relationships/slide" Target="slides/slide13.xml"/><Relationship Id="rId136" Type="http://schemas.openxmlformats.org/officeDocument/2006/relationships/slide" Target="slides/slide14.xml"/><Relationship Id="rId137" Type="http://schemas.openxmlformats.org/officeDocument/2006/relationships/slide" Target="slides/slide15.xml"/><Relationship Id="rId138" Type="http://schemas.openxmlformats.org/officeDocument/2006/relationships/slide" Target="slides/slide16.xml"/><Relationship Id="rId139" Type="http://schemas.openxmlformats.org/officeDocument/2006/relationships/slide" Target="slides/slide17.xml"/><Relationship Id="rId140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a1a5b9f81b_1_14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g3a1a5b9f81b_1_14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a1a5b9f81b_1_1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3a1a5b9f81b_1_1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a1a5b9f81b_1_1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3a1a5b9f81b_1_1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a1a5b9f81b_1_1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3a1a5b9f81b_1_1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a1a5b9f81b_1_1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3a1a5b9f81b_1_1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a1a5b9f81b_1_1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3a1a5b9f81b_1_1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a1a5b9f81b_1_1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3a1a5b9f81b_1_1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a1a5b9f81b_1_1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3a1a5b9f81b_1_1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a1a5b9f81b_1_1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3a1a5b9f81b_1_1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a1a5b9f81b_1_1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3a1a5b9f81b_1_1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a1a5b9f81b_1_1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3a1a5b9f81b_1_1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a1a5b9f81b_1_15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5" name="Google Shape;745;g3a1a5b9f81b_1_1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3a1a5b9f81b_1_15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3a1a5b9f81b_1_1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a1a5b9f81b_1_1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3a1a5b9f81b_1_1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a1a5b9f81b_1_1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3a1a5b9f81b_1_1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3a1a5b9f81b_1_15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3a1a5b9f81b_1_15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3a1a5b9f81b_1_15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3a1a5b9f81b_1_1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a1a5b9f81b_1_15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3a1a5b9f81b_1_15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a1a5b9f81b_1_15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3a1a5b9f81b_1_1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a1a5b9f81b_1_16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3a1a5b9f81b_1_1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a1a5b9f81b_1_1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3a1a5b9f81b_1_1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3a1a5b9f81b_1_1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3a1a5b9f81b_1_1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3a1a5b9f81b_1_16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g3a1a5b9f81b_1_16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3a1a5b9f81b_1_16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g3a1a5b9f81b_1_16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a1a5b9f81b_1_16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3a1a5b9f81b_1_16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3a1a5b9f81b_1_16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1" name="Google Shape;871;g3a1a5b9f81b_1_1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a1a5b9f81b_1_16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a1a5b9f81b_1_16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a1a5b9f81b_1_1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3a1a5b9f81b_1_1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3a1a5b9f81b_1_17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3a1a5b9f81b_1_1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3a1a5b9f81b_1_17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6" name="Google Shape;926;g3a1a5b9f81b_1_17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3a1a5b9f81b_1_17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3a1a5b9f81b_1_1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3a1a5b9f81b_1_17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3a1a5b9f81b_1_17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3a1a5b9f81b_1_17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3a1a5b9f81b_1_17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3a1a5b9f81b_1_17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3a1a5b9f81b_1_17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3a1a5b9f81b_1_1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8" name="Google Shape;968;g3a1a5b9f81b_1_1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3a1a5b9f81b_1_17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3a1a5b9f81b_1_1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3a1a5b9f81b_1_1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3a1a5b9f81b_1_1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3a1a5b9f81b_1_17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g3a1a5b9f81b_1_17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3a1a5b9f81b_1_17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3a1a5b9f81b_1_17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3a1a5b9f81b_1_17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3a1a5b9f81b_1_17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3a1a5b9f81b_1_17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4" name="Google Shape;1024;g3a1a5b9f81b_1_17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a1a5b9f81b_1_18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g3a1a5b9f81b_1_18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3a1a5b9f81b_1_18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3a1a5b9f81b_1_18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3a1a5b9f81b_1_18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3a1a5b9f81b_1_18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3a1a5b9f81b_1_18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g3a1a5b9f81b_1_18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3a1a5b9f81b_1_18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9" name="Google Shape;1079;g3a1a5b9f81b_1_18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3a1a5b9f81b_1_18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3a1a5b9f81b_1_18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3a1a5b9f81b_1_18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9" name="Google Shape;1099;g3a1a5b9f81b_1_18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g3a1a5b9f81b_1_18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4" name="Google Shape;1104;g3a1a5b9f81b_1_18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3a1a5b9f81b_1_18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3a1a5b9f81b_1_18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3a1a5b9f81b_1_18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3a1a5b9f81b_1_18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3a1a5b9f81b_1_18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4" name="Google Shape;1134;g3a1a5b9f81b_1_18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3a1a5b9f81b_1_19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3a1a5b9f81b_1_19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3a1a5b9f81b_1_19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8" name="Google Shape;1168;g3a1a5b9f81b_1_19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g3a1a5b9f81b_1_19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0" name="Google Shape;1180;g3a1a5b9f81b_1_1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g3a1a5b9f81b_1_19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2" name="Google Shape;1192;g3a1a5b9f81b_1_19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g3a1a5b9f81b_1_19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4" name="Google Shape;1204;g3a1a5b9f81b_1_19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g3a1a5b9f81b_1_19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8" name="Google Shape;1228;g3a1a5b9f81b_1_19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3a1a5b9f81b_1_19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3a1a5b9f81b_1_19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g3a1a5b9f81b_1_20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7" name="Google Shape;1257;g3a1a5b9f81b_1_20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g3a1a5b9f81b_1_20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2" name="Google Shape;1282;g3a1a5b9f81b_1_20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g3a1a5b9f81b_1_20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3" name="Google Shape;1293;g3a1a5b9f81b_1_20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g3a1a5b9f81b_1_20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8" name="Google Shape;1308;g3a1a5b9f81b_1_20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g3a1a5b9f81b_1_20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7" name="Google Shape;1327;g3a1a5b9f81b_1_20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g3a1a5b9f81b_1_20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8" name="Google Shape;1338;g3a1a5b9f81b_1_20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g3a1a5b9f81b_1_2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7" name="Google Shape;1357;g3a1a5b9f81b_1_2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g3a1a5b9f81b_1_2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4" name="Google Shape;1364;g3a1a5b9f81b_1_2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g3a1a5b9f81b_1_2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1" name="Google Shape;1371;g3a1a5b9f81b_1_2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g3a1a5b9f81b_1_2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8" name="Google Shape;1378;g3a1a5b9f81b_1_2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g3a1a5b9f81b_1_2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5" name="Google Shape;1385;g3a1a5b9f81b_1_2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g3a1a5b9f81b_1_2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2" name="Google Shape;1392;g3a1a5b9f81b_1_2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g3a1a5b9f81b_1_2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9" name="Google Shape;1399;g3a1a5b9f81b_1_2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g3a1a5b9f81b_1_2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4" name="Google Shape;1404;g3a1a5b9f81b_1_2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g3a1a5b9f81b_1_2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1" name="Google Shape;1411;g3a1a5b9f81b_1_2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g3a1a5b9f81b_1_28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9" name="Google Shape;1419;g3a1a5b9f81b_1_28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g3a1a5b9f81b_1_2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1" name="Google Shape;1451;g3a1a5b9f81b_1_2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g3a1a5b9f81b_1_29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8" name="Google Shape;1458;g3a1a5b9f81b_1_29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g3a1a5b9f81b_2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3" name="Google Shape;1463;g3a1a5b9f81b_2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3a1a5b9f81b_2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9" name="Google Shape;1469;g3a1a5b9f81b_2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g3a1a5b9f81b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6" name="Google Shape;1476;g3a1a5b9f81b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g3a1a5b9f81b_2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5" name="Google Shape;1485;g3a1a5b9f81b_2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g3a1a5b9f81b_2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2" name="Google Shape;1492;g3a1a5b9f81b_2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g3a1a5b9f81b_2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9" name="Google Shape;1499;g3a1a5b9f81b_2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g3a1a5b9f81b_2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6" name="Google Shape;1506;g3a1a5b9f81b_2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g3a1a5b9f81b_2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4" name="Google Shape;1514;g3a1a5b9f81b_2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g3a1a5b9f81b_1_2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2" name="Google Shape;1522;g3a1a5b9f81b_1_2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3a1a5b9f81b_1_2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g3a1a5b9f81b_1_2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g3a1a5b9f81b_1_2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6" name="Google Shape;1536;g3a1a5b9f81b_1_2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g3a1a5b9f81b_1_2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3" name="Google Shape;1543;g3a1a5b9f81b_1_2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g3a1a5b9f81b_1_2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0" name="Google Shape;1550;g3a1a5b9f81b_1_2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g3a1a5b9f81b_1_2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5" name="Google Shape;1555;g3a1a5b9f81b_1_2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0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g3a1a5b9f81b_1_2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2" name="Google Shape;1562;g3a1a5b9f81b_1_2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5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Google Shape;1566;g3a1a5b9f81b_1_2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7" name="Google Shape;1567;g3a1a5b9f81b_1_2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g3a1a5b9f81b_1_2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4" name="Google Shape;1574;g3a1a5b9f81b_1_2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g3a1a5b9f81b_1_2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g3a1a5b9f81b_1_2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g3a1a5b9f81b_1_2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8" name="Google Shape;1588;g3a1a5b9f81b_1_2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g3a1a5b9f81b_1_2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3" name="Google Shape;1593;g3a1a5b9f81b_1_2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g3a1a5b9f81b_1_2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0" name="Google Shape;1600;g3a1a5b9f81b_1_2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5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g3a1a5b9f81b_1_2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7" name="Google Shape;1607;g3a1a5b9f81b_1_2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g3a1a5b9f81b_1_2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4" name="Google Shape;1614;g3a1a5b9f81b_1_2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8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1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2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5.pn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2.png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 1 2">
  <p:cSld name="TITLE_1_1_2">
    <p:bg>
      <p:bgPr>
        <a:gradFill>
          <a:gsLst>
            <a:gs pos="0">
              <a:srgbClr val="8C2200"/>
            </a:gs>
            <a:gs pos="100000">
              <a:srgbClr val="D94F00"/>
            </a:gs>
          </a:gsLst>
          <a:lin ang="0" scaled="0"/>
        </a:gra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3" name="Google Shape;53;p13" title="Group 199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8263" y="1813775"/>
            <a:ext cx="6167475" cy="96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1">
  <p:cSld name="CUSTOM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7" name="Google Shape;57;p14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1 1">
  <p:cSld name="CUSTOM_8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5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5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61" name="Google Shape;61;p15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153920"/>
            <a:ext cx="559100" cy="298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" name="Google Shape;62;p15"/>
          <p:cNvCxnSpPr/>
          <p:nvPr/>
        </p:nvCxnSpPr>
        <p:spPr>
          <a:xfrm>
            <a:off x="284400" y="630700"/>
            <a:ext cx="8575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1 1 1">
  <p:cSld name="CUSTOM_8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65" name="Google Shape;65;p16"/>
          <p:cNvCxnSpPr/>
          <p:nvPr/>
        </p:nvCxnSpPr>
        <p:spPr>
          <a:xfrm>
            <a:off x="284400" y="630700"/>
            <a:ext cx="8575200" cy="0"/>
          </a:xfrm>
          <a:prstGeom prst="straightConnector1">
            <a:avLst/>
          </a:prstGeom>
          <a:noFill/>
          <a:ln cap="flat" cmpd="sng" w="19050">
            <a:solidFill>
              <a:srgbClr val="1F365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66" name="Google Shape;66;p16" title="JCC_ロゴorange.png"/>
          <p:cNvPicPr preferRelativeResize="0"/>
          <p:nvPr/>
        </p:nvPicPr>
        <p:blipFill rotWithShape="1">
          <a:blip r:embed="rId2">
            <a:alphaModFix/>
          </a:blip>
          <a:srcRect b="758" l="0" r="0" t="748"/>
          <a:stretch/>
        </p:blipFill>
        <p:spPr>
          <a:xfrm>
            <a:off x="8355941" y="163645"/>
            <a:ext cx="559100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2 1">
  <p:cSld name="CUSTOM_1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7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7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0" name="Google Shape;70;p17"/>
          <p:cNvSpPr txBox="1"/>
          <p:nvPr/>
        </p:nvSpPr>
        <p:spPr>
          <a:xfrm>
            <a:off x="1649100" y="2202300"/>
            <a:ext cx="5845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600">
                <a:solidFill>
                  <a:schemeClr val="lt1"/>
                </a:solidFill>
              </a:rPr>
              <a:t>瞑 想</a:t>
            </a:r>
            <a:endParaRPr b="1" sz="3600"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3">
  <p:cSld name="CUSTOM_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8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8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74" name="Google Shape;74;p18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" name="Google Shape;75;p18"/>
          <p:cNvCxnSpPr/>
          <p:nvPr/>
        </p:nvCxnSpPr>
        <p:spPr>
          <a:xfrm>
            <a:off x="5119700" y="2186825"/>
            <a:ext cx="34200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3 1">
  <p:cSld name="CUSTOM_2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9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9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79" name="Google Shape;79;p19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9"/>
          <p:cNvSpPr txBox="1"/>
          <p:nvPr/>
        </p:nvSpPr>
        <p:spPr>
          <a:xfrm>
            <a:off x="526423" y="178662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Check in</a:t>
            </a:r>
            <a:endParaRPr b="1" sz="4000">
              <a:solidFill>
                <a:schemeClr val="lt1"/>
              </a:solidFill>
            </a:endParaRPr>
          </a:p>
        </p:txBody>
      </p:sp>
      <p:cxnSp>
        <p:nvCxnSpPr>
          <p:cNvPr id="81" name="Google Shape;81;p19"/>
          <p:cNvCxnSpPr/>
          <p:nvPr/>
        </p:nvCxnSpPr>
        <p:spPr>
          <a:xfrm>
            <a:off x="3227925" y="2186825"/>
            <a:ext cx="53118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3 1 2">
  <p:cSld name="CUSTOM_2_1_2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20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0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5" name="Google Shape;85;p20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20"/>
          <p:cNvSpPr txBox="1"/>
          <p:nvPr/>
        </p:nvSpPr>
        <p:spPr>
          <a:xfrm>
            <a:off x="526423" y="178662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Check out</a:t>
            </a:r>
            <a:endParaRPr b="1" sz="4000">
              <a:solidFill>
                <a:schemeClr val="lt1"/>
              </a:solidFill>
            </a:endParaRPr>
          </a:p>
        </p:txBody>
      </p:sp>
      <p:cxnSp>
        <p:nvCxnSpPr>
          <p:cNvPr id="87" name="Google Shape;87;p20"/>
          <p:cNvCxnSpPr/>
          <p:nvPr/>
        </p:nvCxnSpPr>
        <p:spPr>
          <a:xfrm>
            <a:off x="3227925" y="2186825"/>
            <a:ext cx="53118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3 1 1">
  <p:cSld name="CUSTOM_2_1_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1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1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p21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1"/>
          <p:cNvSpPr txBox="1"/>
          <p:nvPr/>
        </p:nvSpPr>
        <p:spPr>
          <a:xfrm>
            <a:off x="526423" y="178662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Question</a:t>
            </a:r>
            <a:endParaRPr b="1" sz="4000">
              <a:solidFill>
                <a:schemeClr val="lt1"/>
              </a:solidFill>
            </a:endParaRPr>
          </a:p>
        </p:txBody>
      </p:sp>
      <p:cxnSp>
        <p:nvCxnSpPr>
          <p:cNvPr id="93" name="Google Shape;93;p21"/>
          <p:cNvCxnSpPr/>
          <p:nvPr/>
        </p:nvCxnSpPr>
        <p:spPr>
          <a:xfrm>
            <a:off x="3227925" y="2186825"/>
            <a:ext cx="53118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3 1 1 1">
  <p:cSld name="CUSTOM_2_1_1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2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2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7" name="Google Shape;97;p22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2"/>
          <p:cNvSpPr txBox="1"/>
          <p:nvPr/>
        </p:nvSpPr>
        <p:spPr>
          <a:xfrm>
            <a:off x="526423" y="1593714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Question</a:t>
            </a:r>
            <a:endParaRPr b="1" sz="4000">
              <a:solidFill>
                <a:schemeClr val="lt1"/>
              </a:solidFill>
            </a:endParaRPr>
          </a:p>
        </p:txBody>
      </p:sp>
      <p:cxnSp>
        <p:nvCxnSpPr>
          <p:cNvPr id="99" name="Google Shape;99;p22"/>
          <p:cNvCxnSpPr/>
          <p:nvPr/>
        </p:nvCxnSpPr>
        <p:spPr>
          <a:xfrm>
            <a:off x="3227925" y="1993914"/>
            <a:ext cx="53118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4">
  <p:cSld name="CUSTOM_3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3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3" title="JCC_ロゴorange.png"/>
          <p:cNvPicPr preferRelativeResize="0"/>
          <p:nvPr/>
        </p:nvPicPr>
        <p:blipFill rotWithShape="1">
          <a:blip r:embed="rId3">
            <a:alphaModFix amt="5000"/>
          </a:blip>
          <a:srcRect b="758" l="0" r="0" t="748"/>
          <a:stretch/>
        </p:blipFill>
        <p:spPr>
          <a:xfrm>
            <a:off x="-109050" y="2583962"/>
            <a:ext cx="4915450" cy="262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3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5">
  <p:cSld name="CUSTOM_4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4"/>
          <p:cNvSpPr/>
          <p:nvPr/>
        </p:nvSpPr>
        <p:spPr>
          <a:xfrm>
            <a:off x="-109075" y="-21750"/>
            <a:ext cx="2686800" cy="51870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1F3656"/>
              </a:gs>
              <a:gs pos="100000">
                <a:srgbClr val="090E27"/>
              </a:gs>
            </a:gsLst>
            <a:lin ang="10800025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1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06" name="Google Shape;106;p24" title="JCC_ロゴorange.png"/>
          <p:cNvPicPr preferRelativeResize="0"/>
          <p:nvPr/>
        </p:nvPicPr>
        <p:blipFill rotWithShape="1">
          <a:blip r:embed="rId2">
            <a:alphaModFix amt="10000"/>
          </a:blip>
          <a:srcRect b="758" l="0" r="0" t="748"/>
          <a:stretch/>
        </p:blipFill>
        <p:spPr>
          <a:xfrm>
            <a:off x="0" y="3593304"/>
            <a:ext cx="2577699" cy="137757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4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6">
  <p:cSld name="CUSTOM_5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" name="Google Shape;109;p25"/>
          <p:cNvCxnSpPr/>
          <p:nvPr/>
        </p:nvCxnSpPr>
        <p:spPr>
          <a:xfrm>
            <a:off x="284400" y="1952525"/>
            <a:ext cx="8575200" cy="0"/>
          </a:xfrm>
          <a:prstGeom prst="straightConnector1">
            <a:avLst/>
          </a:prstGeom>
          <a:noFill/>
          <a:ln cap="flat" cmpd="sng" w="19050">
            <a:solidFill>
              <a:srgbClr val="1F365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0" name="Google Shape;110;p25"/>
          <p:cNvSpPr txBox="1"/>
          <p:nvPr/>
        </p:nvSpPr>
        <p:spPr>
          <a:xfrm>
            <a:off x="959477" y="201321"/>
            <a:ext cx="78867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262626"/>
              </a:solidFill>
              <a:latin typeface="Zen Kaku Gothic New"/>
              <a:ea typeface="Zen Kaku Gothic New"/>
              <a:cs typeface="Zen Kaku Gothic New"/>
              <a:sym typeface="Zen Kaku Gothic New"/>
            </a:endParaRPr>
          </a:p>
        </p:txBody>
      </p:sp>
      <p:sp>
        <p:nvSpPr>
          <p:cNvPr id="111" name="Google Shape;111;p25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12" name="Google Shape;112;p25" title="JCC_ロゴorange.png"/>
          <p:cNvPicPr preferRelativeResize="0"/>
          <p:nvPr/>
        </p:nvPicPr>
        <p:blipFill rotWithShape="1">
          <a:blip r:embed="rId2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2">
  <p:cSld name="CUSTOM_6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6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5" name="Google Shape;115;p26"/>
          <p:cNvCxnSpPr/>
          <p:nvPr/>
        </p:nvCxnSpPr>
        <p:spPr>
          <a:xfrm>
            <a:off x="284400" y="1952525"/>
            <a:ext cx="8575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6" name="Google Shape;116;p26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17" name="Google Shape;117;p26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 1">
  <p:cSld name="TITLE_12">
    <p:bg>
      <p:bgPr>
        <a:gradFill>
          <a:gsLst>
            <a:gs pos="0">
              <a:srgbClr val="090E27"/>
            </a:gs>
            <a:gs pos="50000">
              <a:srgbClr val="1F3656"/>
            </a:gs>
            <a:gs pos="100000">
              <a:srgbClr val="090E27"/>
            </a:gs>
          </a:gsLst>
          <a:lin ang="0" scaled="0"/>
        </a:gra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7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7" title="JCC_ロゴorange.png"/>
          <p:cNvPicPr preferRelativeResize="0"/>
          <p:nvPr/>
        </p:nvPicPr>
        <p:blipFill rotWithShape="1">
          <a:blip r:embed="rId3">
            <a:alphaModFix/>
          </a:blip>
          <a:srcRect b="3891" l="0" r="0" t="3891"/>
          <a:stretch/>
        </p:blipFill>
        <p:spPr>
          <a:xfrm>
            <a:off x="228050" y="265971"/>
            <a:ext cx="561177" cy="280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" name="Google Shape;121;p27"/>
          <p:cNvCxnSpPr/>
          <p:nvPr/>
        </p:nvCxnSpPr>
        <p:spPr>
          <a:xfrm>
            <a:off x="188844" y="662984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EEEEE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2" name="Google Shape;122;p27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3" name="Google Shape;123;p27"/>
          <p:cNvSpPr txBox="1"/>
          <p:nvPr>
            <p:ph type="title"/>
          </p:nvPr>
        </p:nvSpPr>
        <p:spPr>
          <a:xfrm>
            <a:off x="959477" y="201321"/>
            <a:ext cx="78867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Zen Kaku Gothic New"/>
              <a:buNone/>
              <a:defRPr b="1" i="0" sz="2100"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 1 1">
  <p:cSld name="TITLE_12_1">
    <p:bg>
      <p:bgPr>
        <a:gradFill>
          <a:gsLst>
            <a:gs pos="0">
              <a:srgbClr val="090E27"/>
            </a:gs>
            <a:gs pos="50000">
              <a:srgbClr val="1F3656"/>
            </a:gs>
            <a:gs pos="100000">
              <a:srgbClr val="090E27"/>
            </a:gs>
          </a:gsLst>
          <a:lin ang="0" scaled="0"/>
        </a:gra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8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8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セクション ヘッダー 1">
  <p:cSld name="SECTION_HEADER_1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29" name="Google Shape;129;p29"/>
          <p:cNvSpPr/>
          <p:nvPr/>
        </p:nvSpPr>
        <p:spPr>
          <a:xfrm>
            <a:off x="-100" y="-125"/>
            <a:ext cx="9144000" cy="5143500"/>
          </a:xfrm>
          <a:prstGeom prst="rec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12121"/>
              </a:solidFill>
            </a:endParaRPr>
          </a:p>
        </p:txBody>
      </p:sp>
      <p:sp>
        <p:nvSpPr>
          <p:cNvPr id="130" name="Google Shape;130;p29"/>
          <p:cNvSpPr/>
          <p:nvPr/>
        </p:nvSpPr>
        <p:spPr>
          <a:xfrm>
            <a:off x="8838010" y="0"/>
            <a:ext cx="306000" cy="5143500"/>
          </a:xfrm>
          <a:prstGeom prst="triangle">
            <a:avLst>
              <a:gd fmla="val 100000" name="adj"/>
            </a:avLst>
          </a:prstGeom>
          <a:gradFill>
            <a:gsLst>
              <a:gs pos="0">
                <a:srgbClr val="DB4F00"/>
              </a:gs>
              <a:gs pos="100000">
                <a:srgbClr val="8D2200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21171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1" name="Google Shape;131;p29"/>
          <p:cNvSpPr/>
          <p:nvPr/>
        </p:nvSpPr>
        <p:spPr>
          <a:xfrm rot="10800000">
            <a:off x="-9" y="0"/>
            <a:ext cx="306000" cy="5143500"/>
          </a:xfrm>
          <a:prstGeom prst="triangle">
            <a:avLst>
              <a:gd fmla="val 100000" name="adj"/>
            </a:avLst>
          </a:prstGeom>
          <a:gradFill>
            <a:gsLst>
              <a:gs pos="0">
                <a:srgbClr val="DB4F00"/>
              </a:gs>
              <a:gs pos="100000">
                <a:srgbClr val="8D2200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21171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32" name="Google Shape;132;p29"/>
          <p:cNvPicPr preferRelativeResize="0"/>
          <p:nvPr/>
        </p:nvPicPr>
        <p:blipFill rotWithShape="1">
          <a:blip r:embed="rId2">
            <a:alphaModFix/>
          </a:blip>
          <a:srcRect b="3174" l="0" r="0" t="3183"/>
          <a:stretch/>
        </p:blipFill>
        <p:spPr>
          <a:xfrm>
            <a:off x="8496075" y="202550"/>
            <a:ext cx="432275" cy="21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9"/>
          <p:cNvSpPr txBox="1"/>
          <p:nvPr/>
        </p:nvSpPr>
        <p:spPr>
          <a:xfrm>
            <a:off x="5534300" y="4862575"/>
            <a:ext cx="36096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Copyright © Mizukara, Inc.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134" name="Google Shape;134;p29"/>
          <p:cNvSpPr txBox="1"/>
          <p:nvPr>
            <p:ph type="title"/>
          </p:nvPr>
        </p:nvSpPr>
        <p:spPr>
          <a:xfrm>
            <a:off x="0" y="17216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  <a:defRPr b="1" sz="7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135" name="Google Shape;135;p29"/>
          <p:cNvSpPr txBox="1"/>
          <p:nvPr>
            <p:ph idx="1" type="subTitle"/>
          </p:nvPr>
        </p:nvSpPr>
        <p:spPr>
          <a:xfrm>
            <a:off x="-100" y="26955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42" name="Google Shape;142;p31"/>
          <p:cNvSpPr/>
          <p:nvPr/>
        </p:nvSpPr>
        <p:spPr>
          <a:xfrm>
            <a:off x="-52325" y="-104675"/>
            <a:ext cx="9263400" cy="5338200"/>
          </a:xfrm>
          <a:prstGeom prst="rec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C4587"/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4">
  <p:cSld name="CUSTOM_9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41325" y="-49400"/>
            <a:ext cx="9323151" cy="5239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9">
  <p:cSld name="CUSTOM_8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8438" y="-19375"/>
            <a:ext cx="9220874" cy="5182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49" name="Google Shape;149;p34"/>
          <p:cNvSpPr/>
          <p:nvPr/>
        </p:nvSpPr>
        <p:spPr>
          <a:xfrm>
            <a:off x="-100" y="-125"/>
            <a:ext cx="9144000" cy="5143500"/>
          </a:xfrm>
          <a:prstGeom prst="rec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12121"/>
              </a:solidFill>
            </a:endParaRPr>
          </a:p>
        </p:txBody>
      </p:sp>
      <p:sp>
        <p:nvSpPr>
          <p:cNvPr id="150" name="Google Shape;150;p34"/>
          <p:cNvSpPr/>
          <p:nvPr/>
        </p:nvSpPr>
        <p:spPr>
          <a:xfrm>
            <a:off x="8838010" y="0"/>
            <a:ext cx="306000" cy="5143500"/>
          </a:xfrm>
          <a:prstGeom prst="triangle">
            <a:avLst>
              <a:gd fmla="val 100000" name="adj"/>
            </a:avLst>
          </a:prstGeom>
          <a:gradFill>
            <a:gsLst>
              <a:gs pos="0">
                <a:srgbClr val="DB4F00"/>
              </a:gs>
              <a:gs pos="100000">
                <a:srgbClr val="8D2200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21171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1" name="Google Shape;151;p34"/>
          <p:cNvSpPr/>
          <p:nvPr/>
        </p:nvSpPr>
        <p:spPr>
          <a:xfrm rot="10800000">
            <a:off x="-9" y="0"/>
            <a:ext cx="306000" cy="5143500"/>
          </a:xfrm>
          <a:prstGeom prst="triangle">
            <a:avLst>
              <a:gd fmla="val 100000" name="adj"/>
            </a:avLst>
          </a:prstGeom>
          <a:gradFill>
            <a:gsLst>
              <a:gs pos="0">
                <a:srgbClr val="DB4F00"/>
              </a:gs>
              <a:gs pos="100000">
                <a:srgbClr val="8D2200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21171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2" name="Google Shape;152;p34"/>
          <p:cNvPicPr preferRelativeResize="0"/>
          <p:nvPr/>
        </p:nvPicPr>
        <p:blipFill rotWithShape="1">
          <a:blip r:embed="rId2">
            <a:alphaModFix/>
          </a:blip>
          <a:srcRect b="3174" l="0" r="0" t="3183"/>
          <a:stretch/>
        </p:blipFill>
        <p:spPr>
          <a:xfrm>
            <a:off x="8496075" y="202550"/>
            <a:ext cx="432275" cy="21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34"/>
          <p:cNvSpPr txBox="1"/>
          <p:nvPr/>
        </p:nvSpPr>
        <p:spPr>
          <a:xfrm>
            <a:off x="5534300" y="4862575"/>
            <a:ext cx="36096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Copyright © Mizukara, Inc.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154" name="Google Shape;154;p34"/>
          <p:cNvSpPr txBox="1"/>
          <p:nvPr>
            <p:ph type="title"/>
          </p:nvPr>
        </p:nvSpPr>
        <p:spPr>
          <a:xfrm>
            <a:off x="0" y="17216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  <a:defRPr b="1" sz="7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155" name="Google Shape;155;p34"/>
          <p:cNvSpPr txBox="1"/>
          <p:nvPr>
            <p:ph idx="1" type="subTitle"/>
          </p:nvPr>
        </p:nvSpPr>
        <p:spPr>
          <a:xfrm>
            <a:off x="-100" y="26955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58" name="Google Shape;158;p35"/>
          <p:cNvSpPr/>
          <p:nvPr/>
        </p:nvSpPr>
        <p:spPr>
          <a:xfrm>
            <a:off x="-100" y="-125"/>
            <a:ext cx="9144000" cy="5143500"/>
          </a:xfrm>
          <a:prstGeom prst="rec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35"/>
          <p:cNvSpPr txBox="1"/>
          <p:nvPr>
            <p:ph type="title"/>
          </p:nvPr>
        </p:nvSpPr>
        <p:spPr>
          <a:xfrm>
            <a:off x="617725" y="52550"/>
            <a:ext cx="7806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60" name="Google Shape;160;p35"/>
          <p:cNvCxnSpPr/>
          <p:nvPr/>
        </p:nvCxnSpPr>
        <p:spPr>
          <a:xfrm>
            <a:off x="154044" y="808250"/>
            <a:ext cx="8835900" cy="0"/>
          </a:xfrm>
          <a:prstGeom prst="straightConnector1">
            <a:avLst/>
          </a:prstGeom>
          <a:noFill/>
          <a:ln cap="flat" cmpd="sng" w="38100">
            <a:solidFill>
              <a:srgbClr val="DB4F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1" name="Google Shape;161;p35"/>
          <p:cNvSpPr txBox="1"/>
          <p:nvPr/>
        </p:nvSpPr>
        <p:spPr>
          <a:xfrm>
            <a:off x="5534300" y="4862575"/>
            <a:ext cx="36096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Copyright © Mizukara, Inc.</a:t>
            </a:r>
            <a:endParaRPr sz="700">
              <a:solidFill>
                <a:srgbClr val="FFFFFF"/>
              </a:solidFill>
            </a:endParaRPr>
          </a:p>
        </p:txBody>
      </p:sp>
      <p:pic>
        <p:nvPicPr>
          <p:cNvPr id="162" name="Google Shape;162;p35"/>
          <p:cNvPicPr preferRelativeResize="0"/>
          <p:nvPr/>
        </p:nvPicPr>
        <p:blipFill rotWithShape="1">
          <a:blip r:embed="rId2">
            <a:alphaModFix/>
          </a:blip>
          <a:srcRect b="3174" l="0" r="0" t="3183"/>
          <a:stretch/>
        </p:blipFill>
        <p:spPr>
          <a:xfrm>
            <a:off x="8496075" y="202550"/>
            <a:ext cx="432275" cy="21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2">
  <p:cSld name="CUSTOM_1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6"/>
          <p:cNvSpPr/>
          <p:nvPr/>
        </p:nvSpPr>
        <p:spPr>
          <a:xfrm>
            <a:off x="-100" y="-125"/>
            <a:ext cx="9144000" cy="5143500"/>
          </a:xfrm>
          <a:prstGeom prst="rec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5" name="Google Shape;165;p36"/>
          <p:cNvCxnSpPr/>
          <p:nvPr/>
        </p:nvCxnSpPr>
        <p:spPr>
          <a:xfrm>
            <a:off x="3499625" y="1533000"/>
            <a:ext cx="5458200" cy="0"/>
          </a:xfrm>
          <a:prstGeom prst="straightConnector1">
            <a:avLst/>
          </a:prstGeom>
          <a:noFill/>
          <a:ln cap="flat" cmpd="sng" w="28575">
            <a:solidFill>
              <a:srgbClr val="DB4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" name="Google Shape;166;p36"/>
          <p:cNvSpPr txBox="1"/>
          <p:nvPr>
            <p:ph type="title"/>
          </p:nvPr>
        </p:nvSpPr>
        <p:spPr>
          <a:xfrm>
            <a:off x="3472775" y="280600"/>
            <a:ext cx="58167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7" name="Google Shape;167;p36"/>
          <p:cNvSpPr txBox="1"/>
          <p:nvPr>
            <p:ph idx="1" type="subTitle"/>
          </p:nvPr>
        </p:nvSpPr>
        <p:spPr>
          <a:xfrm>
            <a:off x="3499625" y="1071000"/>
            <a:ext cx="5816700" cy="4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8" name="Google Shape;168;p36"/>
          <p:cNvSpPr txBox="1"/>
          <p:nvPr>
            <p:ph idx="2" type="body"/>
          </p:nvPr>
        </p:nvSpPr>
        <p:spPr>
          <a:xfrm>
            <a:off x="3499625" y="1686575"/>
            <a:ext cx="5458200" cy="23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9" name="Google Shape;169;p36"/>
          <p:cNvSpPr txBox="1"/>
          <p:nvPr>
            <p:ph idx="3" type="body"/>
          </p:nvPr>
        </p:nvSpPr>
        <p:spPr>
          <a:xfrm>
            <a:off x="3499625" y="4100850"/>
            <a:ext cx="5458200" cy="92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b="1" sz="1300"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b="1"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b="1"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b="1"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b="1"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b="1"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b="1"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b="1"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0" name="Google Shape;170;p36"/>
          <p:cNvSpPr txBox="1"/>
          <p:nvPr/>
        </p:nvSpPr>
        <p:spPr>
          <a:xfrm>
            <a:off x="5534300" y="4862575"/>
            <a:ext cx="36096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Copyright © Mizukara, Inc.</a:t>
            </a:r>
            <a:endParaRPr sz="700">
              <a:solidFill>
                <a:srgbClr val="FFFFFF"/>
              </a:solidFill>
            </a:endParaRPr>
          </a:p>
        </p:txBody>
      </p:sp>
      <p:pic>
        <p:nvPicPr>
          <p:cNvPr id="171" name="Google Shape;171;p36"/>
          <p:cNvPicPr preferRelativeResize="0"/>
          <p:nvPr/>
        </p:nvPicPr>
        <p:blipFill rotWithShape="1">
          <a:blip r:embed="rId2">
            <a:alphaModFix/>
          </a:blip>
          <a:srcRect b="3174" l="0" r="0" t="3183"/>
          <a:stretch/>
        </p:blipFill>
        <p:spPr>
          <a:xfrm>
            <a:off x="8496075" y="202550"/>
            <a:ext cx="432275" cy="21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1">
  <p:cSld name="CUSTOM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7"/>
          <p:cNvSpPr/>
          <p:nvPr/>
        </p:nvSpPr>
        <p:spPr>
          <a:xfrm>
            <a:off x="8838010" y="0"/>
            <a:ext cx="306000" cy="5143500"/>
          </a:xfrm>
          <a:prstGeom prst="triangle">
            <a:avLst>
              <a:gd fmla="val 100000" name="adj"/>
            </a:avLst>
          </a:prstGeom>
          <a:gradFill>
            <a:gsLst>
              <a:gs pos="0">
                <a:srgbClr val="DB4F00"/>
              </a:gs>
              <a:gs pos="100000">
                <a:srgbClr val="8D2200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21171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4" name="Google Shape;174;p37"/>
          <p:cNvSpPr/>
          <p:nvPr/>
        </p:nvSpPr>
        <p:spPr>
          <a:xfrm rot="10800000">
            <a:off x="-9" y="0"/>
            <a:ext cx="306000" cy="5143500"/>
          </a:xfrm>
          <a:prstGeom prst="triangle">
            <a:avLst>
              <a:gd fmla="val 100000" name="adj"/>
            </a:avLst>
          </a:prstGeom>
          <a:gradFill>
            <a:gsLst>
              <a:gs pos="0">
                <a:srgbClr val="DB4F00"/>
              </a:gs>
              <a:gs pos="100000">
                <a:srgbClr val="8D2200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21171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75" name="Google Shape;175;p37"/>
          <p:cNvPicPr preferRelativeResize="0"/>
          <p:nvPr/>
        </p:nvPicPr>
        <p:blipFill rotWithShape="1">
          <a:blip r:embed="rId2">
            <a:alphaModFix/>
          </a:blip>
          <a:srcRect b="3183" l="0" r="0" t="3183"/>
          <a:stretch/>
        </p:blipFill>
        <p:spPr>
          <a:xfrm>
            <a:off x="8474750" y="202550"/>
            <a:ext cx="475350" cy="23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7"/>
          <p:cNvSpPr txBox="1"/>
          <p:nvPr/>
        </p:nvSpPr>
        <p:spPr>
          <a:xfrm>
            <a:off x="5534300" y="4862575"/>
            <a:ext cx="36096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Copyright © Mizukara, Inc.</a:t>
            </a:r>
            <a:endParaRPr sz="7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79" name="Google Shape;179;p38"/>
          <p:cNvSpPr/>
          <p:nvPr/>
        </p:nvSpPr>
        <p:spPr>
          <a:xfrm>
            <a:off x="-100" y="-125"/>
            <a:ext cx="9144000" cy="5143500"/>
          </a:xfrm>
          <a:prstGeom prst="rec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8"/>
          <p:cNvSpPr/>
          <p:nvPr/>
        </p:nvSpPr>
        <p:spPr>
          <a:xfrm rot="-1274391">
            <a:off x="-776734" y="2388431"/>
            <a:ext cx="10697457" cy="366247"/>
          </a:xfrm>
          <a:prstGeom prst="rect">
            <a:avLst/>
          </a:prstGeom>
          <a:gradFill>
            <a:gsLst>
              <a:gs pos="0">
                <a:srgbClr val="DB4F00"/>
              </a:gs>
              <a:gs pos="100000">
                <a:srgbClr val="8D2200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8"/>
          <p:cNvSpPr txBox="1"/>
          <p:nvPr>
            <p:ph type="title"/>
          </p:nvPr>
        </p:nvSpPr>
        <p:spPr>
          <a:xfrm>
            <a:off x="822800" y="1866888"/>
            <a:ext cx="7498200" cy="1118700"/>
          </a:xfrm>
          <a:prstGeom prst="rect">
            <a:avLst/>
          </a:prstGeom>
          <a:effectLst>
            <a:outerShdw blurRad="57150" rotWithShape="0" algn="bl" dir="4320000" dist="47625">
              <a:srgbClr val="000000">
                <a:alpha val="64999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b="1"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2" name="Google Shape;182;p38"/>
          <p:cNvSpPr txBox="1"/>
          <p:nvPr>
            <p:ph idx="1" type="subTitle"/>
          </p:nvPr>
        </p:nvSpPr>
        <p:spPr>
          <a:xfrm>
            <a:off x="1869500" y="2609013"/>
            <a:ext cx="5404800" cy="8196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3" name="Google Shape;183;p38"/>
          <p:cNvSpPr txBox="1"/>
          <p:nvPr/>
        </p:nvSpPr>
        <p:spPr>
          <a:xfrm>
            <a:off x="5534300" y="4862575"/>
            <a:ext cx="36096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Copyright © Mizukara, Inc.</a:t>
            </a:r>
            <a:endParaRPr sz="700">
              <a:solidFill>
                <a:schemeClr val="lt1"/>
              </a:solidFill>
            </a:endParaRPr>
          </a:p>
        </p:txBody>
      </p:sp>
      <p:pic>
        <p:nvPicPr>
          <p:cNvPr id="184" name="Google Shape;184;p38"/>
          <p:cNvPicPr preferRelativeResize="0"/>
          <p:nvPr/>
        </p:nvPicPr>
        <p:blipFill rotWithShape="1">
          <a:blip r:embed="rId2">
            <a:alphaModFix/>
          </a:blip>
          <a:srcRect b="3174" l="0" r="0" t="3183"/>
          <a:stretch/>
        </p:blipFill>
        <p:spPr>
          <a:xfrm>
            <a:off x="8496075" y="202550"/>
            <a:ext cx="432275" cy="21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87" name="Google Shape;187;p39"/>
          <p:cNvSpPr/>
          <p:nvPr/>
        </p:nvSpPr>
        <p:spPr>
          <a:xfrm>
            <a:off x="-100" y="-125"/>
            <a:ext cx="9144000" cy="5143500"/>
          </a:xfrm>
          <a:prstGeom prst="rec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8" name="Google Shape;188;p39"/>
          <p:cNvCxnSpPr/>
          <p:nvPr/>
        </p:nvCxnSpPr>
        <p:spPr>
          <a:xfrm>
            <a:off x="154044" y="1746750"/>
            <a:ext cx="8835900" cy="0"/>
          </a:xfrm>
          <a:prstGeom prst="straightConnector1">
            <a:avLst/>
          </a:prstGeom>
          <a:noFill/>
          <a:ln cap="flat" cmpd="sng" w="38100">
            <a:solidFill>
              <a:srgbClr val="DB4F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9" name="Google Shape;189;p39"/>
          <p:cNvSpPr txBox="1"/>
          <p:nvPr>
            <p:ph type="title"/>
          </p:nvPr>
        </p:nvSpPr>
        <p:spPr>
          <a:xfrm>
            <a:off x="617725" y="506600"/>
            <a:ext cx="7806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0" name="Google Shape;190;p39"/>
          <p:cNvSpPr txBox="1"/>
          <p:nvPr>
            <p:ph idx="2" type="title"/>
          </p:nvPr>
        </p:nvSpPr>
        <p:spPr>
          <a:xfrm>
            <a:off x="617725" y="1297475"/>
            <a:ext cx="7806300" cy="3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1" name="Google Shape;191;p39"/>
          <p:cNvSpPr txBox="1"/>
          <p:nvPr>
            <p:ph idx="1" type="body"/>
          </p:nvPr>
        </p:nvSpPr>
        <p:spPr>
          <a:xfrm>
            <a:off x="579075" y="2077350"/>
            <a:ext cx="7806300" cy="25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 sz="1900"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2" name="Google Shape;192;p39"/>
          <p:cNvSpPr txBox="1"/>
          <p:nvPr/>
        </p:nvSpPr>
        <p:spPr>
          <a:xfrm>
            <a:off x="5534300" y="4862575"/>
            <a:ext cx="36096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Copyright © Mizukara, Inc.</a:t>
            </a:r>
            <a:endParaRPr sz="700">
              <a:solidFill>
                <a:schemeClr val="lt1"/>
              </a:solidFill>
            </a:endParaRPr>
          </a:p>
        </p:txBody>
      </p:sp>
      <p:pic>
        <p:nvPicPr>
          <p:cNvPr id="193" name="Google Shape;193;p39"/>
          <p:cNvPicPr preferRelativeResize="0"/>
          <p:nvPr/>
        </p:nvPicPr>
        <p:blipFill rotWithShape="1">
          <a:blip r:embed="rId2">
            <a:alphaModFix/>
          </a:blip>
          <a:srcRect b="3174" l="0" r="0" t="3183"/>
          <a:stretch/>
        </p:blipFill>
        <p:spPr>
          <a:xfrm>
            <a:off x="8496075" y="202550"/>
            <a:ext cx="432275" cy="21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454">
          <p15:clr>
            <a:srgbClr val="E46962"/>
          </p15:clr>
        </p15:guide>
        <p15:guide id="3" pos="5306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96" name="Google Shape;196;p40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97" name="Google Shape;197;p40"/>
          <p:cNvSpPr/>
          <p:nvPr/>
        </p:nvSpPr>
        <p:spPr>
          <a:xfrm>
            <a:off x="-100" y="-125"/>
            <a:ext cx="9144000" cy="5143500"/>
          </a:xfrm>
          <a:prstGeom prst="rec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8" name="Google Shape;198;p40"/>
          <p:cNvCxnSpPr/>
          <p:nvPr/>
        </p:nvCxnSpPr>
        <p:spPr>
          <a:xfrm>
            <a:off x="154044" y="1297250"/>
            <a:ext cx="8835900" cy="0"/>
          </a:xfrm>
          <a:prstGeom prst="straightConnector1">
            <a:avLst/>
          </a:prstGeom>
          <a:noFill/>
          <a:ln cap="flat" cmpd="sng" w="38100">
            <a:solidFill>
              <a:srgbClr val="DB4F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9" name="Google Shape;199;p40"/>
          <p:cNvSpPr txBox="1"/>
          <p:nvPr>
            <p:ph type="title"/>
          </p:nvPr>
        </p:nvSpPr>
        <p:spPr>
          <a:xfrm>
            <a:off x="617725" y="57100"/>
            <a:ext cx="7806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0" name="Google Shape;200;p40"/>
          <p:cNvSpPr txBox="1"/>
          <p:nvPr>
            <p:ph idx="3" type="title"/>
          </p:nvPr>
        </p:nvSpPr>
        <p:spPr>
          <a:xfrm>
            <a:off x="617725" y="847975"/>
            <a:ext cx="7806300" cy="3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1" name="Google Shape;201;p40"/>
          <p:cNvSpPr txBox="1"/>
          <p:nvPr>
            <p:ph idx="1" type="body"/>
          </p:nvPr>
        </p:nvSpPr>
        <p:spPr>
          <a:xfrm>
            <a:off x="579075" y="1627850"/>
            <a:ext cx="7806300" cy="25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 sz="1900"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2" name="Google Shape;202;p40"/>
          <p:cNvSpPr txBox="1"/>
          <p:nvPr/>
        </p:nvSpPr>
        <p:spPr>
          <a:xfrm>
            <a:off x="5534300" y="4862575"/>
            <a:ext cx="36096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Copyright © Mizukara, Inc.</a:t>
            </a:r>
            <a:endParaRPr sz="700">
              <a:solidFill>
                <a:schemeClr val="lt1"/>
              </a:solidFill>
            </a:endParaRPr>
          </a:p>
        </p:txBody>
      </p:sp>
      <p:pic>
        <p:nvPicPr>
          <p:cNvPr id="203" name="Google Shape;203;p40"/>
          <p:cNvPicPr preferRelativeResize="0"/>
          <p:nvPr/>
        </p:nvPicPr>
        <p:blipFill rotWithShape="1">
          <a:blip r:embed="rId2">
            <a:alphaModFix/>
          </a:blip>
          <a:srcRect b="3174" l="0" r="0" t="3183"/>
          <a:stretch/>
        </p:blipFill>
        <p:spPr>
          <a:xfrm>
            <a:off x="8496075" y="202550"/>
            <a:ext cx="432275" cy="21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">
  <p:cSld name="TITLE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06" name="Google Shape;206;p4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7" name="Google Shape;207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4 1">
  <p:cSld name="CUSTOM_13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42"/>
          <p:cNvPicPr preferRelativeResize="0"/>
          <p:nvPr/>
        </p:nvPicPr>
        <p:blipFill>
          <a:blip r:embed="rId2">
            <a:alphaModFix amt="79000"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2">
  <p:cSld name="TITLE_2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2" name="Google Shape;212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3" name="Google Shape;213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BC">
  <p:cSld name="TITLE_AND_BODY_1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16" name="Google Shape;216;p44"/>
          <p:cNvSpPr/>
          <p:nvPr/>
        </p:nvSpPr>
        <p:spPr>
          <a:xfrm>
            <a:off x="-100" y="-125"/>
            <a:ext cx="9144000" cy="5143500"/>
          </a:xfrm>
          <a:prstGeom prst="rec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44"/>
          <p:cNvSpPr txBox="1"/>
          <p:nvPr>
            <p:ph type="title"/>
          </p:nvPr>
        </p:nvSpPr>
        <p:spPr>
          <a:xfrm>
            <a:off x="617725" y="52550"/>
            <a:ext cx="7806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18" name="Google Shape;218;p44"/>
          <p:cNvCxnSpPr/>
          <p:nvPr/>
        </p:nvCxnSpPr>
        <p:spPr>
          <a:xfrm>
            <a:off x="154044" y="808250"/>
            <a:ext cx="8835900" cy="0"/>
          </a:xfrm>
          <a:prstGeom prst="straightConnector1">
            <a:avLst/>
          </a:prstGeom>
          <a:noFill/>
          <a:ln cap="flat" cmpd="sng" w="38100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9" name="Google Shape;219;p44"/>
          <p:cNvSpPr txBox="1"/>
          <p:nvPr/>
        </p:nvSpPr>
        <p:spPr>
          <a:xfrm>
            <a:off x="5534300" y="4862575"/>
            <a:ext cx="36096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Copyright © Mizukara, Inc.</a:t>
            </a:r>
            <a:endParaRPr sz="70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3">
  <p:cSld name="TITLE_3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22" name="Google Shape;222;p4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3" name="Google Shape;223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 1">
  <p:cSld name="TITLE_1_1">
    <p:bg>
      <p:bgPr>
        <a:gradFill>
          <a:gsLst>
            <a:gs pos="0">
              <a:srgbClr val="2E5C9B"/>
            </a:gs>
            <a:gs pos="100000">
              <a:srgbClr val="03000E"/>
            </a:gs>
          </a:gsLst>
          <a:lin ang="10800025" scaled="0"/>
        </a:gra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4">
  <p:cSld name="TITLE_10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228" name="Google Shape;228;p47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4 1">
  <p:cSld name="TITLE_10_1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8"/>
          <p:cNvSpPr/>
          <p:nvPr/>
        </p:nvSpPr>
        <p:spPr>
          <a:xfrm>
            <a:off x="-106050" y="-63650"/>
            <a:ext cx="9356100" cy="5272200"/>
          </a:xfrm>
          <a:prstGeom prst="rect">
            <a:avLst/>
          </a:prstGeom>
          <a:gradFill>
            <a:gsLst>
              <a:gs pos="0">
                <a:srgbClr val="090E27"/>
              </a:gs>
              <a:gs pos="50000">
                <a:srgbClr val="1F3656"/>
              </a:gs>
              <a:gs pos="100000">
                <a:srgbClr val="090E27"/>
              </a:gs>
            </a:gsLst>
            <a:lin ang="0" scaled="0"/>
          </a:gradFill>
          <a:ln cap="flat" cmpd="sng" w="9525">
            <a:solidFill>
              <a:srgbClr val="1F36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232" name="Google Shape;232;p48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4 1 1">
  <p:cSld name="TITLE_10_1_1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9"/>
          <p:cNvSpPr/>
          <p:nvPr/>
        </p:nvSpPr>
        <p:spPr>
          <a:xfrm>
            <a:off x="-106050" y="-63650"/>
            <a:ext cx="9356100" cy="5272200"/>
          </a:xfrm>
          <a:prstGeom prst="rect">
            <a:avLst/>
          </a:prstGeom>
          <a:gradFill>
            <a:gsLst>
              <a:gs pos="0">
                <a:srgbClr val="090E27"/>
              </a:gs>
              <a:gs pos="50000">
                <a:srgbClr val="1F3656"/>
              </a:gs>
              <a:gs pos="100000">
                <a:srgbClr val="090E27"/>
              </a:gs>
            </a:gsLst>
            <a:lin ang="0" scaled="0"/>
          </a:gradFill>
          <a:ln cap="flat" cmpd="sng" w="9525">
            <a:solidFill>
              <a:srgbClr val="1F36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3 1 1 1">
  <p:cSld name="CUSTOM_2_1_1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50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50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39" name="Google Shape;239;p50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50"/>
          <p:cNvSpPr txBox="1"/>
          <p:nvPr/>
        </p:nvSpPr>
        <p:spPr>
          <a:xfrm>
            <a:off x="526423" y="1593714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Question</a:t>
            </a:r>
            <a:endParaRPr b="1" sz="4000">
              <a:solidFill>
                <a:schemeClr val="lt1"/>
              </a:solidFill>
            </a:endParaRPr>
          </a:p>
        </p:txBody>
      </p:sp>
      <p:cxnSp>
        <p:nvCxnSpPr>
          <p:cNvPr id="241" name="Google Shape;241;p50"/>
          <p:cNvCxnSpPr/>
          <p:nvPr/>
        </p:nvCxnSpPr>
        <p:spPr>
          <a:xfrm>
            <a:off x="3227925" y="1993914"/>
            <a:ext cx="53118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 1 2">
  <p:cSld name="TITLE_1_1_2">
    <p:bg>
      <p:bgPr>
        <a:gradFill>
          <a:gsLst>
            <a:gs pos="0">
              <a:srgbClr val="8C2200"/>
            </a:gs>
            <a:gs pos="100000">
              <a:srgbClr val="D94F00"/>
            </a:gs>
          </a:gsLst>
          <a:lin ang="0" scaled="0"/>
        </a:gra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51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51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45" name="Google Shape;245;p51" title="Group 199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8263" y="1813775"/>
            <a:ext cx="6167475" cy="96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1 1">
  <p:cSld name="CUSTOM_14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52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52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49" name="Google Shape;249;p52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1 1 1">
  <p:cSld name="CUSTOM_8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53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53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53" name="Google Shape;253;p53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153920"/>
            <a:ext cx="559100" cy="298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4" name="Google Shape;254;p53"/>
          <p:cNvCxnSpPr/>
          <p:nvPr/>
        </p:nvCxnSpPr>
        <p:spPr>
          <a:xfrm>
            <a:off x="284400" y="630700"/>
            <a:ext cx="8575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2 1">
  <p:cSld name="CUSTOM_1_1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54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54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8" name="Google Shape;258;p54"/>
          <p:cNvSpPr txBox="1"/>
          <p:nvPr/>
        </p:nvSpPr>
        <p:spPr>
          <a:xfrm>
            <a:off x="1649100" y="2202300"/>
            <a:ext cx="5845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600">
                <a:solidFill>
                  <a:schemeClr val="lt1"/>
                </a:solidFill>
              </a:rPr>
              <a:t>瞑 想</a:t>
            </a:r>
            <a:endParaRPr b="1" sz="3600"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2 1 1">
  <p:cSld name="CUSTOM_1_1_1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55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55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3">
  <p:cSld name="CUSTOM_2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56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56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65" name="Google Shape;265;p56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6" name="Google Shape;266;p56"/>
          <p:cNvCxnSpPr/>
          <p:nvPr/>
        </p:nvCxnSpPr>
        <p:spPr>
          <a:xfrm>
            <a:off x="5119700" y="2186825"/>
            <a:ext cx="34200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3 1">
  <p:cSld name="CUSTOM_2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57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57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70" name="Google Shape;270;p57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57"/>
          <p:cNvSpPr txBox="1"/>
          <p:nvPr/>
        </p:nvSpPr>
        <p:spPr>
          <a:xfrm>
            <a:off x="526423" y="178662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Check in</a:t>
            </a:r>
            <a:endParaRPr b="1" sz="4000">
              <a:solidFill>
                <a:schemeClr val="lt1"/>
              </a:solidFill>
            </a:endParaRPr>
          </a:p>
        </p:txBody>
      </p:sp>
      <p:cxnSp>
        <p:nvCxnSpPr>
          <p:cNvPr id="272" name="Google Shape;272;p57"/>
          <p:cNvCxnSpPr/>
          <p:nvPr/>
        </p:nvCxnSpPr>
        <p:spPr>
          <a:xfrm>
            <a:off x="3227925" y="2186825"/>
            <a:ext cx="53118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3 1 2">
  <p:cSld name="CUSTOM_2_1_2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58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58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76" name="Google Shape;276;p58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58"/>
          <p:cNvSpPr txBox="1"/>
          <p:nvPr/>
        </p:nvSpPr>
        <p:spPr>
          <a:xfrm>
            <a:off x="526423" y="178662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Check out</a:t>
            </a:r>
            <a:endParaRPr b="1" sz="4000">
              <a:solidFill>
                <a:schemeClr val="lt1"/>
              </a:solidFill>
            </a:endParaRPr>
          </a:p>
        </p:txBody>
      </p:sp>
      <p:cxnSp>
        <p:nvCxnSpPr>
          <p:cNvPr id="278" name="Google Shape;278;p58"/>
          <p:cNvCxnSpPr/>
          <p:nvPr/>
        </p:nvCxnSpPr>
        <p:spPr>
          <a:xfrm>
            <a:off x="3227925" y="2186825"/>
            <a:ext cx="53118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3 1 1">
  <p:cSld name="CUSTOM_2_1_1_2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59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59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82" name="Google Shape;282;p59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59"/>
          <p:cNvSpPr txBox="1"/>
          <p:nvPr/>
        </p:nvSpPr>
        <p:spPr>
          <a:xfrm>
            <a:off x="526423" y="178662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Question</a:t>
            </a:r>
            <a:endParaRPr b="1" sz="4000">
              <a:solidFill>
                <a:schemeClr val="lt1"/>
              </a:solidFill>
            </a:endParaRPr>
          </a:p>
        </p:txBody>
      </p:sp>
      <p:cxnSp>
        <p:nvCxnSpPr>
          <p:cNvPr id="284" name="Google Shape;284;p59"/>
          <p:cNvCxnSpPr/>
          <p:nvPr/>
        </p:nvCxnSpPr>
        <p:spPr>
          <a:xfrm>
            <a:off x="3227925" y="2186825"/>
            <a:ext cx="53118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3 1 1 1 1">
  <p:cSld name="CUSTOM_2_1_1_1_1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60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60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88" name="Google Shape;288;p60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60"/>
          <p:cNvSpPr txBox="1"/>
          <p:nvPr/>
        </p:nvSpPr>
        <p:spPr>
          <a:xfrm>
            <a:off x="526423" y="1593714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Question</a:t>
            </a:r>
            <a:endParaRPr b="1" sz="4000">
              <a:solidFill>
                <a:schemeClr val="lt1"/>
              </a:solidFill>
            </a:endParaRPr>
          </a:p>
        </p:txBody>
      </p:sp>
      <p:cxnSp>
        <p:nvCxnSpPr>
          <p:cNvPr id="290" name="Google Shape;290;p60"/>
          <p:cNvCxnSpPr/>
          <p:nvPr/>
        </p:nvCxnSpPr>
        <p:spPr>
          <a:xfrm>
            <a:off x="3227925" y="1993914"/>
            <a:ext cx="53118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4 2">
  <p:cSld name="CUSTOM_3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61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61" title="JCC_ロゴorange.png"/>
          <p:cNvPicPr preferRelativeResize="0"/>
          <p:nvPr/>
        </p:nvPicPr>
        <p:blipFill rotWithShape="1">
          <a:blip r:embed="rId3">
            <a:alphaModFix amt="5000"/>
          </a:blip>
          <a:srcRect b="758" l="0" r="0" t="748"/>
          <a:stretch/>
        </p:blipFill>
        <p:spPr>
          <a:xfrm>
            <a:off x="-109050" y="2583962"/>
            <a:ext cx="4915450" cy="262697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61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5">
  <p:cSld name="CUSTOM_4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2"/>
          <p:cNvSpPr/>
          <p:nvPr/>
        </p:nvSpPr>
        <p:spPr>
          <a:xfrm>
            <a:off x="-109075" y="-21750"/>
            <a:ext cx="2686800" cy="51870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1F3656"/>
              </a:gs>
              <a:gs pos="100000">
                <a:srgbClr val="090E27"/>
              </a:gs>
            </a:gsLst>
            <a:lin ang="10800025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1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97" name="Google Shape;297;p62" title="JCC_ロゴorange.png"/>
          <p:cNvPicPr preferRelativeResize="0"/>
          <p:nvPr/>
        </p:nvPicPr>
        <p:blipFill rotWithShape="1">
          <a:blip r:embed="rId2">
            <a:alphaModFix amt="10000"/>
          </a:blip>
          <a:srcRect b="758" l="0" r="0" t="748"/>
          <a:stretch/>
        </p:blipFill>
        <p:spPr>
          <a:xfrm>
            <a:off x="0" y="3593304"/>
            <a:ext cx="2577699" cy="1377578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62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2 2">
  <p:cSld name="CUSTOM_6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63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1" name="Google Shape;301;p63"/>
          <p:cNvCxnSpPr/>
          <p:nvPr/>
        </p:nvCxnSpPr>
        <p:spPr>
          <a:xfrm>
            <a:off x="284400" y="1952525"/>
            <a:ext cx="8575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2" name="Google Shape;302;p63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03" name="Google Shape;303;p63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8355941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 1 1">
  <p:cSld name="TITLE_12">
    <p:bg>
      <p:bgPr>
        <a:gradFill>
          <a:gsLst>
            <a:gs pos="0">
              <a:srgbClr val="090E27"/>
            </a:gs>
            <a:gs pos="50000">
              <a:srgbClr val="1F3656"/>
            </a:gs>
            <a:gs pos="100000">
              <a:srgbClr val="090E27"/>
            </a:gs>
          </a:gsLst>
          <a:lin ang="0" scaled="0"/>
        </a:gra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64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64" title="JCC_ロゴorange.png"/>
          <p:cNvPicPr preferRelativeResize="0"/>
          <p:nvPr/>
        </p:nvPicPr>
        <p:blipFill rotWithShape="1">
          <a:blip r:embed="rId3">
            <a:alphaModFix/>
          </a:blip>
          <a:srcRect b="3891" l="0" r="0" t="3891"/>
          <a:stretch/>
        </p:blipFill>
        <p:spPr>
          <a:xfrm>
            <a:off x="228050" y="265971"/>
            <a:ext cx="561177" cy="280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7" name="Google Shape;307;p64"/>
          <p:cNvCxnSpPr/>
          <p:nvPr/>
        </p:nvCxnSpPr>
        <p:spPr>
          <a:xfrm>
            <a:off x="188844" y="662984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EEEEE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8" name="Google Shape;308;p64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9" name="Google Shape;309;p64"/>
          <p:cNvSpPr txBox="1"/>
          <p:nvPr>
            <p:ph type="title"/>
          </p:nvPr>
        </p:nvSpPr>
        <p:spPr>
          <a:xfrm>
            <a:off x="959477" y="201321"/>
            <a:ext cx="78867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Zen Kaku Gothic New"/>
              <a:buNone/>
              <a:defRPr b="1" i="0" sz="2100"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 1 1 1">
  <p:cSld name="TITLE_12_1">
    <p:bg>
      <p:bgPr>
        <a:gradFill>
          <a:gsLst>
            <a:gs pos="0">
              <a:srgbClr val="090E27"/>
            </a:gs>
            <a:gs pos="50000">
              <a:srgbClr val="1F3656"/>
            </a:gs>
            <a:gs pos="100000">
              <a:srgbClr val="090E27"/>
            </a:gs>
          </a:gsLst>
          <a:lin ang="0" scaled="0"/>
        </a:gra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65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65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6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19" name="Google Shape;319;p6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20" name="Google Shape;320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6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23" name="Google Shape;323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6" name="Google Shape;326;p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7" name="Google Shape;327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0" name="Google Shape;330;p7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1" name="Google Shape;331;p7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2" name="Google Shape;332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5" name="Google Shape;335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7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8" name="Google Shape;338;p7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9" name="Google Shape;339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2" name="Google Shape;342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7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7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6" name="Google Shape;346;p7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7" name="Google Shape;347;p7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8" name="Google Shape;348;p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7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351" name="Google Shape;351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7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54" name="Google Shape;354;p7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5" name="Google Shape;355;p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4">
  <p:cSld name="TITLE_4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7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60" name="Google Shape;360;p7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lvl="0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61" name="Google Shape;361;p78"/>
          <p:cNvSpPr txBox="1"/>
          <p:nvPr>
            <p:ph idx="12" type="sldNum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6">
  <p:cSld name="TITLE_6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7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64" name="Google Shape;364;p7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65" name="Google Shape;365;p79"/>
          <p:cNvSpPr txBox="1"/>
          <p:nvPr>
            <p:ph idx="12" type="sldNum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25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>
  <p:cSld name="タイトルとコンテンツ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80"/>
          <p:cNvSpPr txBox="1"/>
          <p:nvPr>
            <p:ph type="title"/>
          </p:nvPr>
        </p:nvSpPr>
        <p:spPr>
          <a:xfrm>
            <a:off x="310952" y="144625"/>
            <a:ext cx="78867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Century Gothic"/>
              <a:buNone/>
              <a:defRPr b="1" i="0" sz="21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80"/>
          <p:cNvSpPr txBox="1"/>
          <p:nvPr>
            <p:ph idx="1" type="body"/>
          </p:nvPr>
        </p:nvSpPr>
        <p:spPr>
          <a:xfrm>
            <a:off x="305991" y="816769"/>
            <a:ext cx="85320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500"/>
              <a:buNone/>
              <a:defRPr b="1" i="0" sz="15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b="1" i="0"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b="1" i="0"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b="1" i="0"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b="1" i="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369" name="Google Shape;369;p80"/>
          <p:cNvSpPr txBox="1"/>
          <p:nvPr>
            <p:ph idx="10" type="dt"/>
          </p:nvPr>
        </p:nvSpPr>
        <p:spPr>
          <a:xfrm>
            <a:off x="0" y="4942307"/>
            <a:ext cx="3617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0" name="Google Shape;370;p80"/>
          <p:cNvSpPr txBox="1"/>
          <p:nvPr>
            <p:ph idx="12" type="sldNum"/>
          </p:nvPr>
        </p:nvSpPr>
        <p:spPr>
          <a:xfrm>
            <a:off x="7086600" y="4942307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371" name="Google Shape;371;p80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25400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72" name="Google Shape;372;p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45208" y="246295"/>
            <a:ext cx="975856" cy="195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15">
          <p15:clr>
            <a:srgbClr val="FBAE40"/>
          </p15:clr>
        </p15:guide>
        <p15:guide id="2" pos="193">
          <p15:clr>
            <a:srgbClr val="FBAE40"/>
          </p15:clr>
        </p15:guide>
        <p15:guide id="3" pos="5567">
          <p15:clr>
            <a:srgbClr val="FBAE40"/>
          </p15:clr>
        </p15:guide>
        <p15:guide id="4" orient="horz" pos="1008">
          <p15:clr>
            <a:srgbClr val="FBAE40"/>
          </p15:clr>
        </p15:guide>
        <p15:guide id="5" orient="horz" pos="3015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">
  <p:cSld name="TITLE_7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375" name="Google Shape;375;p81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2">
  <p:cSld name="TITLE_8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378" name="Google Shape;378;p82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3">
  <p:cSld name="TITLE_9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381" name="Google Shape;381;p83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4">
  <p:cSld name="TITLE_10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384" name="Google Shape;384;p84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5">
  <p:cSld name="TITLE_11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8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387" name="Google Shape;387;p85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6">
  <p:cSld name="TITLE_12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8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390" name="Google Shape;390;p86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7">
  <p:cSld name="TITLE_13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393" name="Google Shape;393;p87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8">
  <p:cSld name="TITLE_14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8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396" name="Google Shape;396;p88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9">
  <p:cSld name="TITLE_15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8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399" name="Google Shape;399;p89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 1">
  <p:cSld name="TITLE_1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 1">
  <p:cSld name="3_タイトルとコンテンツ">
    <p:bg>
      <p:bgPr>
        <a:solidFill>
          <a:schemeClr val="lt1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91"/>
          <p:cNvSpPr txBox="1"/>
          <p:nvPr>
            <p:ph type="title"/>
          </p:nvPr>
        </p:nvSpPr>
        <p:spPr>
          <a:xfrm>
            <a:off x="310952" y="144625"/>
            <a:ext cx="78867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Century Gothic"/>
              <a:buNone/>
              <a:defRPr b="1" i="0" sz="21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404" name="Google Shape;404;p91"/>
          <p:cNvSpPr txBox="1"/>
          <p:nvPr>
            <p:ph idx="1" type="body"/>
          </p:nvPr>
        </p:nvSpPr>
        <p:spPr>
          <a:xfrm>
            <a:off x="305991" y="816769"/>
            <a:ext cx="85320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100"/>
              <a:buNone/>
              <a:defRPr b="1" i="0" sz="15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 i="0"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b="1" i="0"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b="1" i="0"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b="1" i="0"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6pPr>
            <a:lvl7pPr indent="-2984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7pPr>
            <a:lvl8pPr indent="-2984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8pPr>
            <a:lvl9pPr indent="-2984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9pPr>
          </a:lstStyle>
          <a:p/>
        </p:txBody>
      </p:sp>
      <p:sp>
        <p:nvSpPr>
          <p:cNvPr id="405" name="Google Shape;405;p91"/>
          <p:cNvSpPr txBox="1"/>
          <p:nvPr>
            <p:ph idx="10" type="dt"/>
          </p:nvPr>
        </p:nvSpPr>
        <p:spPr>
          <a:xfrm>
            <a:off x="0" y="4942307"/>
            <a:ext cx="3617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entury Gothic"/>
              <a:buNone/>
              <a:defRPr b="0" i="0" sz="7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/>
            </a:lvl9pPr>
          </a:lstStyle>
          <a:p/>
        </p:txBody>
      </p:sp>
      <p:sp>
        <p:nvSpPr>
          <p:cNvPr id="406" name="Google Shape;406;p91"/>
          <p:cNvSpPr txBox="1"/>
          <p:nvPr>
            <p:ph idx="12" type="sldNum"/>
          </p:nvPr>
        </p:nvSpPr>
        <p:spPr>
          <a:xfrm>
            <a:off x="7086600" y="4942307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indent="0" lvl="0" marL="0" algn="r">
              <a:spcBef>
                <a:spcPts val="0"/>
              </a:spcBef>
              <a:buClr>
                <a:srgbClr val="A5A5A5"/>
              </a:buClr>
              <a:buSzPts val="800"/>
              <a:buFont typeface="Century Gothic"/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spcBef>
                <a:spcPts val="0"/>
              </a:spcBef>
              <a:buClr>
                <a:srgbClr val="A5A5A5"/>
              </a:buClr>
              <a:buSzPts val="800"/>
              <a:buFont typeface="Century Gothic"/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spcBef>
                <a:spcPts val="0"/>
              </a:spcBef>
              <a:buClr>
                <a:srgbClr val="A5A5A5"/>
              </a:buClr>
              <a:buSzPts val="800"/>
              <a:buFont typeface="Century Gothic"/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spcBef>
                <a:spcPts val="0"/>
              </a:spcBef>
              <a:buClr>
                <a:srgbClr val="A5A5A5"/>
              </a:buClr>
              <a:buSzPts val="800"/>
              <a:buFont typeface="Century Gothic"/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spcBef>
                <a:spcPts val="0"/>
              </a:spcBef>
              <a:buClr>
                <a:srgbClr val="A5A5A5"/>
              </a:buClr>
              <a:buSzPts val="800"/>
              <a:buFont typeface="Century Gothic"/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spcBef>
                <a:spcPts val="0"/>
              </a:spcBef>
              <a:buClr>
                <a:srgbClr val="A5A5A5"/>
              </a:buClr>
              <a:buSzPts val="800"/>
              <a:buFont typeface="Century Gothic"/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spcBef>
                <a:spcPts val="0"/>
              </a:spcBef>
              <a:buClr>
                <a:srgbClr val="A5A5A5"/>
              </a:buClr>
              <a:buSzPts val="800"/>
              <a:buFont typeface="Century Gothic"/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spcBef>
                <a:spcPts val="0"/>
              </a:spcBef>
              <a:buClr>
                <a:srgbClr val="A5A5A5"/>
              </a:buClr>
              <a:buSzPts val="800"/>
              <a:buFont typeface="Century Gothic"/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spcBef>
                <a:spcPts val="0"/>
              </a:spcBef>
              <a:buClr>
                <a:srgbClr val="A5A5A5"/>
              </a:buClr>
              <a:buSzPts val="800"/>
              <a:buFont typeface="Century Gothic"/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407" name="Google Shape;407;p91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25400">
            <a:solidFill>
              <a:srgbClr val="EA5402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408" name="Google Shape;408;p9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02662" y="-5287"/>
            <a:ext cx="1395487" cy="698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386">
          <p15:clr>
            <a:srgbClr val="FBAE40"/>
          </p15:clr>
        </p15:guide>
        <p15:guide id="2" pos="145">
          <p15:clr>
            <a:srgbClr val="FBAE40"/>
          </p15:clr>
        </p15:guide>
        <p15:guide id="3" pos="4175">
          <p15:clr>
            <a:srgbClr val="FBAE40"/>
          </p15:clr>
        </p15:guide>
        <p15:guide id="4" orient="horz" pos="756">
          <p15:clr>
            <a:srgbClr val="FBAE40"/>
          </p15:clr>
        </p15:guide>
        <p15:guide id="5" orient="horz" pos="2261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セクション ヘッダー 1">
  <p:cSld name="SECTION_HEADER_1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9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11" name="Google Shape;411;p92"/>
          <p:cNvSpPr/>
          <p:nvPr/>
        </p:nvSpPr>
        <p:spPr>
          <a:xfrm>
            <a:off x="-100" y="-125"/>
            <a:ext cx="9144000" cy="5143500"/>
          </a:xfrm>
          <a:prstGeom prst="rec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12121"/>
              </a:solidFill>
            </a:endParaRPr>
          </a:p>
        </p:txBody>
      </p:sp>
      <p:sp>
        <p:nvSpPr>
          <p:cNvPr id="412" name="Google Shape;412;p92"/>
          <p:cNvSpPr/>
          <p:nvPr/>
        </p:nvSpPr>
        <p:spPr>
          <a:xfrm>
            <a:off x="8838010" y="0"/>
            <a:ext cx="306000" cy="5143500"/>
          </a:xfrm>
          <a:prstGeom prst="triangle">
            <a:avLst>
              <a:gd fmla="val 100000" name="adj"/>
            </a:avLst>
          </a:prstGeom>
          <a:gradFill>
            <a:gsLst>
              <a:gs pos="0">
                <a:srgbClr val="DB4F00"/>
              </a:gs>
              <a:gs pos="100000">
                <a:srgbClr val="8D2200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21171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3" name="Google Shape;413;p92"/>
          <p:cNvSpPr/>
          <p:nvPr/>
        </p:nvSpPr>
        <p:spPr>
          <a:xfrm rot="10800000">
            <a:off x="-9" y="0"/>
            <a:ext cx="306000" cy="5143500"/>
          </a:xfrm>
          <a:prstGeom prst="triangle">
            <a:avLst>
              <a:gd fmla="val 100000" name="adj"/>
            </a:avLst>
          </a:prstGeom>
          <a:gradFill>
            <a:gsLst>
              <a:gs pos="0">
                <a:srgbClr val="DB4F00"/>
              </a:gs>
              <a:gs pos="100000">
                <a:srgbClr val="8D2200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21171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14" name="Google Shape;414;p92"/>
          <p:cNvPicPr preferRelativeResize="0"/>
          <p:nvPr/>
        </p:nvPicPr>
        <p:blipFill rotWithShape="1">
          <a:blip r:embed="rId2">
            <a:alphaModFix/>
          </a:blip>
          <a:srcRect b="3174" l="0" r="0" t="3183"/>
          <a:stretch/>
        </p:blipFill>
        <p:spPr>
          <a:xfrm>
            <a:off x="8496075" y="202550"/>
            <a:ext cx="432275" cy="2163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92"/>
          <p:cNvSpPr txBox="1"/>
          <p:nvPr/>
        </p:nvSpPr>
        <p:spPr>
          <a:xfrm>
            <a:off x="5534300" y="4862575"/>
            <a:ext cx="36096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Copyright © Mizukara, Inc.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416" name="Google Shape;416;p92"/>
          <p:cNvSpPr txBox="1"/>
          <p:nvPr>
            <p:ph type="title"/>
          </p:nvPr>
        </p:nvSpPr>
        <p:spPr>
          <a:xfrm>
            <a:off x="0" y="17216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  <a:defRPr b="1" sz="7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417" name="Google Shape;417;p92"/>
          <p:cNvSpPr txBox="1"/>
          <p:nvPr>
            <p:ph idx="1" type="subTitle"/>
          </p:nvPr>
        </p:nvSpPr>
        <p:spPr>
          <a:xfrm>
            <a:off x="-100" y="26955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9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24" name="Google Shape;424;p9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25" name="Google Shape;425;p9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9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28" name="Google Shape;428;p9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9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1" name="Google Shape;431;p9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2" name="Google Shape;432;p9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9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5" name="Google Shape;435;p9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6" name="Google Shape;436;p9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7" name="Google Shape;437;p9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9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9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43" name="Google Shape;443;p9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4" name="Google Shape;444;p9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0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47" name="Google Shape;447;p10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0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0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1" name="Google Shape;451;p10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2" name="Google Shape;452;p10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3" name="Google Shape;453;p10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0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6" name="Google Shape;456;p10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0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9" name="Google Shape;459;p10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0" name="Google Shape;460;p10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0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 1 2">
  <p:cSld name="TITLE_1_1_2">
    <p:bg>
      <p:bgPr>
        <a:gradFill>
          <a:gsLst>
            <a:gs pos="0">
              <a:srgbClr val="8C2200"/>
            </a:gs>
            <a:gs pos="100000">
              <a:srgbClr val="D94F00"/>
            </a:gs>
          </a:gsLst>
          <a:lin ang="0" scaled="0"/>
        </a:gra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105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105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カスタム レイアウト 2 1 1">
  <p:cSld name="CUSTOM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p106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8" name="Google Shape;468;p106"/>
          <p:cNvCxnSpPr/>
          <p:nvPr/>
        </p:nvCxnSpPr>
        <p:spPr>
          <a:xfrm>
            <a:off x="3499625" y="2003650"/>
            <a:ext cx="54582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9" name="Google Shape;469;p106" title="JCC_ロゴorange.png"/>
          <p:cNvPicPr preferRelativeResize="0"/>
          <p:nvPr/>
        </p:nvPicPr>
        <p:blipFill rotWithShape="1">
          <a:blip r:embed="rId3">
            <a:alphaModFix/>
          </a:blip>
          <a:srcRect b="758" l="0" r="0" t="748"/>
          <a:stretch/>
        </p:blipFill>
        <p:spPr>
          <a:xfrm>
            <a:off x="228050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106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のみ 1">
  <p:cSld name="TITLE_ONLY_1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0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73" name="Google Shape;473;p107"/>
          <p:cNvSpPr/>
          <p:nvPr/>
        </p:nvSpPr>
        <p:spPr>
          <a:xfrm>
            <a:off x="-100" y="-125"/>
            <a:ext cx="9144000" cy="5143500"/>
          </a:xfrm>
          <a:prstGeom prst="rec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4" name="Google Shape;474;p107"/>
          <p:cNvCxnSpPr/>
          <p:nvPr/>
        </p:nvCxnSpPr>
        <p:spPr>
          <a:xfrm>
            <a:off x="154044" y="1746750"/>
            <a:ext cx="8835900" cy="0"/>
          </a:xfrm>
          <a:prstGeom prst="straightConnector1">
            <a:avLst/>
          </a:prstGeom>
          <a:noFill/>
          <a:ln cap="flat" cmpd="sng" w="38100">
            <a:solidFill>
              <a:srgbClr val="DB4F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5" name="Google Shape;475;p107"/>
          <p:cNvSpPr txBox="1"/>
          <p:nvPr>
            <p:ph type="title"/>
          </p:nvPr>
        </p:nvSpPr>
        <p:spPr>
          <a:xfrm>
            <a:off x="617725" y="506600"/>
            <a:ext cx="7806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6" name="Google Shape;476;p107"/>
          <p:cNvSpPr txBox="1"/>
          <p:nvPr>
            <p:ph idx="2" type="title"/>
          </p:nvPr>
        </p:nvSpPr>
        <p:spPr>
          <a:xfrm>
            <a:off x="617725" y="1297475"/>
            <a:ext cx="7806300" cy="3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7" name="Google Shape;477;p107"/>
          <p:cNvSpPr txBox="1"/>
          <p:nvPr>
            <p:ph idx="1" type="body"/>
          </p:nvPr>
        </p:nvSpPr>
        <p:spPr>
          <a:xfrm>
            <a:off x="579075" y="2077350"/>
            <a:ext cx="7806300" cy="25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 sz="1900"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8" name="Google Shape;478;p107"/>
          <p:cNvSpPr txBox="1"/>
          <p:nvPr/>
        </p:nvSpPr>
        <p:spPr>
          <a:xfrm>
            <a:off x="5534300" y="4862575"/>
            <a:ext cx="36096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Copyright © Mizukara, Inc.</a:t>
            </a:r>
            <a:endParaRPr sz="700">
              <a:solidFill>
                <a:schemeClr val="lt1"/>
              </a:solidFill>
            </a:endParaRPr>
          </a:p>
        </p:txBody>
      </p:sp>
      <p:pic>
        <p:nvPicPr>
          <p:cNvPr id="479" name="Google Shape;479;p107"/>
          <p:cNvPicPr preferRelativeResize="0"/>
          <p:nvPr/>
        </p:nvPicPr>
        <p:blipFill rotWithShape="1">
          <a:blip r:embed="rId2">
            <a:alphaModFix/>
          </a:blip>
          <a:srcRect b="3174" l="0" r="0" t="3183"/>
          <a:stretch/>
        </p:blipFill>
        <p:spPr>
          <a:xfrm>
            <a:off x="8496075" y="202550"/>
            <a:ext cx="432275" cy="21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454">
          <p15:clr>
            <a:srgbClr val="E46962"/>
          </p15:clr>
        </p15:guide>
        <p15:guide id="3" pos="5306">
          <p15:clr>
            <a:srgbClr val="E46962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 2">
  <p:cSld name="TITLE_12">
    <p:bg>
      <p:bgPr>
        <a:gradFill>
          <a:gsLst>
            <a:gs pos="0">
              <a:srgbClr val="090E27"/>
            </a:gs>
            <a:gs pos="50000">
              <a:srgbClr val="1F3656"/>
            </a:gs>
            <a:gs pos="100000">
              <a:srgbClr val="090E27"/>
            </a:gs>
          </a:gsLst>
          <a:lin ang="0" scaled="0"/>
        </a:gra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" name="Google Shape;481;p108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108" title="JCC_ロゴorange.png"/>
          <p:cNvPicPr preferRelativeResize="0"/>
          <p:nvPr/>
        </p:nvPicPr>
        <p:blipFill rotWithShape="1">
          <a:blip r:embed="rId3">
            <a:alphaModFix/>
          </a:blip>
          <a:srcRect b="3891" l="0" r="0" t="3891"/>
          <a:stretch/>
        </p:blipFill>
        <p:spPr>
          <a:xfrm>
            <a:off x="228050" y="265971"/>
            <a:ext cx="561177" cy="280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3" name="Google Shape;483;p108"/>
          <p:cNvCxnSpPr/>
          <p:nvPr/>
        </p:nvCxnSpPr>
        <p:spPr>
          <a:xfrm>
            <a:off x="188844" y="662984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EEEEE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4" name="Google Shape;484;p108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5" name="Google Shape;485;p108"/>
          <p:cNvSpPr txBox="1"/>
          <p:nvPr>
            <p:ph type="title"/>
          </p:nvPr>
        </p:nvSpPr>
        <p:spPr>
          <a:xfrm>
            <a:off x="959477" y="201321"/>
            <a:ext cx="78867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Zen Kaku Gothic New"/>
              <a:buNone/>
              <a:defRPr b="1" i="0" sz="2100"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タイトル スライド">
  <p:cSld name="3_タイトル スライド">
    <p:bg>
      <p:bgPr>
        <a:solidFill>
          <a:schemeClr val="lt1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09"/>
          <p:cNvSpPr txBox="1"/>
          <p:nvPr>
            <p:ph idx="12" type="sldNum"/>
          </p:nvPr>
        </p:nvSpPr>
        <p:spPr>
          <a:xfrm>
            <a:off x="7086600" y="4942307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88" name="Google Shape;488;p109"/>
          <p:cNvSpPr txBox="1"/>
          <p:nvPr/>
        </p:nvSpPr>
        <p:spPr>
          <a:xfrm>
            <a:off x="0" y="4852000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89" name="Google Shape;489;p109" title="JCC_ロゴorange.png"/>
          <p:cNvPicPr preferRelativeResize="0"/>
          <p:nvPr/>
        </p:nvPicPr>
        <p:blipFill rotWithShape="1">
          <a:blip r:embed="rId2">
            <a:alphaModFix amt="10000"/>
          </a:blip>
          <a:srcRect b="758" l="0" r="0" t="748"/>
          <a:stretch/>
        </p:blipFill>
        <p:spPr>
          <a:xfrm>
            <a:off x="0" y="3593304"/>
            <a:ext cx="2577699" cy="1377578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109"/>
          <p:cNvSpPr/>
          <p:nvPr/>
        </p:nvSpPr>
        <p:spPr>
          <a:xfrm>
            <a:off x="0" y="-125"/>
            <a:ext cx="2577600" cy="51435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1F3656"/>
              </a:gs>
              <a:gs pos="100000">
                <a:srgbClr val="090E27"/>
              </a:gs>
            </a:gsLst>
            <a:lin ang="10800025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1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91" name="Google Shape;491;p109" title="JCC_ロゴorange.png"/>
          <p:cNvPicPr preferRelativeResize="0"/>
          <p:nvPr/>
        </p:nvPicPr>
        <p:blipFill rotWithShape="1">
          <a:blip r:embed="rId2">
            <a:alphaModFix amt="10000"/>
          </a:blip>
          <a:srcRect b="758" l="0" r="0" t="748"/>
          <a:stretch/>
        </p:blipFill>
        <p:spPr>
          <a:xfrm>
            <a:off x="0" y="3593304"/>
            <a:ext cx="2577699" cy="1377578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109"/>
          <p:cNvSpPr txBox="1"/>
          <p:nvPr/>
        </p:nvSpPr>
        <p:spPr>
          <a:xfrm>
            <a:off x="0" y="4930125"/>
            <a:ext cx="84393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015">
          <p15:clr>
            <a:srgbClr val="FBAE40"/>
          </p15:clr>
        </p15:guide>
        <p15:guide id="2" pos="5567">
          <p15:clr>
            <a:srgbClr val="FBAE40"/>
          </p15:clr>
        </p15:guide>
        <p15:guide id="3" pos="1877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 1 1">
  <p:cSld name="TITLE_1_1_1">
    <p:bg>
      <p:bgPr>
        <a:gradFill>
          <a:gsLst>
            <a:gs pos="0">
              <a:srgbClr val="8C2200"/>
            </a:gs>
            <a:gs pos="100000">
              <a:srgbClr val="D94F00"/>
            </a:gs>
          </a:gsLst>
          <a:lin ang="0" scaled="0"/>
        </a:gra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494;p110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1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pic>
        <p:nvPicPr>
          <p:cNvPr id="496" name="Google Shape;496;p110" title="JCC_ロゴorange.png"/>
          <p:cNvPicPr preferRelativeResize="0"/>
          <p:nvPr/>
        </p:nvPicPr>
        <p:blipFill rotWithShape="1">
          <a:blip r:embed="rId3">
            <a:alphaModFix amt="5000"/>
          </a:blip>
          <a:srcRect b="758" l="0" r="0" t="748"/>
          <a:stretch/>
        </p:blipFill>
        <p:spPr>
          <a:xfrm>
            <a:off x="-109050" y="2583962"/>
            <a:ext cx="4915450" cy="2626975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110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4 1 1">
  <p:cSld name="TITLE_10_1_1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11"/>
          <p:cNvSpPr/>
          <p:nvPr/>
        </p:nvSpPr>
        <p:spPr>
          <a:xfrm>
            <a:off x="-106050" y="-63650"/>
            <a:ext cx="9356100" cy="5272200"/>
          </a:xfrm>
          <a:prstGeom prst="rect">
            <a:avLst/>
          </a:prstGeom>
          <a:gradFill>
            <a:gsLst>
              <a:gs pos="0">
                <a:srgbClr val="090E27"/>
              </a:gs>
              <a:gs pos="50000">
                <a:srgbClr val="1F3656"/>
              </a:gs>
              <a:gs pos="100000">
                <a:srgbClr val="090E27"/>
              </a:gs>
            </a:gsLst>
            <a:lin ang="0" scaled="0"/>
          </a:gradFill>
          <a:ln cap="flat" cmpd="sng" w="9525">
            <a:solidFill>
              <a:srgbClr val="1F36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4 1">
  <p:cSld name="TITLE_10_1_2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2" name="Google Shape;502;p112"/>
          <p:cNvCxnSpPr/>
          <p:nvPr/>
        </p:nvCxnSpPr>
        <p:spPr>
          <a:xfrm>
            <a:off x="188844" y="662984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1F365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03" name="Google Shape;503;p112" title="JCC_ロゴorange.png"/>
          <p:cNvPicPr preferRelativeResize="0"/>
          <p:nvPr/>
        </p:nvPicPr>
        <p:blipFill rotWithShape="1">
          <a:blip r:embed="rId2">
            <a:alphaModFix/>
          </a:blip>
          <a:srcRect b="758" l="0" r="0" t="748"/>
          <a:stretch/>
        </p:blipFill>
        <p:spPr>
          <a:xfrm>
            <a:off x="228050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112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5" name="Google Shape;505;p112"/>
          <p:cNvSpPr txBox="1"/>
          <p:nvPr>
            <p:ph type="title"/>
          </p:nvPr>
        </p:nvSpPr>
        <p:spPr>
          <a:xfrm>
            <a:off x="959477" y="201321"/>
            <a:ext cx="78867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Zen Kaku Gothic New"/>
              <a:buNone/>
              <a:defRPr b="1" i="0" sz="2100">
                <a:solidFill>
                  <a:srgbClr val="262626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 1 1 1">
  <p:cSld name="TITLE_12_1">
    <p:bg>
      <p:bgPr>
        <a:gradFill>
          <a:gsLst>
            <a:gs pos="0">
              <a:srgbClr val="090E27"/>
            </a:gs>
            <a:gs pos="50000">
              <a:srgbClr val="1F3656"/>
            </a:gs>
            <a:gs pos="100000">
              <a:srgbClr val="090E27"/>
            </a:gs>
          </a:gsLst>
          <a:lin ang="0" scaled="0"/>
        </a:gra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113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113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4 2">
  <p:cSld name="TITLE_10_3"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0" name="Google Shape;510;p114"/>
          <p:cNvCxnSpPr/>
          <p:nvPr/>
        </p:nvCxnSpPr>
        <p:spPr>
          <a:xfrm>
            <a:off x="188844" y="662984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1F365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11" name="Google Shape;511;p114" title="JCC_ロゴorange.png"/>
          <p:cNvPicPr preferRelativeResize="0"/>
          <p:nvPr/>
        </p:nvPicPr>
        <p:blipFill rotWithShape="1">
          <a:blip r:embed="rId2">
            <a:alphaModFix/>
          </a:blip>
          <a:srcRect b="758" l="0" r="0" t="748"/>
          <a:stretch/>
        </p:blipFill>
        <p:spPr>
          <a:xfrm>
            <a:off x="228050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114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3" name="Google Shape;513;p114"/>
          <p:cNvSpPr txBox="1"/>
          <p:nvPr>
            <p:ph type="title"/>
          </p:nvPr>
        </p:nvSpPr>
        <p:spPr>
          <a:xfrm>
            <a:off x="959477" y="201321"/>
            <a:ext cx="78867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Zen Kaku Gothic New"/>
              <a:buNone/>
              <a:defRPr b="1" i="0" sz="2100">
                <a:solidFill>
                  <a:srgbClr val="262626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3">
  <p:cSld name="TITLE_13">
    <p:bg>
      <p:bgPr>
        <a:gradFill>
          <a:gsLst>
            <a:gs pos="0">
              <a:srgbClr val="090E27"/>
            </a:gs>
            <a:gs pos="50000">
              <a:srgbClr val="1F3656"/>
            </a:gs>
            <a:gs pos="100000">
              <a:srgbClr val="090E27"/>
            </a:gs>
          </a:gsLst>
          <a:lin ang="0" scaled="0"/>
        </a:gra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" name="Google Shape;515;p115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115" title="JCC_ロゴorange.png"/>
          <p:cNvPicPr preferRelativeResize="0"/>
          <p:nvPr/>
        </p:nvPicPr>
        <p:blipFill rotWithShape="1">
          <a:blip r:embed="rId3">
            <a:alphaModFix/>
          </a:blip>
          <a:srcRect b="3891" l="0" r="0" t="3891"/>
          <a:stretch/>
        </p:blipFill>
        <p:spPr>
          <a:xfrm>
            <a:off x="228050" y="265971"/>
            <a:ext cx="561177" cy="280800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115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8" name="Google Shape;518;p115"/>
          <p:cNvSpPr txBox="1"/>
          <p:nvPr>
            <p:ph type="title"/>
          </p:nvPr>
        </p:nvSpPr>
        <p:spPr>
          <a:xfrm>
            <a:off x="959477" y="201321"/>
            <a:ext cx="78867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Zen Kaku Gothic New"/>
              <a:buNone/>
              <a:defRPr b="1" i="0" sz="2100"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4 2">
  <p:cSld name="TITLE_4_2">
    <p:bg>
      <p:bgPr>
        <a:solidFill>
          <a:srgbClr val="0A102A"/>
        </a:solid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16"/>
          <p:cNvSpPr txBox="1"/>
          <p:nvPr>
            <p:ph idx="1" type="subTitle"/>
          </p:nvPr>
        </p:nvSpPr>
        <p:spPr>
          <a:xfrm>
            <a:off x="1389600" y="2181675"/>
            <a:ext cx="6364800" cy="10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列（タイトルあり） 1">
  <p:cSld name="TITLE_AND_TWO_COLUMNS_1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523" name="Google Shape;523;p117"/>
          <p:cNvSpPr/>
          <p:nvPr/>
        </p:nvSpPr>
        <p:spPr>
          <a:xfrm>
            <a:off x="-100" y="-125"/>
            <a:ext cx="9144000" cy="5143500"/>
          </a:xfrm>
          <a:prstGeom prst="rec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17"/>
          <p:cNvSpPr/>
          <p:nvPr/>
        </p:nvSpPr>
        <p:spPr>
          <a:xfrm rot="-1274391">
            <a:off x="-776734" y="2388431"/>
            <a:ext cx="10697457" cy="366247"/>
          </a:xfrm>
          <a:prstGeom prst="rect">
            <a:avLst/>
          </a:prstGeom>
          <a:gradFill>
            <a:gsLst>
              <a:gs pos="0">
                <a:srgbClr val="DB4F00"/>
              </a:gs>
              <a:gs pos="100000">
                <a:srgbClr val="8D2200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17"/>
          <p:cNvSpPr txBox="1"/>
          <p:nvPr>
            <p:ph type="title"/>
          </p:nvPr>
        </p:nvSpPr>
        <p:spPr>
          <a:xfrm>
            <a:off x="822800" y="1866888"/>
            <a:ext cx="7498200" cy="1118700"/>
          </a:xfrm>
          <a:prstGeom prst="rect">
            <a:avLst/>
          </a:prstGeom>
          <a:effectLst>
            <a:outerShdw blurRad="57150" rotWithShape="0" algn="bl" dir="4320000" dist="47625">
              <a:srgbClr val="000000">
                <a:alpha val="64999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b="1"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6" name="Google Shape;526;p117"/>
          <p:cNvSpPr txBox="1"/>
          <p:nvPr>
            <p:ph idx="1" type="subTitle"/>
          </p:nvPr>
        </p:nvSpPr>
        <p:spPr>
          <a:xfrm>
            <a:off x="1869500" y="2609013"/>
            <a:ext cx="5404800" cy="8196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7" name="Google Shape;527;p117"/>
          <p:cNvSpPr txBox="1"/>
          <p:nvPr/>
        </p:nvSpPr>
        <p:spPr>
          <a:xfrm>
            <a:off x="5534300" y="4862575"/>
            <a:ext cx="36096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Copyright © Mizukara, Inc.</a:t>
            </a:r>
            <a:endParaRPr sz="700">
              <a:solidFill>
                <a:schemeClr val="lt1"/>
              </a:solidFill>
            </a:endParaRPr>
          </a:p>
        </p:txBody>
      </p:sp>
      <p:pic>
        <p:nvPicPr>
          <p:cNvPr id="528" name="Google Shape;528;p117"/>
          <p:cNvPicPr preferRelativeResize="0"/>
          <p:nvPr/>
        </p:nvPicPr>
        <p:blipFill rotWithShape="1">
          <a:blip r:embed="rId2">
            <a:alphaModFix/>
          </a:blip>
          <a:srcRect b="3174" l="0" r="0" t="3183"/>
          <a:stretch/>
        </p:blipFill>
        <p:spPr>
          <a:xfrm>
            <a:off x="8496075" y="202550"/>
            <a:ext cx="432275" cy="21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セクション ヘッダー 1">
  <p:cSld name="SECTION_HEADER_1"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531" name="Google Shape;531;p118"/>
          <p:cNvSpPr/>
          <p:nvPr/>
        </p:nvSpPr>
        <p:spPr>
          <a:xfrm>
            <a:off x="-100" y="-125"/>
            <a:ext cx="9144000" cy="5143500"/>
          </a:xfrm>
          <a:prstGeom prst="rec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12121"/>
              </a:solidFill>
            </a:endParaRPr>
          </a:p>
        </p:txBody>
      </p:sp>
      <p:sp>
        <p:nvSpPr>
          <p:cNvPr id="532" name="Google Shape;532;p118"/>
          <p:cNvSpPr/>
          <p:nvPr/>
        </p:nvSpPr>
        <p:spPr>
          <a:xfrm>
            <a:off x="8838010" y="0"/>
            <a:ext cx="306000" cy="5143500"/>
          </a:xfrm>
          <a:prstGeom prst="triangle">
            <a:avLst>
              <a:gd fmla="val 100000" name="adj"/>
            </a:avLst>
          </a:prstGeom>
          <a:gradFill>
            <a:gsLst>
              <a:gs pos="0">
                <a:srgbClr val="DB4F00"/>
              </a:gs>
              <a:gs pos="100000">
                <a:srgbClr val="8D2200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21171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33" name="Google Shape;533;p118"/>
          <p:cNvSpPr/>
          <p:nvPr/>
        </p:nvSpPr>
        <p:spPr>
          <a:xfrm rot="10800000">
            <a:off x="-9" y="0"/>
            <a:ext cx="306000" cy="5143500"/>
          </a:xfrm>
          <a:prstGeom prst="triangle">
            <a:avLst>
              <a:gd fmla="val 100000" name="adj"/>
            </a:avLst>
          </a:prstGeom>
          <a:gradFill>
            <a:gsLst>
              <a:gs pos="0">
                <a:srgbClr val="DB4F00"/>
              </a:gs>
              <a:gs pos="100000">
                <a:srgbClr val="8D2200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21171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34" name="Google Shape;534;p118"/>
          <p:cNvPicPr preferRelativeResize="0"/>
          <p:nvPr/>
        </p:nvPicPr>
        <p:blipFill rotWithShape="1">
          <a:blip r:embed="rId2">
            <a:alphaModFix/>
          </a:blip>
          <a:srcRect b="3174" l="0" r="0" t="3183"/>
          <a:stretch/>
        </p:blipFill>
        <p:spPr>
          <a:xfrm>
            <a:off x="8496075" y="202550"/>
            <a:ext cx="432275" cy="216300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118"/>
          <p:cNvSpPr txBox="1"/>
          <p:nvPr/>
        </p:nvSpPr>
        <p:spPr>
          <a:xfrm>
            <a:off x="5534300" y="4862575"/>
            <a:ext cx="36096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Copyright © Mizukara, Inc.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536" name="Google Shape;536;p118"/>
          <p:cNvSpPr txBox="1"/>
          <p:nvPr>
            <p:ph type="title"/>
          </p:nvPr>
        </p:nvSpPr>
        <p:spPr>
          <a:xfrm>
            <a:off x="0" y="17216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  <a:defRPr b="1" sz="7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537" name="Google Shape;537;p118"/>
          <p:cNvSpPr txBox="1"/>
          <p:nvPr>
            <p:ph idx="1" type="subTitle"/>
          </p:nvPr>
        </p:nvSpPr>
        <p:spPr>
          <a:xfrm>
            <a:off x="-100" y="26955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4 2 1">
  <p:cSld name="TITLE_4_2_1">
    <p:bg>
      <p:bgPr>
        <a:solidFill>
          <a:srgbClr val="0A102A"/>
        </a:soli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19"/>
          <p:cNvSpPr txBox="1"/>
          <p:nvPr>
            <p:ph idx="1" type="subTitle"/>
          </p:nvPr>
        </p:nvSpPr>
        <p:spPr>
          <a:xfrm>
            <a:off x="1389600" y="2181675"/>
            <a:ext cx="6364800" cy="10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Inter"/>
              <a:buNone/>
              <a:defRPr b="1" sz="4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4">
  <p:cSld name="TITLE_10_2"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1" name="Google Shape;541;p120"/>
          <p:cNvCxnSpPr/>
          <p:nvPr/>
        </p:nvCxnSpPr>
        <p:spPr>
          <a:xfrm>
            <a:off x="188844" y="662984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1F365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42" name="Google Shape;542;p120" title="JCC_ロゴorange.png"/>
          <p:cNvPicPr preferRelativeResize="0"/>
          <p:nvPr/>
        </p:nvPicPr>
        <p:blipFill rotWithShape="1">
          <a:blip r:embed="rId2">
            <a:alphaModFix/>
          </a:blip>
          <a:srcRect b="758" l="0" r="0" t="748"/>
          <a:stretch/>
        </p:blipFill>
        <p:spPr>
          <a:xfrm>
            <a:off x="228050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120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44" name="Google Shape;544;p120"/>
          <p:cNvSpPr txBox="1"/>
          <p:nvPr>
            <p:ph type="title"/>
          </p:nvPr>
        </p:nvSpPr>
        <p:spPr>
          <a:xfrm>
            <a:off x="959477" y="201321"/>
            <a:ext cx="78867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Zen Kaku Gothic New"/>
              <a:buNone/>
              <a:defRPr b="1" i="0" sz="2100">
                <a:solidFill>
                  <a:srgbClr val="262626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4 1 2">
  <p:cSld name="TITLE_10_1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6" name="Google Shape;546;p121"/>
          <p:cNvCxnSpPr/>
          <p:nvPr/>
        </p:nvCxnSpPr>
        <p:spPr>
          <a:xfrm>
            <a:off x="188844" y="662984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1F365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47" name="Google Shape;547;p121" title="JCC_ロゴorange.png"/>
          <p:cNvPicPr preferRelativeResize="0"/>
          <p:nvPr/>
        </p:nvPicPr>
        <p:blipFill rotWithShape="1">
          <a:blip r:embed="rId2">
            <a:alphaModFix/>
          </a:blip>
          <a:srcRect b="758" l="0" r="0" t="748"/>
          <a:stretch/>
        </p:blipFill>
        <p:spPr>
          <a:xfrm>
            <a:off x="228050" y="251120"/>
            <a:ext cx="559100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121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49" name="Google Shape;549;p121"/>
          <p:cNvSpPr txBox="1"/>
          <p:nvPr>
            <p:ph type="title"/>
          </p:nvPr>
        </p:nvSpPr>
        <p:spPr>
          <a:xfrm>
            <a:off x="959477" y="201321"/>
            <a:ext cx="78867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Zen Kaku Gothic New"/>
              <a:buNone/>
              <a:defRPr b="1" i="0" sz="2100">
                <a:solidFill>
                  <a:srgbClr val="262626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Zen Kaku Gothic New"/>
              <a:buNone/>
              <a:defRPr>
                <a:latin typeface="Zen Kaku Gothic New"/>
                <a:ea typeface="Zen Kaku Gothic New"/>
                <a:cs typeface="Zen Kaku Gothic New"/>
                <a:sym typeface="Zen Kaku Gothic New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2 1">
  <p:cSld name="TITLE_11_1">
    <p:bg>
      <p:bgPr>
        <a:gradFill>
          <a:gsLst>
            <a:gs pos="0">
              <a:srgbClr val="1F3656"/>
            </a:gs>
            <a:gs pos="100000">
              <a:srgbClr val="090E27"/>
            </a:gs>
          </a:gsLst>
          <a:lin ang="5400012" scaled="0"/>
        </a:gra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1" name="Google Shape;551;p122" title="本講座の特徴のコピー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9050" y="-61325"/>
            <a:ext cx="9362102" cy="5266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2" name="Google Shape;552;p122"/>
          <p:cNvCxnSpPr/>
          <p:nvPr/>
        </p:nvCxnSpPr>
        <p:spPr>
          <a:xfrm>
            <a:off x="188844" y="662984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EEEEE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3" name="Google Shape;553;p122"/>
          <p:cNvSpPr txBox="1"/>
          <p:nvPr/>
        </p:nvSpPr>
        <p:spPr>
          <a:xfrm>
            <a:off x="0" y="4930125"/>
            <a:ext cx="91440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9E9E9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Mizukara, Inc.</a:t>
            </a:r>
            <a:endParaRPr sz="700">
              <a:solidFill>
                <a:srgbClr val="9E9E9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4" name="Google Shape;554;p122"/>
          <p:cNvSpPr txBox="1"/>
          <p:nvPr>
            <p:ph type="title"/>
          </p:nvPr>
        </p:nvSpPr>
        <p:spPr>
          <a:xfrm>
            <a:off x="188852" y="201321"/>
            <a:ext cx="78867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Zen Kaku Gothic New"/>
              <a:buNone/>
              <a:defRPr b="1" i="0" sz="2100"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Zen Kaku Gothic New"/>
              <a:buNone/>
              <a:defRPr>
                <a:solidFill>
                  <a:schemeClr val="lt1"/>
                </a:solidFill>
                <a:latin typeface="Zen Kaku Gothic New"/>
                <a:ea typeface="Zen Kaku Gothic New"/>
                <a:cs typeface="Zen Kaku Gothic New"/>
                <a:sym typeface="Zen Kaku Gothic New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1400" scaled="0"/>
        </a:gradFill>
      </p:bgPr>
    </p:bg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1" name="Google Shape;561;p1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62" name="Google Shape;562;p1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1400" scaled="0"/>
        </a:gra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1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565" name="Google Shape;565;p125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8" name="Google Shape;568;p1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9" name="Google Shape;569;p1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2" name="Google Shape;572;p12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73" name="Google Shape;573;p12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74" name="Google Shape;574;p1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7" name="Google Shape;577;p1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12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0" name="Google Shape;580;p12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1" name="Google Shape;581;p1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13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84" name="Google Shape;584;p1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3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3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88" name="Google Shape;588;p13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9" name="Google Shape;589;p13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0" name="Google Shape;590;p1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13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3" name="Google Shape;593;p1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3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96" name="Google Shape;596;p13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7" name="Google Shape;597;p1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>
  <p:cSld name="タイトルとコンテンツ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135"/>
          <p:cNvSpPr txBox="1"/>
          <p:nvPr>
            <p:ph type="title"/>
          </p:nvPr>
        </p:nvSpPr>
        <p:spPr>
          <a:xfrm>
            <a:off x="310952" y="144625"/>
            <a:ext cx="78867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Century Gothic"/>
              <a:buNone/>
              <a:defRPr b="1" i="0" sz="21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2" name="Google Shape;602;p135"/>
          <p:cNvSpPr txBox="1"/>
          <p:nvPr>
            <p:ph idx="1" type="body"/>
          </p:nvPr>
        </p:nvSpPr>
        <p:spPr>
          <a:xfrm>
            <a:off x="305991" y="816769"/>
            <a:ext cx="85320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500"/>
              <a:buNone/>
              <a:defRPr b="1" i="0" sz="15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b="1" i="0"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b="1" i="0"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b="1" i="0"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b="1" i="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603" name="Google Shape;603;p135"/>
          <p:cNvSpPr txBox="1"/>
          <p:nvPr>
            <p:ph idx="10" type="dt"/>
          </p:nvPr>
        </p:nvSpPr>
        <p:spPr>
          <a:xfrm>
            <a:off x="0" y="4942307"/>
            <a:ext cx="3617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4" name="Google Shape;604;p135"/>
          <p:cNvSpPr txBox="1"/>
          <p:nvPr>
            <p:ph idx="12" type="sldNum"/>
          </p:nvPr>
        </p:nvSpPr>
        <p:spPr>
          <a:xfrm>
            <a:off x="7086600" y="4942307"/>
            <a:ext cx="2057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605" name="Google Shape;605;p135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25400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606" name="Google Shape;606;p1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45208" y="246295"/>
            <a:ext cx="975856" cy="195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15">
          <p15:clr>
            <a:srgbClr val="FBAE40"/>
          </p15:clr>
        </p15:guide>
        <p15:guide id="2" pos="193">
          <p15:clr>
            <a:srgbClr val="FBAE40"/>
          </p15:clr>
        </p15:guide>
        <p15:guide id="3" pos="5567">
          <p15:clr>
            <a:srgbClr val="FBAE40"/>
          </p15:clr>
        </p15:guide>
        <p15:guide id="4" orient="horz" pos="1008">
          <p15:clr>
            <a:srgbClr val="FBAE40"/>
          </p15:clr>
        </p15:guide>
        <p15:guide id="5" orient="horz" pos="3015">
          <p15:clr>
            <a:srgbClr val="FBAE4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4">
  <p:cSld name="TITLE_4"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13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09" name="Google Shape;609;p13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lvl="0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10" name="Google Shape;610;p136"/>
          <p:cNvSpPr txBox="1"/>
          <p:nvPr>
            <p:ph idx="12" type="sldNum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">
  <p:cSld name="TITLE_1">
    <p:bg>
      <p:bgPr>
        <a:gradFill>
          <a:gsLst>
            <a:gs pos="0">
              <a:srgbClr val="2E5C9B"/>
            </a:gs>
            <a:gs pos="100000">
              <a:srgbClr val="03000E"/>
            </a:gs>
          </a:gsLst>
          <a:lin ang="10800025" scaled="0"/>
        </a:gradFill>
      </p:bgPr>
    </p:bg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1 1">
  <p:cSld name="TITLE_7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615" name="Google Shape;615;p138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 4">
  <p:cSld name="TITLE_10">
    <p:bg>
      <p:bgPr>
        <a:gradFill>
          <a:gsLst>
            <a:gs pos="0">
              <a:srgbClr val="375C8F"/>
            </a:gs>
            <a:gs pos="100000">
              <a:srgbClr val="090E27"/>
            </a:gs>
          </a:gsLst>
          <a:lin ang="10800025" scaled="0"/>
        </a:gra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1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618" name="Google Shape;618;p139"/>
          <p:cNvCxnSpPr/>
          <p:nvPr/>
        </p:nvCxnSpPr>
        <p:spPr>
          <a:xfrm>
            <a:off x="188844" y="606287"/>
            <a:ext cx="88359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本文のみ 1">
  <p:cSld name="SECTION_HEADER_1_1_1_1"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621" name="Google Shape;621;p14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40"/>
          <p:cNvSpPr txBox="1"/>
          <p:nvPr/>
        </p:nvSpPr>
        <p:spPr>
          <a:xfrm>
            <a:off x="0" y="4835700"/>
            <a:ext cx="5463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800">
                <a:solidFill>
                  <a:schemeClr val="lt1"/>
                </a:solidFill>
              </a:rPr>
              <a:t>© MIZUKARA Co., Ltd.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623" name="Google Shape;623;p1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51951" y="-608099"/>
            <a:ext cx="1745398" cy="1861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140"/>
          <p:cNvSpPr txBox="1"/>
          <p:nvPr/>
        </p:nvSpPr>
        <p:spPr>
          <a:xfrm>
            <a:off x="1271850" y="2233200"/>
            <a:ext cx="6600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5" name="Google Shape;625;p140"/>
          <p:cNvSpPr txBox="1"/>
          <p:nvPr>
            <p:ph idx="1" type="body"/>
          </p:nvPr>
        </p:nvSpPr>
        <p:spPr>
          <a:xfrm>
            <a:off x="1151100" y="1001213"/>
            <a:ext cx="6841800" cy="340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47.xml"/><Relationship Id="rId20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49.xml"/><Relationship Id="rId22" Type="http://schemas.openxmlformats.org/officeDocument/2006/relationships/slideLayout" Target="../slideLayouts/slideLayout50.xml"/><Relationship Id="rId23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52.xml"/><Relationship Id="rId25" Type="http://schemas.openxmlformats.org/officeDocument/2006/relationships/slideLayout" Target="../slideLayouts/slideLayout53.xml"/><Relationship Id="rId26" Type="http://schemas.openxmlformats.org/officeDocument/2006/relationships/slideLayout" Target="../slideLayouts/slideLayout54.xml"/><Relationship Id="rId27" Type="http://schemas.openxmlformats.org/officeDocument/2006/relationships/slideLayout" Target="../slideLayouts/slideLayout55.xml"/><Relationship Id="rId28" Type="http://schemas.openxmlformats.org/officeDocument/2006/relationships/slideLayout" Target="../slideLayouts/slideLayout56.xml"/><Relationship Id="rId29" Type="http://schemas.openxmlformats.org/officeDocument/2006/relationships/slideLayout" Target="../slideLayouts/slideLayout57.xml"/><Relationship Id="rId30" Type="http://schemas.openxmlformats.org/officeDocument/2006/relationships/slideLayout" Target="../slideLayouts/slideLayout58.xml"/><Relationship Id="rId31" Type="http://schemas.openxmlformats.org/officeDocument/2006/relationships/slideLayout" Target="../slideLayouts/slideLayout59.xml"/><Relationship Id="rId32" Type="http://schemas.openxmlformats.org/officeDocument/2006/relationships/slideLayout" Target="../slideLayouts/slideLayout60.xml"/><Relationship Id="rId33" Type="http://schemas.openxmlformats.org/officeDocument/2006/relationships/slideLayout" Target="../slideLayouts/slideLayout61.xml"/><Relationship Id="rId34" Type="http://schemas.openxmlformats.org/officeDocument/2006/relationships/slideLayout" Target="../slideLayouts/slideLayout62.xml"/><Relationship Id="rId35" Type="http://schemas.openxmlformats.org/officeDocument/2006/relationships/slideLayout" Target="../slideLayouts/slideLayout63.xml"/><Relationship Id="rId36" Type="http://schemas.openxmlformats.org/officeDocument/2006/relationships/theme" Target="../theme/theme5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8.xml"/><Relationship Id="rId6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0.xml"/><Relationship Id="rId8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4.xml"/><Relationship Id="rId12" Type="http://schemas.openxmlformats.org/officeDocument/2006/relationships/slideLayout" Target="../slideLayouts/slideLayout75.xml"/><Relationship Id="rId13" Type="http://schemas.openxmlformats.org/officeDocument/2006/relationships/slideLayout" Target="../slideLayouts/slideLayout76.xml"/><Relationship Id="rId14" Type="http://schemas.openxmlformats.org/officeDocument/2006/relationships/slideLayout" Target="../slideLayouts/slideLayout77.xml"/><Relationship Id="rId15" Type="http://schemas.openxmlformats.org/officeDocument/2006/relationships/slideLayout" Target="../slideLayouts/slideLayout78.xml"/><Relationship Id="rId16" Type="http://schemas.openxmlformats.org/officeDocument/2006/relationships/slideLayout" Target="../slideLayouts/slideLayout79.xml"/><Relationship Id="rId17" Type="http://schemas.openxmlformats.org/officeDocument/2006/relationships/slideLayout" Target="../slideLayouts/slideLayout80.xml"/><Relationship Id="rId18" Type="http://schemas.openxmlformats.org/officeDocument/2006/relationships/slideLayout" Target="../slideLayouts/slideLayout81.xml"/><Relationship Id="rId19" Type="http://schemas.openxmlformats.org/officeDocument/2006/relationships/slideLayout" Target="../slideLayouts/slideLayout82.xml"/><Relationship Id="rId20" Type="http://schemas.openxmlformats.org/officeDocument/2006/relationships/slideLayout" Target="../slideLayouts/slideLayout83.xml"/><Relationship Id="rId21" Type="http://schemas.openxmlformats.org/officeDocument/2006/relationships/slideLayout" Target="../slideLayouts/slideLayout84.xml"/><Relationship Id="rId22" Type="http://schemas.openxmlformats.org/officeDocument/2006/relationships/slideLayout" Target="../slideLayouts/slideLayout85.xml"/><Relationship Id="rId23" Type="http://schemas.openxmlformats.org/officeDocument/2006/relationships/slideLayout" Target="../slideLayouts/slideLayout86.xml"/><Relationship Id="rId24" Type="http://schemas.openxmlformats.org/officeDocument/2006/relationships/slideLayout" Target="../slideLayouts/slideLayout87.xml"/><Relationship Id="rId25" Type="http://schemas.openxmlformats.org/officeDocument/2006/relationships/slideLayout" Target="../slideLayouts/slideLayout88.xml"/><Relationship Id="rId26" Type="http://schemas.openxmlformats.org/officeDocument/2006/relationships/slideLayout" Target="../slideLayouts/slideLayout89.xml"/><Relationship Id="rId27" Type="http://schemas.openxmlformats.org/officeDocument/2006/relationships/theme" Target="../theme/theme2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0.xml"/><Relationship Id="rId2" Type="http://schemas.openxmlformats.org/officeDocument/2006/relationships/slideLayout" Target="../slideLayouts/slideLayout91.xml"/><Relationship Id="rId3" Type="http://schemas.openxmlformats.org/officeDocument/2006/relationships/slideLayout" Target="../slideLayouts/slideLayout92.xml"/><Relationship Id="rId4" Type="http://schemas.openxmlformats.org/officeDocument/2006/relationships/slideLayout" Target="../slideLayouts/slideLayout93.xml"/><Relationship Id="rId5" Type="http://schemas.openxmlformats.org/officeDocument/2006/relationships/slideLayout" Target="../slideLayouts/slideLayout94.xml"/><Relationship Id="rId6" Type="http://schemas.openxmlformats.org/officeDocument/2006/relationships/slideLayout" Target="../slideLayouts/slideLayout95.xml"/><Relationship Id="rId7" Type="http://schemas.openxmlformats.org/officeDocument/2006/relationships/slideLayout" Target="../slideLayouts/slideLayout96.xml"/><Relationship Id="rId8" Type="http://schemas.openxmlformats.org/officeDocument/2006/relationships/slideLayout" Target="../slideLayouts/slideLayout97.xml"/><Relationship Id="rId9" Type="http://schemas.openxmlformats.org/officeDocument/2006/relationships/slideLayout" Target="../slideLayouts/slideLayout98.xml"/><Relationship Id="rId10" Type="http://schemas.openxmlformats.org/officeDocument/2006/relationships/slideLayout" Target="../slideLayouts/slideLayout99.xml"/><Relationship Id="rId11" Type="http://schemas.openxmlformats.org/officeDocument/2006/relationships/slideLayout" Target="../slideLayouts/slideLayout100.xml"/><Relationship Id="rId12" Type="http://schemas.openxmlformats.org/officeDocument/2006/relationships/slideLayout" Target="../slideLayouts/slideLayout101.xml"/><Relationship Id="rId13" Type="http://schemas.openxmlformats.org/officeDocument/2006/relationships/slideLayout" Target="../slideLayouts/slideLayout102.xml"/><Relationship Id="rId14" Type="http://schemas.openxmlformats.org/officeDocument/2006/relationships/slideLayout" Target="../slideLayouts/slideLayout103.xml"/><Relationship Id="rId15" Type="http://schemas.openxmlformats.org/officeDocument/2006/relationships/slideLayout" Target="../slideLayouts/slideLayout104.xml"/><Relationship Id="rId16" Type="http://schemas.openxmlformats.org/officeDocument/2006/relationships/slideLayout" Target="../slideLayouts/slideLayout105.xml"/><Relationship Id="rId17" Type="http://schemas.openxmlformats.org/officeDocument/2006/relationships/slideLayout" Target="../slideLayouts/slideLayout106.xml"/><Relationship Id="rId18" Type="http://schemas.openxmlformats.org/officeDocument/2006/relationships/slideLayout" Target="../slideLayouts/slideLayout107.xml"/><Relationship Id="rId19" Type="http://schemas.openxmlformats.org/officeDocument/2006/relationships/slideLayout" Target="../slideLayouts/slideLayout108.xml"/><Relationship Id="rId20" Type="http://schemas.openxmlformats.org/officeDocument/2006/relationships/slideLayout" Target="../slideLayouts/slideLayout109.xml"/><Relationship Id="rId21" Type="http://schemas.openxmlformats.org/officeDocument/2006/relationships/slideLayout" Target="../slideLayouts/slideLayout110.xml"/><Relationship Id="rId22" Type="http://schemas.openxmlformats.org/officeDocument/2006/relationships/slideLayout" Target="../slideLayouts/slideLayout111.xml"/><Relationship Id="rId23" Type="http://schemas.openxmlformats.org/officeDocument/2006/relationships/slideLayout" Target="../slideLayouts/slideLayout112.xml"/><Relationship Id="rId24" Type="http://schemas.openxmlformats.org/officeDocument/2006/relationships/slideLayout" Target="../slideLayouts/slideLayout113.xml"/><Relationship Id="rId25" Type="http://schemas.openxmlformats.org/officeDocument/2006/relationships/slideLayout" Target="../slideLayouts/slideLayout114.xml"/><Relationship Id="rId26" Type="http://schemas.openxmlformats.org/officeDocument/2006/relationships/slideLayout" Target="../slideLayouts/slideLayout115.xml"/><Relationship Id="rId27" Type="http://schemas.openxmlformats.org/officeDocument/2006/relationships/slideLayout" Target="../slideLayouts/slideLayout116.xml"/><Relationship Id="rId28" Type="http://schemas.openxmlformats.org/officeDocument/2006/relationships/slideLayout" Target="../slideLayouts/slideLayout117.xml"/><Relationship Id="rId29" Type="http://schemas.openxmlformats.org/officeDocument/2006/relationships/slideLayout" Target="../slideLayouts/slideLayout118.xml"/><Relationship Id="rId30" Type="http://schemas.openxmlformats.org/officeDocument/2006/relationships/theme" Target="../theme/theme6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9.xml"/><Relationship Id="rId2" Type="http://schemas.openxmlformats.org/officeDocument/2006/relationships/slideLayout" Target="../slideLayouts/slideLayout120.xml"/><Relationship Id="rId3" Type="http://schemas.openxmlformats.org/officeDocument/2006/relationships/slideLayout" Target="../slideLayouts/slideLayout121.xml"/><Relationship Id="rId4" Type="http://schemas.openxmlformats.org/officeDocument/2006/relationships/slideLayout" Target="../slideLayouts/slideLayout122.xml"/><Relationship Id="rId5" Type="http://schemas.openxmlformats.org/officeDocument/2006/relationships/slideLayout" Target="../slideLayouts/slideLayout123.xml"/><Relationship Id="rId6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5.xml"/><Relationship Id="rId8" Type="http://schemas.openxmlformats.org/officeDocument/2006/relationships/slideLayout" Target="../slideLayouts/slideLayout126.xml"/><Relationship Id="rId9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128.xml"/><Relationship Id="rId11" Type="http://schemas.openxmlformats.org/officeDocument/2006/relationships/slideLayout" Target="../slideLayouts/slideLayout129.xml"/><Relationship Id="rId12" Type="http://schemas.openxmlformats.org/officeDocument/2006/relationships/slideLayout" Target="../slideLayouts/slideLayout130.xml"/><Relationship Id="rId13" Type="http://schemas.openxmlformats.org/officeDocument/2006/relationships/slideLayout" Target="../slideLayouts/slideLayout131.xml"/><Relationship Id="rId14" Type="http://schemas.openxmlformats.org/officeDocument/2006/relationships/slideLayout" Target="../slideLayouts/slideLayout132.xml"/><Relationship Id="rId15" Type="http://schemas.openxmlformats.org/officeDocument/2006/relationships/slideLayout" Target="../slideLayouts/slideLayout133.xml"/><Relationship Id="rId16" Type="http://schemas.openxmlformats.org/officeDocument/2006/relationships/slideLayout" Target="../slideLayouts/slideLayout134.xml"/><Relationship Id="rId17" Type="http://schemas.openxmlformats.org/officeDocument/2006/relationships/slideLayout" Target="../slideLayouts/slideLayout135.xml"/><Relationship Id="rId18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8" name="Google Shape;138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9" name="Google Shape;13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  <p:sldLayoutId id="2147483696" r:id="rId21"/>
    <p:sldLayoutId id="2147483697" r:id="rId22"/>
    <p:sldLayoutId id="2147483698" r:id="rId23"/>
    <p:sldLayoutId id="2147483699" r:id="rId24"/>
    <p:sldLayoutId id="2147483700" r:id="rId25"/>
    <p:sldLayoutId id="2147483701" r:id="rId26"/>
    <p:sldLayoutId id="2147483702" r:id="rId27"/>
    <p:sldLayoutId id="2147483703" r:id="rId28"/>
    <p:sldLayoutId id="2147483704" r:id="rId29"/>
    <p:sldLayoutId id="2147483705" r:id="rId30"/>
    <p:sldLayoutId id="2147483706" r:id="rId31"/>
    <p:sldLayoutId id="2147483707" r:id="rId32"/>
    <p:sldLayoutId id="2147483708" r:id="rId33"/>
    <p:sldLayoutId id="2147483709" r:id="rId34"/>
    <p:sldLayoutId id="2147483710" r:id="rId3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5" name="Google Shape;315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16" name="Google Shape;316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  <p:sldLayoutId id="2147483728" r:id="rId18"/>
    <p:sldLayoutId id="2147483729" r:id="rId19"/>
    <p:sldLayoutId id="2147483730" r:id="rId20"/>
    <p:sldLayoutId id="2147483731" r:id="rId21"/>
    <p:sldLayoutId id="2147483732" r:id="rId22"/>
    <p:sldLayoutId id="2147483733" r:id="rId23"/>
    <p:sldLayoutId id="2147483734" r:id="rId24"/>
    <p:sldLayoutId id="2147483735" r:id="rId25"/>
    <p:sldLayoutId id="2147483736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9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0" name="Google Shape;420;p9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1" name="Google Shape;421;p9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  <p:sldLayoutId id="2147483751" r:id="rId15"/>
    <p:sldLayoutId id="2147483752" r:id="rId16"/>
    <p:sldLayoutId id="2147483753" r:id="rId17"/>
    <p:sldLayoutId id="2147483754" r:id="rId18"/>
    <p:sldLayoutId id="2147483755" r:id="rId19"/>
    <p:sldLayoutId id="2147483756" r:id="rId20"/>
    <p:sldLayoutId id="2147483757" r:id="rId21"/>
    <p:sldLayoutId id="2147483758" r:id="rId22"/>
    <p:sldLayoutId id="2147483759" r:id="rId23"/>
    <p:sldLayoutId id="2147483760" r:id="rId24"/>
    <p:sldLayoutId id="2147483761" r:id="rId25"/>
    <p:sldLayoutId id="2147483762" r:id="rId26"/>
    <p:sldLayoutId id="2147483763" r:id="rId27"/>
    <p:sldLayoutId id="2147483764" r:id="rId28"/>
    <p:sldLayoutId id="2147483765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7" name="Google Shape;557;p1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58" name="Google Shape;558;p1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  <p:sldLayoutId id="2147483778" r:id="rId13"/>
    <p:sldLayoutId id="2147483779" r:id="rId14"/>
    <p:sldLayoutId id="2147483780" r:id="rId15"/>
    <p:sldLayoutId id="2147483781" r:id="rId16"/>
    <p:sldLayoutId id="2147483782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0.png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image" Target="../media/image3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image" Target="../media/image3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0.xml"/><Relationship Id="rId2" Type="http://schemas.openxmlformats.org/officeDocument/2006/relationships/image" Target="../media/image3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0.xml"/><Relationship Id="rId2" Type="http://schemas.openxmlformats.org/officeDocument/2006/relationships/image" Target="../media/image3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0.xml"/><Relationship Id="rId2" Type="http://schemas.openxmlformats.org/officeDocument/2006/relationships/image" Target="../media/image3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0.xml"/><Relationship Id="rId2" Type="http://schemas.openxmlformats.org/officeDocument/2006/relationships/image" Target="../media/image3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image" Target="../media/image3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image" Target="../media/image3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8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1.png"/><Relationship Id="rId4" Type="http://schemas.openxmlformats.org/officeDocument/2006/relationships/image" Target="../media/image34.png"/><Relationship Id="rId5" Type="http://schemas.openxmlformats.org/officeDocument/2006/relationships/image" Target="../media/image40.png"/><Relationship Id="rId6" Type="http://schemas.openxmlformats.org/officeDocument/2006/relationships/image" Target="../media/image37.png"/><Relationship Id="rId7" Type="http://schemas.openxmlformats.org/officeDocument/2006/relationships/image" Target="../media/image35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1.png"/><Relationship Id="rId4" Type="http://schemas.openxmlformats.org/officeDocument/2006/relationships/image" Target="../media/image34.png"/><Relationship Id="rId5" Type="http://schemas.openxmlformats.org/officeDocument/2006/relationships/image" Target="../media/image40.png"/><Relationship Id="rId6" Type="http://schemas.openxmlformats.org/officeDocument/2006/relationships/image" Target="../media/image37.png"/><Relationship Id="rId7" Type="http://schemas.openxmlformats.org/officeDocument/2006/relationships/image" Target="../media/image35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1.png"/><Relationship Id="rId4" Type="http://schemas.openxmlformats.org/officeDocument/2006/relationships/image" Target="../media/image34.png"/><Relationship Id="rId5" Type="http://schemas.openxmlformats.org/officeDocument/2006/relationships/image" Target="../media/image37.png"/><Relationship Id="rId6" Type="http://schemas.openxmlformats.org/officeDocument/2006/relationships/image" Target="../media/image35.png"/><Relationship Id="rId7" Type="http://schemas.openxmlformats.org/officeDocument/2006/relationships/image" Target="../media/image4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1.png"/><Relationship Id="rId4" Type="http://schemas.openxmlformats.org/officeDocument/2006/relationships/image" Target="../media/image40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31.png"/><Relationship Id="rId4" Type="http://schemas.openxmlformats.org/officeDocument/2006/relationships/image" Target="../media/image40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3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3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3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3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3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3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3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3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9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3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0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3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0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3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0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3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0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3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0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0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0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3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3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3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3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3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141"/>
          <p:cNvSpPr txBox="1"/>
          <p:nvPr/>
        </p:nvSpPr>
        <p:spPr>
          <a:xfrm>
            <a:off x="3024150" y="2999750"/>
            <a:ext cx="3095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-"/>
            </a:pPr>
            <a:r>
              <a:rPr b="1" lang="ja" sz="2500">
                <a:solidFill>
                  <a:schemeClr val="lt1"/>
                </a:solidFill>
              </a:rPr>
              <a:t>DAY 1 -</a:t>
            </a:r>
            <a:endParaRPr b="1"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141"/>
          <p:cNvSpPr txBox="1"/>
          <p:nvPr/>
        </p:nvSpPr>
        <p:spPr>
          <a:xfrm>
            <a:off x="3024150" y="2999750"/>
            <a:ext cx="3095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-"/>
            </a:pPr>
            <a:r>
              <a:rPr b="1" lang="ja" sz="2500">
                <a:solidFill>
                  <a:schemeClr val="lt1"/>
                </a:solidFill>
              </a:rPr>
              <a:t>DAY 1 -</a:t>
            </a:r>
            <a:endParaRPr b="1"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43"/>
          <p:cNvSpPr txBox="1"/>
          <p:nvPr/>
        </p:nvSpPr>
        <p:spPr>
          <a:xfrm>
            <a:off x="644550" y="1910200"/>
            <a:ext cx="7854900" cy="820800"/>
          </a:xfrm>
          <a:prstGeom prst="rect">
            <a:avLst/>
          </a:prstGeom>
          <a:noFill/>
          <a:ln>
            <a:noFill/>
          </a:ln>
          <a:effectLst>
            <a:outerShdw blurRad="314325" rotWithShape="0" algn="bl" dir="5220000" dist="19050">
              <a:srgbClr val="000000">
                <a:alpha val="64999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ja" sz="4800">
                <a:solidFill>
                  <a:srgbClr val="FFFFFF"/>
                </a:solidFill>
              </a:rPr>
              <a:t>Leader Message</a:t>
            </a:r>
            <a:endParaRPr b="1" sz="4800">
              <a:solidFill>
                <a:srgbClr val="FFFFFF"/>
              </a:solidFill>
            </a:endParaRPr>
          </a:p>
        </p:txBody>
      </p:sp>
      <p:sp>
        <p:nvSpPr>
          <p:cNvPr id="640" name="Google Shape;640;p143"/>
          <p:cNvSpPr txBox="1"/>
          <p:nvPr/>
        </p:nvSpPr>
        <p:spPr>
          <a:xfrm>
            <a:off x="644550" y="2549338"/>
            <a:ext cx="7854900" cy="461700"/>
          </a:xfrm>
          <a:prstGeom prst="rect">
            <a:avLst/>
          </a:prstGeom>
          <a:noFill/>
          <a:ln>
            <a:noFill/>
          </a:ln>
          <a:effectLst>
            <a:outerShdw blurRad="171450" rotWithShape="0" algn="bl" dir="5400000" dist="19050">
              <a:srgbClr val="000000">
                <a:alpha val="67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FFFF"/>
                </a:solidFill>
              </a:rPr>
              <a:t>リーダーメッセージ</a:t>
            </a:r>
            <a:endParaRPr b="1"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43"/>
          <p:cNvSpPr txBox="1"/>
          <p:nvPr/>
        </p:nvSpPr>
        <p:spPr>
          <a:xfrm>
            <a:off x="644550" y="1910200"/>
            <a:ext cx="7854900" cy="820800"/>
          </a:xfrm>
          <a:prstGeom prst="rect">
            <a:avLst/>
          </a:prstGeom>
          <a:noFill/>
          <a:ln>
            <a:noFill/>
          </a:ln>
          <a:effectLst>
            <a:outerShdw blurRad="314325" rotWithShape="0" algn="bl" dir="5220000" dist="19050">
              <a:srgbClr val="000000">
                <a:alpha val="64999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ja" sz="4800">
                <a:solidFill>
                  <a:srgbClr val="FFFFFF"/>
                </a:solidFill>
              </a:rPr>
              <a:t>Leader Message</a:t>
            </a:r>
            <a:endParaRPr b="1" sz="4800">
              <a:solidFill>
                <a:srgbClr val="FFFFFF"/>
              </a:solidFill>
            </a:endParaRPr>
          </a:p>
        </p:txBody>
      </p:sp>
      <p:sp>
        <p:nvSpPr>
          <p:cNvPr id="640" name="Google Shape;640;p143"/>
          <p:cNvSpPr txBox="1"/>
          <p:nvPr/>
        </p:nvSpPr>
        <p:spPr>
          <a:xfrm>
            <a:off x="644550" y="2549338"/>
            <a:ext cx="7854900" cy="461700"/>
          </a:xfrm>
          <a:prstGeom prst="rect">
            <a:avLst/>
          </a:prstGeom>
          <a:noFill/>
          <a:ln>
            <a:noFill/>
          </a:ln>
          <a:effectLst>
            <a:outerShdw blurRad="171450" rotWithShape="0" algn="bl" dir="5400000" dist="19050">
              <a:srgbClr val="000000">
                <a:alpha val="67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FFFF"/>
                </a:solidFill>
              </a:rPr>
              <a:t>リーダーメッセージ</a:t>
            </a:r>
            <a:endParaRPr b="1"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45"/>
          <p:cNvSpPr txBox="1"/>
          <p:nvPr/>
        </p:nvSpPr>
        <p:spPr>
          <a:xfrm>
            <a:off x="257498" y="46342"/>
            <a:ext cx="584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chemeClr val="lt1"/>
                </a:solidFill>
              </a:rPr>
              <a:t>重要な観点</a:t>
            </a:r>
            <a:endParaRPr b="1" sz="2400">
              <a:solidFill>
                <a:schemeClr val="lt1"/>
              </a:solidFill>
            </a:endParaRPr>
          </a:p>
        </p:txBody>
      </p:sp>
      <p:sp>
        <p:nvSpPr>
          <p:cNvPr id="651" name="Google Shape;651;p145"/>
          <p:cNvSpPr/>
          <p:nvPr/>
        </p:nvSpPr>
        <p:spPr>
          <a:xfrm>
            <a:off x="1507500" y="1773950"/>
            <a:ext cx="2835900" cy="2544900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アウェアネス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652" name="Google Shape;652;p145"/>
          <p:cNvSpPr/>
          <p:nvPr/>
        </p:nvSpPr>
        <p:spPr>
          <a:xfrm>
            <a:off x="4800600" y="1773950"/>
            <a:ext cx="2835900" cy="2544900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ja" sz="2000">
                <a:solidFill>
                  <a:srgbClr val="FFFFFF"/>
                </a:solidFill>
              </a:rPr>
              <a:t>思考パターン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45"/>
          <p:cNvSpPr txBox="1"/>
          <p:nvPr/>
        </p:nvSpPr>
        <p:spPr>
          <a:xfrm>
            <a:off x="257498" y="46342"/>
            <a:ext cx="584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chemeClr val="lt1"/>
                </a:solidFill>
              </a:rPr>
              <a:t>重要な観点</a:t>
            </a:r>
            <a:endParaRPr b="1" sz="2400">
              <a:solidFill>
                <a:schemeClr val="lt1"/>
              </a:solidFill>
            </a:endParaRPr>
          </a:p>
        </p:txBody>
      </p:sp>
      <p:sp>
        <p:nvSpPr>
          <p:cNvPr id="651" name="Google Shape;651;p145"/>
          <p:cNvSpPr/>
          <p:nvPr/>
        </p:nvSpPr>
        <p:spPr>
          <a:xfrm>
            <a:off x="1507500" y="1773950"/>
            <a:ext cx="2835900" cy="2544900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アウェアネス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652" name="Google Shape;652;p145"/>
          <p:cNvSpPr/>
          <p:nvPr/>
        </p:nvSpPr>
        <p:spPr>
          <a:xfrm>
            <a:off x="4800600" y="1773950"/>
            <a:ext cx="2835900" cy="2544900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ja" sz="2000">
                <a:solidFill>
                  <a:srgbClr val="FFFFFF"/>
                </a:solidFill>
              </a:rPr>
              <a:t>思考パターン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146"/>
          <p:cNvSpPr txBox="1"/>
          <p:nvPr/>
        </p:nvSpPr>
        <p:spPr>
          <a:xfrm>
            <a:off x="257498" y="46342"/>
            <a:ext cx="584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1F3656"/>
                </a:solidFill>
              </a:rPr>
              <a:t>Memo</a:t>
            </a:r>
            <a:endParaRPr b="1" sz="2400">
              <a:solidFill>
                <a:srgbClr val="1F3656"/>
              </a:solidFill>
            </a:endParaRPr>
          </a:p>
        </p:txBody>
      </p:sp>
      <p:sp>
        <p:nvSpPr>
          <p:cNvPr id="658" name="Google Shape;658;p146"/>
          <p:cNvSpPr txBox="1"/>
          <p:nvPr/>
        </p:nvSpPr>
        <p:spPr>
          <a:xfrm>
            <a:off x="257501" y="1384950"/>
            <a:ext cx="86847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「Ripple Effect」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あなたの気づきは誰かにとっての偉大な気づきとなる。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あなたの挑戦は誰かにとっての偉大な挑戦のきっかけとなる。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あなたの人生はあなただけの人生ではない。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146"/>
          <p:cNvSpPr txBox="1"/>
          <p:nvPr/>
        </p:nvSpPr>
        <p:spPr>
          <a:xfrm>
            <a:off x="257498" y="46342"/>
            <a:ext cx="584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1F3656"/>
                </a:solidFill>
              </a:rPr>
              <a:t>Memo</a:t>
            </a:r>
            <a:endParaRPr b="1" sz="2400">
              <a:solidFill>
                <a:srgbClr val="1F3656"/>
              </a:solidFill>
            </a:endParaRPr>
          </a:p>
        </p:txBody>
      </p:sp>
      <p:sp>
        <p:nvSpPr>
          <p:cNvPr id="658" name="Google Shape;658;p146"/>
          <p:cNvSpPr txBox="1"/>
          <p:nvPr/>
        </p:nvSpPr>
        <p:spPr>
          <a:xfrm>
            <a:off x="257501" y="1384950"/>
            <a:ext cx="86847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「Ripple Effect」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あなたの気づきは誰かにとっての偉大な気づきとなる。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あなたの挑戦は誰かにとっての偉大な挑戦のきっかけとなる。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あなたの人生はあなただけの人生ではない。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47"/>
          <p:cNvSpPr txBox="1"/>
          <p:nvPr/>
        </p:nvSpPr>
        <p:spPr>
          <a:xfrm>
            <a:off x="257498" y="46342"/>
            <a:ext cx="584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chemeClr val="lt1"/>
                </a:solidFill>
              </a:rPr>
              <a:t>思考に使う論理の3つの類型</a:t>
            </a:r>
            <a:endParaRPr b="1" sz="2400">
              <a:solidFill>
                <a:schemeClr val="lt1"/>
              </a:solidFill>
            </a:endParaRPr>
          </a:p>
        </p:txBody>
      </p:sp>
      <p:sp>
        <p:nvSpPr>
          <p:cNvPr id="664" name="Google Shape;664;p147"/>
          <p:cNvSpPr txBox="1"/>
          <p:nvPr/>
        </p:nvSpPr>
        <p:spPr>
          <a:xfrm>
            <a:off x="493875" y="148357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具体と抽象を言い換える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65" name="Google Shape;665;p147"/>
          <p:cNvSpPr txBox="1"/>
          <p:nvPr/>
        </p:nvSpPr>
        <p:spPr>
          <a:xfrm>
            <a:off x="765225" y="1778350"/>
            <a:ext cx="1407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FCBC05"/>
                </a:solidFill>
              </a:rPr>
              <a:t>言い換え</a:t>
            </a:r>
            <a:endParaRPr b="1" sz="2400">
              <a:solidFill>
                <a:srgbClr val="FCBC05"/>
              </a:solidFill>
            </a:endParaRPr>
          </a:p>
        </p:txBody>
      </p:sp>
      <p:sp>
        <p:nvSpPr>
          <p:cNvPr id="666" name="Google Shape;666;p147"/>
          <p:cNvSpPr txBox="1"/>
          <p:nvPr/>
        </p:nvSpPr>
        <p:spPr>
          <a:xfrm>
            <a:off x="3642500" y="148357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部分と全体を構造化する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67" name="Google Shape;667;p147"/>
          <p:cNvSpPr txBox="1"/>
          <p:nvPr/>
        </p:nvSpPr>
        <p:spPr>
          <a:xfrm>
            <a:off x="3968750" y="1778350"/>
            <a:ext cx="1300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FCBC05"/>
                </a:solidFill>
              </a:rPr>
              <a:t>構造化</a:t>
            </a:r>
            <a:endParaRPr b="1" sz="2400">
              <a:solidFill>
                <a:srgbClr val="FCBC05"/>
              </a:solidFill>
            </a:endParaRPr>
          </a:p>
        </p:txBody>
      </p:sp>
      <p:sp>
        <p:nvSpPr>
          <p:cNvPr id="668" name="Google Shape;668;p147"/>
          <p:cNvSpPr txBox="1"/>
          <p:nvPr/>
        </p:nvSpPr>
        <p:spPr>
          <a:xfrm>
            <a:off x="6680825" y="148357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原因と結果を関係づける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69" name="Google Shape;669;p147"/>
          <p:cNvSpPr txBox="1"/>
          <p:nvPr/>
        </p:nvSpPr>
        <p:spPr>
          <a:xfrm>
            <a:off x="6952175" y="1778350"/>
            <a:ext cx="1407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FCBC05"/>
                </a:solidFill>
              </a:rPr>
              <a:t>因果関係</a:t>
            </a:r>
            <a:endParaRPr b="1" sz="2400">
              <a:solidFill>
                <a:srgbClr val="FCBC05"/>
              </a:solidFill>
            </a:endParaRPr>
          </a:p>
        </p:txBody>
      </p:sp>
      <p:sp>
        <p:nvSpPr>
          <p:cNvPr id="670" name="Google Shape;670;p147"/>
          <p:cNvSpPr/>
          <p:nvPr/>
        </p:nvSpPr>
        <p:spPr>
          <a:xfrm>
            <a:off x="430925" y="2686293"/>
            <a:ext cx="2025000" cy="1751400"/>
          </a:xfrm>
          <a:prstGeom prst="triangle">
            <a:avLst>
              <a:gd fmla="val 50000" name="adj"/>
            </a:avLst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71" name="Google Shape;671;p147"/>
          <p:cNvCxnSpPr/>
          <p:nvPr/>
        </p:nvCxnSpPr>
        <p:spPr>
          <a:xfrm>
            <a:off x="928925" y="3694650"/>
            <a:ext cx="10290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672" name="Google Shape;672;p147"/>
          <p:cNvSpPr txBox="1"/>
          <p:nvPr/>
        </p:nvSpPr>
        <p:spPr>
          <a:xfrm>
            <a:off x="468125" y="3182250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FFFF"/>
                </a:solidFill>
              </a:rPr>
              <a:t>抽象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673" name="Google Shape;673;p147"/>
          <p:cNvSpPr txBox="1"/>
          <p:nvPr/>
        </p:nvSpPr>
        <p:spPr>
          <a:xfrm>
            <a:off x="468125" y="383072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FFFF"/>
                </a:solidFill>
              </a:rPr>
              <a:t>具体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674" name="Google Shape;674;p147"/>
          <p:cNvSpPr/>
          <p:nvPr/>
        </p:nvSpPr>
        <p:spPr>
          <a:xfrm>
            <a:off x="4194192" y="292012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全体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675" name="Google Shape;675;p147"/>
          <p:cNvSpPr/>
          <p:nvPr/>
        </p:nvSpPr>
        <p:spPr>
          <a:xfrm>
            <a:off x="4194192" y="407167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部分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676" name="Google Shape;676;p147"/>
          <p:cNvSpPr/>
          <p:nvPr/>
        </p:nvSpPr>
        <p:spPr>
          <a:xfrm>
            <a:off x="3243575" y="407167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部分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677" name="Google Shape;677;p147"/>
          <p:cNvSpPr/>
          <p:nvPr/>
        </p:nvSpPr>
        <p:spPr>
          <a:xfrm>
            <a:off x="5144829" y="407167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部分</a:t>
            </a:r>
            <a:endParaRPr b="1" sz="2000">
              <a:solidFill>
                <a:srgbClr val="FFFFFF"/>
              </a:solidFill>
            </a:endParaRPr>
          </a:p>
        </p:txBody>
      </p:sp>
      <p:cxnSp>
        <p:nvCxnSpPr>
          <p:cNvPr id="678" name="Google Shape;678;p147"/>
          <p:cNvCxnSpPr>
            <a:stCxn id="674" idx="2"/>
            <a:endCxn id="675" idx="0"/>
          </p:cNvCxnSpPr>
          <p:nvPr/>
        </p:nvCxnSpPr>
        <p:spPr>
          <a:xfrm>
            <a:off x="4618842" y="3317625"/>
            <a:ext cx="0" cy="7542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9" name="Google Shape;679;p147"/>
          <p:cNvCxnSpPr/>
          <p:nvPr/>
        </p:nvCxnSpPr>
        <p:spPr>
          <a:xfrm flipH="1" rot="10800000">
            <a:off x="3718775" y="3700125"/>
            <a:ext cx="1860300" cy="370800"/>
          </a:xfrm>
          <a:prstGeom prst="bentConnector3">
            <a:avLst>
              <a:gd fmla="val -32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" name="Google Shape;680;p147"/>
          <p:cNvCxnSpPr>
            <a:stCxn id="677" idx="0"/>
          </p:cNvCxnSpPr>
          <p:nvPr/>
        </p:nvCxnSpPr>
        <p:spPr>
          <a:xfrm rot="10800000">
            <a:off x="5569479" y="3698475"/>
            <a:ext cx="0" cy="3732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1" name="Google Shape;681;p147"/>
          <p:cNvSpPr txBox="1"/>
          <p:nvPr/>
        </p:nvSpPr>
        <p:spPr>
          <a:xfrm>
            <a:off x="7006363" y="2686312"/>
            <a:ext cx="1243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結果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682" name="Google Shape;682;p147"/>
          <p:cNvSpPr txBox="1"/>
          <p:nvPr/>
        </p:nvSpPr>
        <p:spPr>
          <a:xfrm>
            <a:off x="6599175" y="3953757"/>
            <a:ext cx="1026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原因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683" name="Google Shape;683;p147"/>
          <p:cNvSpPr txBox="1"/>
          <p:nvPr/>
        </p:nvSpPr>
        <p:spPr>
          <a:xfrm>
            <a:off x="7687065" y="3953757"/>
            <a:ext cx="1026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原因</a:t>
            </a:r>
            <a:endParaRPr b="1" sz="2000">
              <a:solidFill>
                <a:srgbClr val="FFFFFF"/>
              </a:solidFill>
            </a:endParaRPr>
          </a:p>
        </p:txBody>
      </p:sp>
      <p:cxnSp>
        <p:nvCxnSpPr>
          <p:cNvPr id="684" name="Google Shape;684;p147"/>
          <p:cNvCxnSpPr/>
          <p:nvPr/>
        </p:nvCxnSpPr>
        <p:spPr>
          <a:xfrm flipH="1" rot="10800000">
            <a:off x="7153902" y="3282255"/>
            <a:ext cx="412800" cy="7146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5" name="Google Shape;685;p147"/>
          <p:cNvSpPr/>
          <p:nvPr/>
        </p:nvSpPr>
        <p:spPr>
          <a:xfrm rot="7758649">
            <a:off x="7004042" y="2373314"/>
            <a:ext cx="1129865" cy="1272006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86" name="Google Shape;686;p147"/>
          <p:cNvCxnSpPr/>
          <p:nvPr/>
        </p:nvCxnSpPr>
        <p:spPr>
          <a:xfrm rot="10800000">
            <a:off x="7731046" y="3282255"/>
            <a:ext cx="412800" cy="7146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7" name="Google Shape;687;p147"/>
          <p:cNvSpPr txBox="1"/>
          <p:nvPr/>
        </p:nvSpPr>
        <p:spPr>
          <a:xfrm>
            <a:off x="1141425" y="900000"/>
            <a:ext cx="655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FFFFFF"/>
                </a:solidFill>
              </a:rPr>
              <a:t>01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688" name="Google Shape;688;p147"/>
          <p:cNvSpPr txBox="1"/>
          <p:nvPr/>
        </p:nvSpPr>
        <p:spPr>
          <a:xfrm>
            <a:off x="4290050" y="900000"/>
            <a:ext cx="655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FFFFFF"/>
                </a:solidFill>
              </a:rPr>
              <a:t>02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689" name="Google Shape;689;p147"/>
          <p:cNvSpPr txBox="1"/>
          <p:nvPr/>
        </p:nvSpPr>
        <p:spPr>
          <a:xfrm>
            <a:off x="7328375" y="900000"/>
            <a:ext cx="655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FFFFFF"/>
                </a:solidFill>
              </a:rPr>
              <a:t>03</a:t>
            </a:r>
            <a:endParaRPr sz="3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47"/>
          <p:cNvSpPr txBox="1"/>
          <p:nvPr/>
        </p:nvSpPr>
        <p:spPr>
          <a:xfrm>
            <a:off x="257498" y="46342"/>
            <a:ext cx="584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chemeClr val="lt1"/>
                </a:solidFill>
              </a:rPr>
              <a:t>思考に使う論理の3つの類型</a:t>
            </a:r>
            <a:endParaRPr b="1" sz="2400">
              <a:solidFill>
                <a:schemeClr val="lt1"/>
              </a:solidFill>
            </a:endParaRPr>
          </a:p>
        </p:txBody>
      </p:sp>
      <p:sp>
        <p:nvSpPr>
          <p:cNvPr id="664" name="Google Shape;664;p147"/>
          <p:cNvSpPr txBox="1"/>
          <p:nvPr/>
        </p:nvSpPr>
        <p:spPr>
          <a:xfrm>
            <a:off x="493875" y="148357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具体と抽象を言い換える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65" name="Google Shape;665;p147"/>
          <p:cNvSpPr txBox="1"/>
          <p:nvPr/>
        </p:nvSpPr>
        <p:spPr>
          <a:xfrm>
            <a:off x="765225" y="1778350"/>
            <a:ext cx="1407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FCBC05"/>
                </a:solidFill>
              </a:rPr>
              <a:t>言い換え</a:t>
            </a:r>
            <a:endParaRPr b="1" sz="2400">
              <a:solidFill>
                <a:srgbClr val="FCBC05"/>
              </a:solidFill>
            </a:endParaRPr>
          </a:p>
        </p:txBody>
      </p:sp>
      <p:sp>
        <p:nvSpPr>
          <p:cNvPr id="666" name="Google Shape;666;p147"/>
          <p:cNvSpPr txBox="1"/>
          <p:nvPr/>
        </p:nvSpPr>
        <p:spPr>
          <a:xfrm>
            <a:off x="3642500" y="148357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部分と全体を構造化する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67" name="Google Shape;667;p147"/>
          <p:cNvSpPr txBox="1"/>
          <p:nvPr/>
        </p:nvSpPr>
        <p:spPr>
          <a:xfrm>
            <a:off x="3968750" y="1778350"/>
            <a:ext cx="1300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FCBC05"/>
                </a:solidFill>
              </a:rPr>
              <a:t>構造化</a:t>
            </a:r>
            <a:endParaRPr b="1" sz="2400">
              <a:solidFill>
                <a:srgbClr val="FCBC05"/>
              </a:solidFill>
            </a:endParaRPr>
          </a:p>
        </p:txBody>
      </p:sp>
      <p:sp>
        <p:nvSpPr>
          <p:cNvPr id="668" name="Google Shape;668;p147"/>
          <p:cNvSpPr txBox="1"/>
          <p:nvPr/>
        </p:nvSpPr>
        <p:spPr>
          <a:xfrm>
            <a:off x="6680825" y="148357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原因と結果を関係づける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69" name="Google Shape;669;p147"/>
          <p:cNvSpPr txBox="1"/>
          <p:nvPr/>
        </p:nvSpPr>
        <p:spPr>
          <a:xfrm>
            <a:off x="6952175" y="1778350"/>
            <a:ext cx="1407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FCBC05"/>
                </a:solidFill>
              </a:rPr>
              <a:t>因果関係</a:t>
            </a:r>
            <a:endParaRPr b="1" sz="2400">
              <a:solidFill>
                <a:srgbClr val="FCBC05"/>
              </a:solidFill>
            </a:endParaRPr>
          </a:p>
        </p:txBody>
      </p:sp>
      <p:sp>
        <p:nvSpPr>
          <p:cNvPr id="670" name="Google Shape;670;p147"/>
          <p:cNvSpPr/>
          <p:nvPr/>
        </p:nvSpPr>
        <p:spPr>
          <a:xfrm>
            <a:off x="430925" y="2686293"/>
            <a:ext cx="2025000" cy="1751400"/>
          </a:xfrm>
          <a:prstGeom prst="triangle">
            <a:avLst>
              <a:gd fmla="val 50000" name="adj"/>
            </a:avLst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71" name="Google Shape;671;p147"/>
          <p:cNvCxnSpPr/>
          <p:nvPr/>
        </p:nvCxnSpPr>
        <p:spPr>
          <a:xfrm>
            <a:off x="928925" y="3694650"/>
            <a:ext cx="10290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672" name="Google Shape;672;p147"/>
          <p:cNvSpPr txBox="1"/>
          <p:nvPr/>
        </p:nvSpPr>
        <p:spPr>
          <a:xfrm>
            <a:off x="468125" y="3182250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FFFF"/>
                </a:solidFill>
              </a:rPr>
              <a:t>抽象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673" name="Google Shape;673;p147"/>
          <p:cNvSpPr txBox="1"/>
          <p:nvPr/>
        </p:nvSpPr>
        <p:spPr>
          <a:xfrm>
            <a:off x="468125" y="383072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FFFF"/>
                </a:solidFill>
              </a:rPr>
              <a:t>具体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674" name="Google Shape;674;p147"/>
          <p:cNvSpPr/>
          <p:nvPr/>
        </p:nvSpPr>
        <p:spPr>
          <a:xfrm>
            <a:off x="4194192" y="292012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全体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675" name="Google Shape;675;p147"/>
          <p:cNvSpPr/>
          <p:nvPr/>
        </p:nvSpPr>
        <p:spPr>
          <a:xfrm>
            <a:off x="4194192" y="407167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部分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676" name="Google Shape;676;p147"/>
          <p:cNvSpPr/>
          <p:nvPr/>
        </p:nvSpPr>
        <p:spPr>
          <a:xfrm>
            <a:off x="3243575" y="407167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部分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677" name="Google Shape;677;p147"/>
          <p:cNvSpPr/>
          <p:nvPr/>
        </p:nvSpPr>
        <p:spPr>
          <a:xfrm>
            <a:off x="5144829" y="407167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部分</a:t>
            </a:r>
            <a:endParaRPr b="1" sz="2000">
              <a:solidFill>
                <a:srgbClr val="FFFFFF"/>
              </a:solidFill>
            </a:endParaRPr>
          </a:p>
        </p:txBody>
      </p:sp>
      <p:cxnSp>
        <p:nvCxnSpPr>
          <p:cNvPr id="678" name="Google Shape;678;p147"/>
          <p:cNvCxnSpPr>
            <a:stCxn id="674" idx="2"/>
            <a:endCxn id="675" idx="0"/>
          </p:cNvCxnSpPr>
          <p:nvPr/>
        </p:nvCxnSpPr>
        <p:spPr>
          <a:xfrm>
            <a:off x="4618842" y="3317625"/>
            <a:ext cx="0" cy="7542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9" name="Google Shape;679;p147"/>
          <p:cNvCxnSpPr/>
          <p:nvPr/>
        </p:nvCxnSpPr>
        <p:spPr>
          <a:xfrm flipH="1" rot="10800000">
            <a:off x="3718775" y="3700125"/>
            <a:ext cx="1860300" cy="370800"/>
          </a:xfrm>
          <a:prstGeom prst="bentConnector3">
            <a:avLst>
              <a:gd fmla="val -32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" name="Google Shape;680;p147"/>
          <p:cNvCxnSpPr>
            <a:stCxn id="677" idx="0"/>
          </p:cNvCxnSpPr>
          <p:nvPr/>
        </p:nvCxnSpPr>
        <p:spPr>
          <a:xfrm rot="10800000">
            <a:off x="5569479" y="3698475"/>
            <a:ext cx="0" cy="3732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1" name="Google Shape;681;p147"/>
          <p:cNvSpPr txBox="1"/>
          <p:nvPr/>
        </p:nvSpPr>
        <p:spPr>
          <a:xfrm>
            <a:off x="7006363" y="2686312"/>
            <a:ext cx="1243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結果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682" name="Google Shape;682;p147"/>
          <p:cNvSpPr txBox="1"/>
          <p:nvPr/>
        </p:nvSpPr>
        <p:spPr>
          <a:xfrm>
            <a:off x="6599175" y="3953757"/>
            <a:ext cx="1026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原因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683" name="Google Shape;683;p147"/>
          <p:cNvSpPr txBox="1"/>
          <p:nvPr/>
        </p:nvSpPr>
        <p:spPr>
          <a:xfrm>
            <a:off x="7687065" y="3953757"/>
            <a:ext cx="1026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原因</a:t>
            </a:r>
            <a:endParaRPr b="1" sz="2000">
              <a:solidFill>
                <a:srgbClr val="FFFFFF"/>
              </a:solidFill>
            </a:endParaRPr>
          </a:p>
        </p:txBody>
      </p:sp>
      <p:cxnSp>
        <p:nvCxnSpPr>
          <p:cNvPr id="684" name="Google Shape;684;p147"/>
          <p:cNvCxnSpPr/>
          <p:nvPr/>
        </p:nvCxnSpPr>
        <p:spPr>
          <a:xfrm flipH="1" rot="10800000">
            <a:off x="7153902" y="3282255"/>
            <a:ext cx="412800" cy="7146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5" name="Google Shape;685;p147"/>
          <p:cNvSpPr/>
          <p:nvPr/>
        </p:nvSpPr>
        <p:spPr>
          <a:xfrm rot="7758649">
            <a:off x="7004042" y="2373314"/>
            <a:ext cx="1129865" cy="1272006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86" name="Google Shape;686;p147"/>
          <p:cNvCxnSpPr/>
          <p:nvPr/>
        </p:nvCxnSpPr>
        <p:spPr>
          <a:xfrm rot="10800000">
            <a:off x="7731046" y="3282255"/>
            <a:ext cx="412800" cy="7146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7" name="Google Shape;687;p147"/>
          <p:cNvSpPr txBox="1"/>
          <p:nvPr/>
        </p:nvSpPr>
        <p:spPr>
          <a:xfrm>
            <a:off x="1141425" y="900000"/>
            <a:ext cx="655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FFFFFF"/>
                </a:solidFill>
              </a:rPr>
              <a:t>01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688" name="Google Shape;688;p147"/>
          <p:cNvSpPr txBox="1"/>
          <p:nvPr/>
        </p:nvSpPr>
        <p:spPr>
          <a:xfrm>
            <a:off x="4290050" y="900000"/>
            <a:ext cx="655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FFFFFF"/>
                </a:solidFill>
              </a:rPr>
              <a:t>02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689" name="Google Shape;689;p147"/>
          <p:cNvSpPr txBox="1"/>
          <p:nvPr/>
        </p:nvSpPr>
        <p:spPr>
          <a:xfrm>
            <a:off x="7328375" y="900000"/>
            <a:ext cx="655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FFFFFF"/>
                </a:solidFill>
              </a:rPr>
              <a:t>03</a:t>
            </a:r>
            <a:endParaRPr sz="3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50"/>
          <p:cNvSpPr txBox="1"/>
          <p:nvPr/>
        </p:nvSpPr>
        <p:spPr>
          <a:xfrm>
            <a:off x="657902" y="48263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PURPOSE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718" name="Google Shape;718;p150"/>
          <p:cNvSpPr txBox="1"/>
          <p:nvPr/>
        </p:nvSpPr>
        <p:spPr>
          <a:xfrm>
            <a:off x="657902" y="1203752"/>
            <a:ext cx="5845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認知科学コーチ養成講座JCCの目的</a:t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719" name="Google Shape;719;p150"/>
          <p:cNvSpPr txBox="1"/>
          <p:nvPr/>
        </p:nvSpPr>
        <p:spPr>
          <a:xfrm>
            <a:off x="657899" y="2273975"/>
            <a:ext cx="78183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組織変革における人のパフォーマンス最大化のために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認知科学コーチングに紐づく重要な観点を学習・体現することによって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この場にいる139名がこれからの日本を牽引する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事業・組織を変革するリーダーとして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自身の在り方にブレイクスルーを起こすこと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720" name="Google Shape;720;p150"/>
          <p:cNvSpPr txBox="1"/>
          <p:nvPr/>
        </p:nvSpPr>
        <p:spPr>
          <a:xfrm>
            <a:off x="363900" y="4404375"/>
            <a:ext cx="813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300">
                <a:solidFill>
                  <a:srgbClr val="FFFFFF"/>
                </a:solidFill>
              </a:rPr>
              <a:t>※ブレイクスルー：現状の枠を大きく突破すること</a:t>
            </a:r>
            <a:endParaRPr b="1" sz="13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50"/>
          <p:cNvSpPr txBox="1"/>
          <p:nvPr/>
        </p:nvSpPr>
        <p:spPr>
          <a:xfrm>
            <a:off x="657902" y="48263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PURPOSE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718" name="Google Shape;718;p150"/>
          <p:cNvSpPr txBox="1"/>
          <p:nvPr/>
        </p:nvSpPr>
        <p:spPr>
          <a:xfrm>
            <a:off x="657902" y="1203752"/>
            <a:ext cx="5845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認知科学コーチ養成講座JCCの目的</a:t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719" name="Google Shape;719;p150"/>
          <p:cNvSpPr txBox="1"/>
          <p:nvPr/>
        </p:nvSpPr>
        <p:spPr>
          <a:xfrm>
            <a:off x="657899" y="2273975"/>
            <a:ext cx="78183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組織変革における人のパフォーマンス最大化のために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認知科学コーチングに紐づく重要な観点を学習・体現することによって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この場にいる139名がこれからの日本を牽引する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事業・組織を変革するリーダーとして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自身の在り方にブレイクスルーを起こすこと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720" name="Google Shape;720;p150"/>
          <p:cNvSpPr txBox="1"/>
          <p:nvPr/>
        </p:nvSpPr>
        <p:spPr>
          <a:xfrm>
            <a:off x="363900" y="4404375"/>
            <a:ext cx="813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300">
                <a:solidFill>
                  <a:srgbClr val="FFFFFF"/>
                </a:solidFill>
              </a:rPr>
              <a:t>※ブレイクスルー：現状の枠を大きく突破すること</a:t>
            </a:r>
            <a:endParaRPr b="1" sz="13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158"/>
          <p:cNvSpPr txBox="1"/>
          <p:nvPr/>
        </p:nvSpPr>
        <p:spPr>
          <a:xfrm>
            <a:off x="839550" y="1337100"/>
            <a:ext cx="3168900" cy="3162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0B5394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0B5394"/>
                </a:solidFill>
              </a:rPr>
              <a:t>技術課題（DO）</a:t>
            </a:r>
            <a:endParaRPr b="1" sz="2100">
              <a:solidFill>
                <a:srgbClr val="0B5394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00000"/>
                </a:solidFill>
              </a:rPr>
              <a:t>ある課題に対して</a:t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  <a:highlight>
                  <a:srgbClr val="0000FF"/>
                </a:highlight>
              </a:rPr>
              <a:t>新たな知識やスキル</a:t>
            </a:r>
            <a:r>
              <a:rPr b="1" lang="ja" sz="1500">
                <a:solidFill>
                  <a:srgbClr val="000000"/>
                </a:solidFill>
              </a:rPr>
              <a:t>を</a:t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00000"/>
                </a:solidFill>
              </a:rPr>
              <a:t>身につけることにより</a:t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00000"/>
                </a:solidFill>
              </a:rPr>
              <a:t>特定の「正解」を導き出すことが</a:t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00000"/>
                </a:solidFill>
              </a:rPr>
              <a:t>できる課題のこと</a:t>
            </a:r>
            <a:endParaRPr b="1" sz="1500">
              <a:solidFill>
                <a:srgbClr val="000000"/>
              </a:solidFill>
            </a:endParaRPr>
          </a:p>
        </p:txBody>
      </p:sp>
      <p:sp>
        <p:nvSpPr>
          <p:cNvPr id="803" name="Google Shape;803;p158"/>
          <p:cNvSpPr txBox="1"/>
          <p:nvPr/>
        </p:nvSpPr>
        <p:spPr>
          <a:xfrm>
            <a:off x="4953000" y="1337100"/>
            <a:ext cx="3168900" cy="3162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99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990000"/>
                </a:solidFill>
              </a:rPr>
              <a:t>適応課題（BE）</a:t>
            </a:r>
            <a:endParaRPr b="1" sz="2100">
              <a:solidFill>
                <a:srgbClr val="99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40C28"/>
                </a:solidFill>
                <a:highlight>
                  <a:srgbClr val="FFFFFF"/>
                </a:highlight>
              </a:rPr>
              <a:t>自分や組織の価値観や</a:t>
            </a:r>
            <a:endParaRPr b="1" sz="1500">
              <a:solidFill>
                <a:srgbClr val="040C28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40C28"/>
                </a:solidFill>
                <a:highlight>
                  <a:srgbClr val="FFFFFF"/>
                </a:highlight>
              </a:rPr>
              <a:t>考え方に根ざしており</a:t>
            </a:r>
            <a:endParaRPr b="1" sz="1500">
              <a:solidFill>
                <a:srgbClr val="040C28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  <a:highlight>
                  <a:srgbClr val="990000"/>
                </a:highlight>
              </a:rPr>
              <a:t>そのままの信念や価値観</a:t>
            </a:r>
            <a:r>
              <a:rPr b="1" lang="ja" sz="1500">
                <a:solidFill>
                  <a:schemeClr val="dk1"/>
                </a:solidFill>
                <a:highlight>
                  <a:schemeClr val="lt1"/>
                </a:highlight>
              </a:rPr>
              <a:t>では</a:t>
            </a:r>
            <a:endParaRPr b="1"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40C28"/>
                </a:solidFill>
                <a:highlight>
                  <a:srgbClr val="FFFFFF"/>
                </a:highlight>
              </a:rPr>
              <a:t>対応が難しいような課題のこと</a:t>
            </a:r>
            <a:endParaRPr b="1" sz="2100">
              <a:solidFill>
                <a:srgbClr val="000000"/>
              </a:solidFill>
            </a:endParaRPr>
          </a:p>
        </p:txBody>
      </p:sp>
      <p:sp>
        <p:nvSpPr>
          <p:cNvPr id="804" name="Google Shape;804;p158"/>
          <p:cNvSpPr txBox="1"/>
          <p:nvPr/>
        </p:nvSpPr>
        <p:spPr>
          <a:xfrm>
            <a:off x="66025" y="-60425"/>
            <a:ext cx="80754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rgbClr val="FFFFFF"/>
                </a:solidFill>
              </a:rPr>
              <a:t>コーチングで解決する課題</a:t>
            </a:r>
            <a:endParaRPr b="1" sz="1700">
              <a:solidFill>
                <a:srgbClr val="FFFFFF"/>
              </a:solidFill>
            </a:endParaRPr>
          </a:p>
        </p:txBody>
      </p:sp>
      <p:cxnSp>
        <p:nvCxnSpPr>
          <p:cNvPr id="805" name="Google Shape;805;p158"/>
          <p:cNvCxnSpPr/>
          <p:nvPr/>
        </p:nvCxnSpPr>
        <p:spPr>
          <a:xfrm>
            <a:off x="66025" y="493750"/>
            <a:ext cx="90285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158"/>
          <p:cNvSpPr txBox="1"/>
          <p:nvPr/>
        </p:nvSpPr>
        <p:spPr>
          <a:xfrm>
            <a:off x="839550" y="1337100"/>
            <a:ext cx="3168900" cy="3162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0B5394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0B5394"/>
                </a:solidFill>
              </a:rPr>
              <a:t>技術課題（DO）</a:t>
            </a:r>
            <a:endParaRPr b="1" sz="2100">
              <a:solidFill>
                <a:srgbClr val="0B5394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00000"/>
                </a:solidFill>
              </a:rPr>
              <a:t>ある課題に対して</a:t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  <a:highlight>
                  <a:srgbClr val="0000FF"/>
                </a:highlight>
              </a:rPr>
              <a:t>新たな知識やスキル</a:t>
            </a:r>
            <a:r>
              <a:rPr b="1" lang="ja" sz="1500">
                <a:solidFill>
                  <a:srgbClr val="000000"/>
                </a:solidFill>
              </a:rPr>
              <a:t>を</a:t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00000"/>
                </a:solidFill>
              </a:rPr>
              <a:t>身につけることにより</a:t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00000"/>
                </a:solidFill>
              </a:rPr>
              <a:t>特定の「正解」を導き出すことが</a:t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00000"/>
                </a:solidFill>
              </a:rPr>
              <a:t>できる課題のこと</a:t>
            </a:r>
            <a:endParaRPr b="1" sz="1500">
              <a:solidFill>
                <a:srgbClr val="000000"/>
              </a:solidFill>
            </a:endParaRPr>
          </a:p>
        </p:txBody>
      </p:sp>
      <p:sp>
        <p:nvSpPr>
          <p:cNvPr id="803" name="Google Shape;803;p158"/>
          <p:cNvSpPr txBox="1"/>
          <p:nvPr/>
        </p:nvSpPr>
        <p:spPr>
          <a:xfrm>
            <a:off x="4953000" y="1337100"/>
            <a:ext cx="3168900" cy="3162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99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990000"/>
                </a:solidFill>
              </a:rPr>
              <a:t>適応課題（BE）</a:t>
            </a:r>
            <a:endParaRPr b="1" sz="2100">
              <a:solidFill>
                <a:srgbClr val="99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40C28"/>
                </a:solidFill>
                <a:highlight>
                  <a:srgbClr val="FFFFFF"/>
                </a:highlight>
              </a:rPr>
              <a:t>自分や組織の価値観や</a:t>
            </a:r>
            <a:endParaRPr b="1" sz="1500">
              <a:solidFill>
                <a:srgbClr val="040C28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40C28"/>
                </a:solidFill>
                <a:highlight>
                  <a:srgbClr val="FFFFFF"/>
                </a:highlight>
              </a:rPr>
              <a:t>考え方に根ざしており</a:t>
            </a:r>
            <a:endParaRPr b="1" sz="1500">
              <a:solidFill>
                <a:srgbClr val="040C28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  <a:highlight>
                  <a:srgbClr val="990000"/>
                </a:highlight>
              </a:rPr>
              <a:t>そのままの信念や価値観</a:t>
            </a:r>
            <a:r>
              <a:rPr b="1" lang="ja" sz="1500">
                <a:solidFill>
                  <a:schemeClr val="dk1"/>
                </a:solidFill>
                <a:highlight>
                  <a:schemeClr val="lt1"/>
                </a:highlight>
              </a:rPr>
              <a:t>では</a:t>
            </a:r>
            <a:endParaRPr b="1"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40C28"/>
                </a:solidFill>
                <a:highlight>
                  <a:srgbClr val="FFFFFF"/>
                </a:highlight>
              </a:rPr>
              <a:t>対応が難しいような課題のこと</a:t>
            </a:r>
            <a:endParaRPr b="1" sz="2100">
              <a:solidFill>
                <a:srgbClr val="000000"/>
              </a:solidFill>
            </a:endParaRPr>
          </a:p>
        </p:txBody>
      </p:sp>
      <p:sp>
        <p:nvSpPr>
          <p:cNvPr id="804" name="Google Shape;804;p158"/>
          <p:cNvSpPr txBox="1"/>
          <p:nvPr/>
        </p:nvSpPr>
        <p:spPr>
          <a:xfrm>
            <a:off x="66025" y="-60425"/>
            <a:ext cx="80754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rgbClr val="FFFFFF"/>
                </a:solidFill>
              </a:rPr>
              <a:t>コーチングで解決する課題</a:t>
            </a:r>
            <a:endParaRPr b="1" sz="1700">
              <a:solidFill>
                <a:srgbClr val="FFFFFF"/>
              </a:solidFill>
            </a:endParaRPr>
          </a:p>
        </p:txBody>
      </p:sp>
      <p:cxnSp>
        <p:nvCxnSpPr>
          <p:cNvPr id="805" name="Google Shape;805;p158"/>
          <p:cNvCxnSpPr/>
          <p:nvPr/>
        </p:nvCxnSpPr>
        <p:spPr>
          <a:xfrm>
            <a:off x="66025" y="493750"/>
            <a:ext cx="90285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0" name="Google Shape;810;p159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1737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159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組織の成長を引き止める根本原因は何ですか？</a:t>
            </a:r>
            <a:endParaRPr sz="22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ja" sz="1400"/>
              <a:t>※どの組織・個人にも共通する普遍の適応課題</a:t>
            </a:r>
            <a:endParaRPr b="0" sz="1400"/>
          </a:p>
        </p:txBody>
      </p:sp>
      <p:sp>
        <p:nvSpPr>
          <p:cNvPr id="812" name="Google Shape;812;p159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Question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0" name="Google Shape;810;p159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1737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159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組織の成長を引き止める根本原因は何ですか？</a:t>
            </a:r>
            <a:endParaRPr sz="22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ja" sz="1400"/>
              <a:t>※どの組織・個人にも共通する普遍の適応課題</a:t>
            </a:r>
            <a:endParaRPr b="0" sz="1400"/>
          </a:p>
        </p:txBody>
      </p:sp>
      <p:sp>
        <p:nvSpPr>
          <p:cNvPr id="812" name="Google Shape;812;p159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Question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7" name="Google Shape;1487;p221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0" y="21521"/>
            <a:ext cx="9167482" cy="51434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88" name="Google Shape;1488;p221"/>
          <p:cNvGraphicFramePr/>
          <p:nvPr/>
        </p:nvGraphicFramePr>
        <p:xfrm>
          <a:off x="1066838" y="9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2658675"/>
                <a:gridCol w="4447150"/>
              </a:tblGrid>
              <a:tr h="70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コーチング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コンテキストシフト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コンサルティング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本質課題の特定とコンテンツの転送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ティーチング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コンテンツの転送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トレーニング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スキーマの転送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カウンセリング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現状の思考プロセスの棚卸し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89" name="Google Shape;1489;p221"/>
          <p:cNvSpPr txBox="1"/>
          <p:nvPr/>
        </p:nvSpPr>
        <p:spPr>
          <a:xfrm>
            <a:off x="216350" y="0"/>
            <a:ext cx="88068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lt1"/>
                </a:solidFill>
              </a:rPr>
              <a:t>5つの手法の区別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7" name="Google Shape;1487;p221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0" y="21521"/>
            <a:ext cx="9167482" cy="51434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88" name="Google Shape;1488;p221"/>
          <p:cNvGraphicFramePr/>
          <p:nvPr/>
        </p:nvGraphicFramePr>
        <p:xfrm>
          <a:off x="1066838" y="9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2658675"/>
                <a:gridCol w="4447150"/>
              </a:tblGrid>
              <a:tr h="70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コーチング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コンテキストシフト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コンサルティング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本質課題の特定とコンテンツの転送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ティーチング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コンテンツの転送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トレーニング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スキーマの転送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カウンセリング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現状の思考プロセスの棚卸し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89" name="Google Shape;1489;p221"/>
          <p:cNvSpPr txBox="1"/>
          <p:nvPr/>
        </p:nvSpPr>
        <p:spPr>
          <a:xfrm>
            <a:off x="216350" y="0"/>
            <a:ext cx="88068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lt1"/>
                </a:solidFill>
              </a:rPr>
              <a:t>5つの手法の区別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141"/>
          <p:cNvSpPr txBox="1"/>
          <p:nvPr/>
        </p:nvSpPr>
        <p:spPr>
          <a:xfrm>
            <a:off x="3024150" y="2999750"/>
            <a:ext cx="3095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-"/>
            </a:pPr>
            <a:r>
              <a:rPr b="1" lang="ja" sz="2500">
                <a:solidFill>
                  <a:schemeClr val="lt1"/>
                </a:solidFill>
              </a:rPr>
              <a:t>DAY 2 -</a:t>
            </a:r>
            <a:endParaRPr b="1"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141"/>
          <p:cNvSpPr txBox="1"/>
          <p:nvPr/>
        </p:nvSpPr>
        <p:spPr>
          <a:xfrm>
            <a:off x="3024150" y="2999750"/>
            <a:ext cx="3095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-"/>
            </a:pPr>
            <a:r>
              <a:rPr b="1" lang="ja" sz="2500">
                <a:solidFill>
                  <a:schemeClr val="lt1"/>
                </a:solidFill>
              </a:rPr>
              <a:t>DAY 2 -</a:t>
            </a:r>
            <a:endParaRPr b="1"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43"/>
          <p:cNvSpPr txBox="1"/>
          <p:nvPr/>
        </p:nvSpPr>
        <p:spPr>
          <a:xfrm>
            <a:off x="644550" y="1910200"/>
            <a:ext cx="7854900" cy="820800"/>
          </a:xfrm>
          <a:prstGeom prst="rect">
            <a:avLst/>
          </a:prstGeom>
          <a:noFill/>
          <a:ln>
            <a:noFill/>
          </a:ln>
          <a:effectLst>
            <a:outerShdw blurRad="314325" rotWithShape="0" algn="bl" dir="5220000" dist="19050">
              <a:srgbClr val="000000">
                <a:alpha val="64999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ja" sz="4800">
                <a:solidFill>
                  <a:srgbClr val="FFFFFF"/>
                </a:solidFill>
              </a:rPr>
              <a:t>Adaptive Challenge</a:t>
            </a:r>
            <a:endParaRPr b="1" sz="4800">
              <a:solidFill>
                <a:srgbClr val="FFFFFF"/>
              </a:solidFill>
            </a:endParaRPr>
          </a:p>
        </p:txBody>
      </p:sp>
      <p:sp>
        <p:nvSpPr>
          <p:cNvPr id="640" name="Google Shape;640;p143"/>
          <p:cNvSpPr txBox="1"/>
          <p:nvPr/>
        </p:nvSpPr>
        <p:spPr>
          <a:xfrm>
            <a:off x="644550" y="2549338"/>
            <a:ext cx="7854900" cy="461700"/>
          </a:xfrm>
          <a:prstGeom prst="rect">
            <a:avLst/>
          </a:prstGeom>
          <a:noFill/>
          <a:ln>
            <a:noFill/>
          </a:ln>
          <a:effectLst>
            <a:outerShdw blurRad="171450" rotWithShape="0" algn="bl" dir="5400000" dist="19050">
              <a:srgbClr val="000000">
                <a:alpha val="67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FFFF"/>
                </a:solidFill>
              </a:rPr>
              <a:t>適応課題とは何か</a:t>
            </a:r>
            <a:endParaRPr b="1"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43"/>
          <p:cNvSpPr txBox="1"/>
          <p:nvPr/>
        </p:nvSpPr>
        <p:spPr>
          <a:xfrm>
            <a:off x="644550" y="1910200"/>
            <a:ext cx="7854900" cy="820800"/>
          </a:xfrm>
          <a:prstGeom prst="rect">
            <a:avLst/>
          </a:prstGeom>
          <a:noFill/>
          <a:ln>
            <a:noFill/>
          </a:ln>
          <a:effectLst>
            <a:outerShdw blurRad="314325" rotWithShape="0" algn="bl" dir="5220000" dist="19050">
              <a:srgbClr val="000000">
                <a:alpha val="64999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ja" sz="4800">
                <a:solidFill>
                  <a:srgbClr val="FFFFFF"/>
                </a:solidFill>
              </a:rPr>
              <a:t>Adaptive Challenge</a:t>
            </a:r>
            <a:endParaRPr b="1" sz="4800">
              <a:solidFill>
                <a:srgbClr val="FFFFFF"/>
              </a:solidFill>
            </a:endParaRPr>
          </a:p>
        </p:txBody>
      </p:sp>
      <p:sp>
        <p:nvSpPr>
          <p:cNvPr id="640" name="Google Shape;640;p143"/>
          <p:cNvSpPr txBox="1"/>
          <p:nvPr/>
        </p:nvSpPr>
        <p:spPr>
          <a:xfrm>
            <a:off x="644550" y="2549338"/>
            <a:ext cx="7854900" cy="461700"/>
          </a:xfrm>
          <a:prstGeom prst="rect">
            <a:avLst/>
          </a:prstGeom>
          <a:noFill/>
          <a:ln>
            <a:noFill/>
          </a:ln>
          <a:effectLst>
            <a:outerShdw blurRad="171450" rotWithShape="0" algn="bl" dir="5400000" dist="19050">
              <a:srgbClr val="000000">
                <a:alpha val="67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FFFF"/>
                </a:solidFill>
              </a:rPr>
              <a:t>適応課題とは何か</a:t>
            </a:r>
            <a:endParaRPr b="1"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50"/>
          <p:cNvSpPr txBox="1"/>
          <p:nvPr/>
        </p:nvSpPr>
        <p:spPr>
          <a:xfrm>
            <a:off x="657902" y="48263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PURPOSE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718" name="Google Shape;718;p150"/>
          <p:cNvSpPr txBox="1"/>
          <p:nvPr/>
        </p:nvSpPr>
        <p:spPr>
          <a:xfrm>
            <a:off x="657902" y="1203752"/>
            <a:ext cx="5845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このセクションの目的</a:t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719" name="Google Shape;719;p150"/>
          <p:cNvSpPr txBox="1"/>
          <p:nvPr/>
        </p:nvSpPr>
        <p:spPr>
          <a:xfrm>
            <a:off x="657899" y="2273975"/>
            <a:ext cx="78183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1. 適応課題と技術的問題の違いを理解する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2. 自分が直面している課題の種類を見極める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3. 適応的なアプローチの基本を学ぶ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/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/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720" name="Google Shape;720;p150"/>
          <p:cNvSpPr txBox="1"/>
          <p:nvPr/>
        </p:nvSpPr>
        <p:spPr>
          <a:xfrm>
            <a:off x="363900" y="4404375"/>
            <a:ext cx="813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300">
                <a:solidFill>
                  <a:srgbClr val="FFFFFF"/>
                </a:solidFill>
              </a:rPr>
              <a:t/>
            </a:r>
            <a:endParaRPr b="1" sz="13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50"/>
          <p:cNvSpPr txBox="1"/>
          <p:nvPr/>
        </p:nvSpPr>
        <p:spPr>
          <a:xfrm>
            <a:off x="657902" y="48263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PURPOSE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718" name="Google Shape;718;p150"/>
          <p:cNvSpPr txBox="1"/>
          <p:nvPr/>
        </p:nvSpPr>
        <p:spPr>
          <a:xfrm>
            <a:off x="657902" y="1203752"/>
            <a:ext cx="5845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このセクションの目的</a:t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719" name="Google Shape;719;p150"/>
          <p:cNvSpPr txBox="1"/>
          <p:nvPr/>
        </p:nvSpPr>
        <p:spPr>
          <a:xfrm>
            <a:off x="657899" y="2273975"/>
            <a:ext cx="78183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1. 適応課題と技術的問題の違いを理解する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2. 自分が直面している課題の種類を見極める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3. 適応的なアプローチの基本を学ぶ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/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/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720" name="Google Shape;720;p150"/>
          <p:cNvSpPr txBox="1"/>
          <p:nvPr/>
        </p:nvSpPr>
        <p:spPr>
          <a:xfrm>
            <a:off x="363900" y="4404375"/>
            <a:ext cx="813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300">
                <a:solidFill>
                  <a:srgbClr val="FFFFFF"/>
                </a:solidFill>
              </a:rPr>
              <a:t/>
            </a:r>
            <a:endParaRPr b="1" sz="13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45"/>
          <p:cNvSpPr txBox="1"/>
          <p:nvPr/>
        </p:nvSpPr>
        <p:spPr>
          <a:xfrm>
            <a:off x="257498" y="46342"/>
            <a:ext cx="584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chemeClr val="lt1"/>
                </a:solidFill>
              </a:rPr>
              <a:t>2つの問題タイプ</a:t>
            </a:r>
            <a:endParaRPr b="1" sz="2400">
              <a:solidFill>
                <a:schemeClr val="lt1"/>
              </a:solidFill>
            </a:endParaRPr>
          </a:p>
        </p:txBody>
      </p:sp>
      <p:sp>
        <p:nvSpPr>
          <p:cNvPr id="651" name="Google Shape;651;p145"/>
          <p:cNvSpPr/>
          <p:nvPr/>
        </p:nvSpPr>
        <p:spPr>
          <a:xfrm>
            <a:off x="1507500" y="1773950"/>
            <a:ext cx="2835900" cy="2544900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技術的問題</a:t>
            </a:r>
            <a:endParaRPr b="1" sz="20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既存の知識やスキルで解決できる</a:t>
            </a:r>
            <a:endParaRPr b="1" sz="20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専門家が答えを持っている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652" name="Google Shape;652;p145"/>
          <p:cNvSpPr/>
          <p:nvPr/>
        </p:nvSpPr>
        <p:spPr>
          <a:xfrm>
            <a:off x="4800600" y="1773950"/>
            <a:ext cx="2835900" cy="2544900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ja" sz="2000">
                <a:solidFill>
                  <a:srgbClr val="FFFFFF"/>
                </a:solidFill>
              </a:rPr>
              <a:t>適応課題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ja" sz="2000">
                <a:solidFill>
                  <a:srgbClr val="FFFFFF"/>
                </a:solidFill>
              </a:rPr>
              <a:t>新しい学習・変化・価値観の転換が必要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ja" sz="2000">
                <a:solidFill>
                  <a:srgbClr val="FFFFFF"/>
                </a:solidFill>
              </a:rPr>
              <a:t>当事者自身が解決に関わる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45"/>
          <p:cNvSpPr txBox="1"/>
          <p:nvPr/>
        </p:nvSpPr>
        <p:spPr>
          <a:xfrm>
            <a:off x="257498" y="46342"/>
            <a:ext cx="584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chemeClr val="lt1"/>
                </a:solidFill>
              </a:rPr>
              <a:t>2つの問題タイプ</a:t>
            </a:r>
            <a:endParaRPr b="1" sz="2400">
              <a:solidFill>
                <a:schemeClr val="lt1"/>
              </a:solidFill>
            </a:endParaRPr>
          </a:p>
        </p:txBody>
      </p:sp>
      <p:sp>
        <p:nvSpPr>
          <p:cNvPr id="651" name="Google Shape;651;p145"/>
          <p:cNvSpPr/>
          <p:nvPr/>
        </p:nvSpPr>
        <p:spPr>
          <a:xfrm>
            <a:off x="1507500" y="1773950"/>
            <a:ext cx="2835900" cy="2544900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技術的問題</a:t>
            </a:r>
            <a:endParaRPr b="1" sz="20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既存の知識やスキルで解決できる</a:t>
            </a:r>
            <a:endParaRPr b="1" sz="20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専門家が答えを持っている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652" name="Google Shape;652;p145"/>
          <p:cNvSpPr/>
          <p:nvPr/>
        </p:nvSpPr>
        <p:spPr>
          <a:xfrm>
            <a:off x="4800600" y="1773950"/>
            <a:ext cx="2835900" cy="2544900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ja" sz="2000">
                <a:solidFill>
                  <a:srgbClr val="FFFFFF"/>
                </a:solidFill>
              </a:rPr>
              <a:t>適応課題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ja" sz="2000">
                <a:solidFill>
                  <a:srgbClr val="FFFFFF"/>
                </a:solidFill>
              </a:rPr>
              <a:t>新しい学習・変化・価値観の転換が必要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ja" sz="2000">
                <a:solidFill>
                  <a:srgbClr val="FFFFFF"/>
                </a:solidFill>
              </a:rPr>
              <a:t>当事者自身が解決に関わる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158"/>
          <p:cNvSpPr txBox="1"/>
          <p:nvPr/>
        </p:nvSpPr>
        <p:spPr>
          <a:xfrm>
            <a:off x="839550" y="1337100"/>
            <a:ext cx="3168900" cy="3162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コーチング</a:t>
            </a:r>
            <a:endParaRPr b="1" sz="2100">
              <a:solidFill>
                <a:srgbClr val="0B5394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0B5394"/>
                </a:solidFill>
              </a:rPr>
              <a:t>コンテキストシフト（背景の書き換え）</a:t>
            </a:r>
            <a:endParaRPr b="1" sz="2100">
              <a:solidFill>
                <a:srgbClr val="0B5394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00000"/>
                </a:solidFill>
              </a:rPr>
              <a:t>問いによる気づきの促進</a:t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  <a:highlight>
                  <a:srgbClr val="0000FF"/>
                </a:highlight>
              </a:rPr>
              <a:t/>
            </a:r>
            <a:r>
              <a:rPr b="1" lang="ja" sz="1500">
                <a:solidFill>
                  <a:srgbClr val="000000"/>
                </a:solidFill>
              </a:rPr>
              <a:t/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00000"/>
                </a:solidFill>
              </a:rPr>
              <a:t/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00000"/>
                </a:solidFill>
              </a:rPr>
              <a:t/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00000"/>
                </a:solidFill>
              </a:rPr>
              <a:t/>
            </a:r>
            <a:endParaRPr b="1" sz="1500">
              <a:solidFill>
                <a:srgbClr val="000000"/>
              </a:solidFill>
            </a:endParaRPr>
          </a:p>
        </p:txBody>
      </p:sp>
      <p:sp>
        <p:nvSpPr>
          <p:cNvPr id="803" name="Google Shape;803;p158"/>
          <p:cNvSpPr txBox="1"/>
          <p:nvPr/>
        </p:nvSpPr>
        <p:spPr>
          <a:xfrm>
            <a:off x="4953000" y="1337100"/>
            <a:ext cx="3168900" cy="3162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コンサルティング</a:t>
            </a:r>
            <a:endParaRPr b="1" sz="2100">
              <a:solidFill>
                <a:srgbClr val="99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990000"/>
                </a:solidFill>
              </a:rPr>
              <a:t>本質課題の特定</a:t>
            </a:r>
            <a:endParaRPr b="1" sz="2100">
              <a:solidFill>
                <a:srgbClr val="99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40C28"/>
                </a:solidFill>
                <a:highlight>
                  <a:srgbClr val="FFFFFF"/>
                </a:highlight>
              </a:rPr>
              <a:t>コンテンツの転送</a:t>
            </a:r>
            <a:endParaRPr b="1" sz="1500">
              <a:solidFill>
                <a:srgbClr val="040C28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40C28"/>
                </a:solidFill>
                <a:highlight>
                  <a:srgbClr val="FFFFFF"/>
                </a:highlight>
              </a:rPr>
              <a:t/>
            </a:r>
            <a:endParaRPr b="1" sz="1500">
              <a:solidFill>
                <a:srgbClr val="040C28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  <a:highlight>
                  <a:srgbClr val="990000"/>
                </a:highlight>
              </a:rPr>
              <a:t/>
            </a:r>
            <a:r>
              <a:rPr b="1" lang="ja" sz="1500">
                <a:solidFill>
                  <a:schemeClr val="dk1"/>
                </a:solidFill>
                <a:highlight>
                  <a:schemeClr val="lt1"/>
                </a:highlight>
              </a:rPr>
              <a:t/>
            </a:r>
            <a:endParaRPr b="1"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40C28"/>
                </a:solidFill>
                <a:highlight>
                  <a:srgbClr val="FFFFFF"/>
                </a:highlight>
              </a:rPr>
              <a:t/>
            </a:r>
            <a:endParaRPr b="1" sz="2100">
              <a:solidFill>
                <a:srgbClr val="000000"/>
              </a:solidFill>
            </a:endParaRPr>
          </a:p>
        </p:txBody>
      </p:sp>
      <p:sp>
        <p:nvSpPr>
          <p:cNvPr id="804" name="Google Shape;804;p158"/>
          <p:cNvSpPr txBox="1"/>
          <p:nvPr/>
        </p:nvSpPr>
        <p:spPr>
          <a:xfrm>
            <a:off x="66025" y="-60425"/>
            <a:ext cx="80754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rgbClr val="FFFFFF"/>
                </a:solidFill>
              </a:rPr>
              <a:t>コーチングとコンサルティングの違い</a:t>
            </a:r>
            <a:endParaRPr b="1" sz="1700">
              <a:solidFill>
                <a:srgbClr val="FFFFFF"/>
              </a:solidFill>
            </a:endParaRPr>
          </a:p>
        </p:txBody>
      </p:sp>
      <p:cxnSp>
        <p:nvCxnSpPr>
          <p:cNvPr id="805" name="Google Shape;805;p158"/>
          <p:cNvCxnSpPr/>
          <p:nvPr/>
        </p:nvCxnSpPr>
        <p:spPr>
          <a:xfrm>
            <a:off x="66025" y="493750"/>
            <a:ext cx="90285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158"/>
          <p:cNvSpPr txBox="1"/>
          <p:nvPr/>
        </p:nvSpPr>
        <p:spPr>
          <a:xfrm>
            <a:off x="839550" y="1337100"/>
            <a:ext cx="3168900" cy="3162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コーチング</a:t>
            </a:r>
            <a:endParaRPr b="1" sz="2100">
              <a:solidFill>
                <a:srgbClr val="0B5394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0B5394"/>
                </a:solidFill>
              </a:rPr>
              <a:t>コンテキストシフト（背景の書き換え）</a:t>
            </a:r>
            <a:endParaRPr b="1" sz="2100">
              <a:solidFill>
                <a:srgbClr val="0B5394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00000"/>
                </a:solidFill>
              </a:rPr>
              <a:t>問いによる気づきの促進</a:t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  <a:highlight>
                  <a:srgbClr val="0000FF"/>
                </a:highlight>
              </a:rPr>
              <a:t/>
            </a:r>
            <a:r>
              <a:rPr b="1" lang="ja" sz="1500">
                <a:solidFill>
                  <a:srgbClr val="000000"/>
                </a:solidFill>
              </a:rPr>
              <a:t/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00000"/>
                </a:solidFill>
              </a:rPr>
              <a:t/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00000"/>
                </a:solidFill>
              </a:rPr>
              <a:t/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00000"/>
                </a:solidFill>
              </a:rPr>
              <a:t/>
            </a:r>
            <a:endParaRPr b="1" sz="1500">
              <a:solidFill>
                <a:srgbClr val="000000"/>
              </a:solidFill>
            </a:endParaRPr>
          </a:p>
        </p:txBody>
      </p:sp>
      <p:sp>
        <p:nvSpPr>
          <p:cNvPr id="803" name="Google Shape;803;p158"/>
          <p:cNvSpPr txBox="1"/>
          <p:nvPr/>
        </p:nvSpPr>
        <p:spPr>
          <a:xfrm>
            <a:off x="4953000" y="1337100"/>
            <a:ext cx="3168900" cy="3162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コンサルティング</a:t>
            </a:r>
            <a:endParaRPr b="1" sz="2100">
              <a:solidFill>
                <a:srgbClr val="99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990000"/>
                </a:solidFill>
              </a:rPr>
              <a:t>本質課題の特定</a:t>
            </a:r>
            <a:endParaRPr b="1" sz="2100">
              <a:solidFill>
                <a:srgbClr val="99000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40C28"/>
                </a:solidFill>
                <a:highlight>
                  <a:srgbClr val="FFFFFF"/>
                </a:highlight>
              </a:rPr>
              <a:t>コンテンツの転送</a:t>
            </a:r>
            <a:endParaRPr b="1" sz="1500">
              <a:solidFill>
                <a:srgbClr val="040C28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40C28"/>
                </a:solidFill>
                <a:highlight>
                  <a:srgbClr val="FFFFFF"/>
                </a:highlight>
              </a:rPr>
              <a:t/>
            </a:r>
            <a:endParaRPr b="1" sz="1500">
              <a:solidFill>
                <a:srgbClr val="040C28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  <a:highlight>
                  <a:srgbClr val="990000"/>
                </a:highlight>
              </a:rPr>
              <a:t/>
            </a:r>
            <a:r>
              <a:rPr b="1" lang="ja" sz="1500">
                <a:solidFill>
                  <a:schemeClr val="dk1"/>
                </a:solidFill>
                <a:highlight>
                  <a:schemeClr val="lt1"/>
                </a:highlight>
              </a:rPr>
              <a:t/>
            </a:r>
            <a:endParaRPr b="1"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040C28"/>
                </a:solidFill>
                <a:highlight>
                  <a:srgbClr val="FFFFFF"/>
                </a:highlight>
              </a:rPr>
              <a:t/>
            </a:r>
            <a:endParaRPr b="1" sz="2100">
              <a:solidFill>
                <a:srgbClr val="000000"/>
              </a:solidFill>
            </a:endParaRPr>
          </a:p>
        </p:txBody>
      </p:sp>
      <p:sp>
        <p:nvSpPr>
          <p:cNvPr id="804" name="Google Shape;804;p158"/>
          <p:cNvSpPr txBox="1"/>
          <p:nvPr/>
        </p:nvSpPr>
        <p:spPr>
          <a:xfrm>
            <a:off x="66025" y="-60425"/>
            <a:ext cx="80754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rgbClr val="FFFFFF"/>
                </a:solidFill>
              </a:rPr>
              <a:t>コーチングとコンサルティングの違い</a:t>
            </a:r>
            <a:endParaRPr b="1" sz="1700">
              <a:solidFill>
                <a:srgbClr val="FFFFFF"/>
              </a:solidFill>
            </a:endParaRPr>
          </a:p>
        </p:txBody>
      </p:sp>
      <p:cxnSp>
        <p:nvCxnSpPr>
          <p:cNvPr id="805" name="Google Shape;805;p158"/>
          <p:cNvCxnSpPr/>
          <p:nvPr/>
        </p:nvCxnSpPr>
        <p:spPr>
          <a:xfrm>
            <a:off x="66025" y="493750"/>
            <a:ext cx="90285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47"/>
          <p:cNvSpPr txBox="1"/>
          <p:nvPr/>
        </p:nvSpPr>
        <p:spPr>
          <a:xfrm>
            <a:off x="257498" y="46342"/>
            <a:ext cx="584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chemeClr val="lt1"/>
                </a:solidFill>
              </a:rPr>
              <a:t>思考に使う論理の3つの類型</a:t>
            </a:r>
            <a:endParaRPr b="1" sz="2400">
              <a:solidFill>
                <a:schemeClr val="lt1"/>
              </a:solidFill>
            </a:endParaRPr>
          </a:p>
        </p:txBody>
      </p:sp>
      <p:sp>
        <p:nvSpPr>
          <p:cNvPr id="664" name="Google Shape;664;p147"/>
          <p:cNvSpPr txBox="1"/>
          <p:nvPr/>
        </p:nvSpPr>
        <p:spPr>
          <a:xfrm>
            <a:off x="493875" y="148357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具体と抽象を言い換える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65" name="Google Shape;665;p147"/>
          <p:cNvSpPr txBox="1"/>
          <p:nvPr/>
        </p:nvSpPr>
        <p:spPr>
          <a:xfrm>
            <a:off x="765225" y="1778350"/>
            <a:ext cx="1407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FCBC05"/>
                </a:solidFill>
              </a:rPr>
              <a:t>言い換え</a:t>
            </a:r>
            <a:endParaRPr b="1" sz="2400">
              <a:solidFill>
                <a:srgbClr val="FCBC05"/>
              </a:solidFill>
            </a:endParaRPr>
          </a:p>
        </p:txBody>
      </p:sp>
      <p:sp>
        <p:nvSpPr>
          <p:cNvPr id="666" name="Google Shape;666;p147"/>
          <p:cNvSpPr txBox="1"/>
          <p:nvPr/>
        </p:nvSpPr>
        <p:spPr>
          <a:xfrm>
            <a:off x="3642500" y="148357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部分と全体を構造化する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67" name="Google Shape;667;p147"/>
          <p:cNvSpPr txBox="1"/>
          <p:nvPr/>
        </p:nvSpPr>
        <p:spPr>
          <a:xfrm>
            <a:off x="3968750" y="1778350"/>
            <a:ext cx="1300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FCBC05"/>
                </a:solidFill>
              </a:rPr>
              <a:t>構造化</a:t>
            </a:r>
            <a:endParaRPr b="1" sz="2400">
              <a:solidFill>
                <a:srgbClr val="FCBC05"/>
              </a:solidFill>
            </a:endParaRPr>
          </a:p>
        </p:txBody>
      </p:sp>
      <p:sp>
        <p:nvSpPr>
          <p:cNvPr id="668" name="Google Shape;668;p147"/>
          <p:cNvSpPr txBox="1"/>
          <p:nvPr/>
        </p:nvSpPr>
        <p:spPr>
          <a:xfrm>
            <a:off x="6680825" y="148357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原因と結果を関係づける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69" name="Google Shape;669;p147"/>
          <p:cNvSpPr txBox="1"/>
          <p:nvPr/>
        </p:nvSpPr>
        <p:spPr>
          <a:xfrm>
            <a:off x="6952175" y="1778350"/>
            <a:ext cx="1407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FCBC05"/>
                </a:solidFill>
              </a:rPr>
              <a:t>因果関係</a:t>
            </a:r>
            <a:endParaRPr b="1" sz="2400">
              <a:solidFill>
                <a:srgbClr val="FCBC05"/>
              </a:solidFill>
            </a:endParaRPr>
          </a:p>
        </p:txBody>
      </p:sp>
      <p:sp>
        <p:nvSpPr>
          <p:cNvPr id="670" name="Google Shape;670;p147"/>
          <p:cNvSpPr/>
          <p:nvPr/>
        </p:nvSpPr>
        <p:spPr>
          <a:xfrm>
            <a:off x="430925" y="2686293"/>
            <a:ext cx="2025000" cy="1751400"/>
          </a:xfrm>
          <a:prstGeom prst="triangle">
            <a:avLst>
              <a:gd fmla="val 50000" name="adj"/>
            </a:avLst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71" name="Google Shape;671;p147"/>
          <p:cNvCxnSpPr/>
          <p:nvPr/>
        </p:nvCxnSpPr>
        <p:spPr>
          <a:xfrm>
            <a:off x="928925" y="3694650"/>
            <a:ext cx="10290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672" name="Google Shape;672;p147"/>
          <p:cNvSpPr txBox="1"/>
          <p:nvPr/>
        </p:nvSpPr>
        <p:spPr>
          <a:xfrm>
            <a:off x="468125" y="3182250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FFFF"/>
                </a:solidFill>
              </a:rPr>
              <a:t>抽象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673" name="Google Shape;673;p147"/>
          <p:cNvSpPr txBox="1"/>
          <p:nvPr/>
        </p:nvSpPr>
        <p:spPr>
          <a:xfrm>
            <a:off x="468125" y="383072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FFFF"/>
                </a:solidFill>
              </a:rPr>
              <a:t>具体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674" name="Google Shape;674;p147"/>
          <p:cNvSpPr/>
          <p:nvPr/>
        </p:nvSpPr>
        <p:spPr>
          <a:xfrm>
            <a:off x="4194192" y="292012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全体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675" name="Google Shape;675;p147"/>
          <p:cNvSpPr/>
          <p:nvPr/>
        </p:nvSpPr>
        <p:spPr>
          <a:xfrm>
            <a:off x="4194192" y="407167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部分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676" name="Google Shape;676;p147"/>
          <p:cNvSpPr/>
          <p:nvPr/>
        </p:nvSpPr>
        <p:spPr>
          <a:xfrm>
            <a:off x="3243575" y="407167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部分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677" name="Google Shape;677;p147"/>
          <p:cNvSpPr/>
          <p:nvPr/>
        </p:nvSpPr>
        <p:spPr>
          <a:xfrm>
            <a:off x="5144829" y="407167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部分</a:t>
            </a:r>
            <a:endParaRPr b="1" sz="2000">
              <a:solidFill>
                <a:srgbClr val="FFFFFF"/>
              </a:solidFill>
            </a:endParaRPr>
          </a:p>
        </p:txBody>
      </p:sp>
      <p:cxnSp>
        <p:nvCxnSpPr>
          <p:cNvPr id="678" name="Google Shape;678;p147"/>
          <p:cNvCxnSpPr>
            <a:stCxn id="674" idx="2"/>
            <a:endCxn id="675" idx="0"/>
          </p:cNvCxnSpPr>
          <p:nvPr/>
        </p:nvCxnSpPr>
        <p:spPr>
          <a:xfrm>
            <a:off x="4618842" y="3317625"/>
            <a:ext cx="0" cy="7542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9" name="Google Shape;679;p147"/>
          <p:cNvCxnSpPr/>
          <p:nvPr/>
        </p:nvCxnSpPr>
        <p:spPr>
          <a:xfrm flipH="1" rot="10800000">
            <a:off x="3718775" y="3700125"/>
            <a:ext cx="1860300" cy="370800"/>
          </a:xfrm>
          <a:prstGeom prst="bentConnector3">
            <a:avLst>
              <a:gd fmla="val -32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" name="Google Shape;680;p147"/>
          <p:cNvCxnSpPr>
            <a:stCxn id="677" idx="0"/>
          </p:cNvCxnSpPr>
          <p:nvPr/>
        </p:nvCxnSpPr>
        <p:spPr>
          <a:xfrm rot="10800000">
            <a:off x="5569479" y="3698475"/>
            <a:ext cx="0" cy="3732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1" name="Google Shape;681;p147"/>
          <p:cNvSpPr txBox="1"/>
          <p:nvPr/>
        </p:nvSpPr>
        <p:spPr>
          <a:xfrm>
            <a:off x="7006363" y="2686312"/>
            <a:ext cx="1243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結果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682" name="Google Shape;682;p147"/>
          <p:cNvSpPr txBox="1"/>
          <p:nvPr/>
        </p:nvSpPr>
        <p:spPr>
          <a:xfrm>
            <a:off x="6599175" y="3953757"/>
            <a:ext cx="1026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原因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683" name="Google Shape;683;p147"/>
          <p:cNvSpPr txBox="1"/>
          <p:nvPr/>
        </p:nvSpPr>
        <p:spPr>
          <a:xfrm>
            <a:off x="7687065" y="3953757"/>
            <a:ext cx="1026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原因</a:t>
            </a:r>
            <a:endParaRPr b="1" sz="2000">
              <a:solidFill>
                <a:srgbClr val="FFFFFF"/>
              </a:solidFill>
            </a:endParaRPr>
          </a:p>
        </p:txBody>
      </p:sp>
      <p:cxnSp>
        <p:nvCxnSpPr>
          <p:cNvPr id="684" name="Google Shape;684;p147"/>
          <p:cNvCxnSpPr/>
          <p:nvPr/>
        </p:nvCxnSpPr>
        <p:spPr>
          <a:xfrm flipH="1" rot="10800000">
            <a:off x="7153902" y="3282255"/>
            <a:ext cx="412800" cy="7146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5" name="Google Shape;685;p147"/>
          <p:cNvSpPr/>
          <p:nvPr/>
        </p:nvSpPr>
        <p:spPr>
          <a:xfrm rot="7758649">
            <a:off x="7004042" y="2373314"/>
            <a:ext cx="1129865" cy="1272006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86" name="Google Shape;686;p147"/>
          <p:cNvCxnSpPr/>
          <p:nvPr/>
        </p:nvCxnSpPr>
        <p:spPr>
          <a:xfrm rot="10800000">
            <a:off x="7731046" y="3282255"/>
            <a:ext cx="412800" cy="7146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7" name="Google Shape;687;p147"/>
          <p:cNvSpPr txBox="1"/>
          <p:nvPr/>
        </p:nvSpPr>
        <p:spPr>
          <a:xfrm>
            <a:off x="1141425" y="900000"/>
            <a:ext cx="655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FFFFFF"/>
                </a:solidFill>
              </a:rPr>
              <a:t>01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688" name="Google Shape;688;p147"/>
          <p:cNvSpPr txBox="1"/>
          <p:nvPr/>
        </p:nvSpPr>
        <p:spPr>
          <a:xfrm>
            <a:off x="4290050" y="900000"/>
            <a:ext cx="655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FFFFFF"/>
                </a:solidFill>
              </a:rPr>
              <a:t>02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689" name="Google Shape;689;p147"/>
          <p:cNvSpPr txBox="1"/>
          <p:nvPr/>
        </p:nvSpPr>
        <p:spPr>
          <a:xfrm>
            <a:off x="7328375" y="900000"/>
            <a:ext cx="655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FFFFFF"/>
                </a:solidFill>
              </a:rPr>
              <a:t>03</a:t>
            </a:r>
            <a:endParaRPr sz="3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47"/>
          <p:cNvSpPr txBox="1"/>
          <p:nvPr/>
        </p:nvSpPr>
        <p:spPr>
          <a:xfrm>
            <a:off x="257498" y="46342"/>
            <a:ext cx="584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chemeClr val="lt1"/>
                </a:solidFill>
              </a:rPr>
              <a:t>思考に使う論理の3つの類型</a:t>
            </a:r>
            <a:endParaRPr b="1" sz="2400">
              <a:solidFill>
                <a:schemeClr val="lt1"/>
              </a:solidFill>
            </a:endParaRPr>
          </a:p>
        </p:txBody>
      </p:sp>
      <p:sp>
        <p:nvSpPr>
          <p:cNvPr id="664" name="Google Shape;664;p147"/>
          <p:cNvSpPr txBox="1"/>
          <p:nvPr/>
        </p:nvSpPr>
        <p:spPr>
          <a:xfrm>
            <a:off x="493875" y="148357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具体と抽象を言い換える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65" name="Google Shape;665;p147"/>
          <p:cNvSpPr txBox="1"/>
          <p:nvPr/>
        </p:nvSpPr>
        <p:spPr>
          <a:xfrm>
            <a:off x="765225" y="1778350"/>
            <a:ext cx="1407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FCBC05"/>
                </a:solidFill>
              </a:rPr>
              <a:t>言い換え</a:t>
            </a:r>
            <a:endParaRPr b="1" sz="2400">
              <a:solidFill>
                <a:srgbClr val="FCBC05"/>
              </a:solidFill>
            </a:endParaRPr>
          </a:p>
        </p:txBody>
      </p:sp>
      <p:sp>
        <p:nvSpPr>
          <p:cNvPr id="666" name="Google Shape;666;p147"/>
          <p:cNvSpPr txBox="1"/>
          <p:nvPr/>
        </p:nvSpPr>
        <p:spPr>
          <a:xfrm>
            <a:off x="3642500" y="148357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部分と全体を構造化する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67" name="Google Shape;667;p147"/>
          <p:cNvSpPr txBox="1"/>
          <p:nvPr/>
        </p:nvSpPr>
        <p:spPr>
          <a:xfrm>
            <a:off x="3968750" y="1778350"/>
            <a:ext cx="1300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FCBC05"/>
                </a:solidFill>
              </a:rPr>
              <a:t>構造化</a:t>
            </a:r>
            <a:endParaRPr b="1" sz="2400">
              <a:solidFill>
                <a:srgbClr val="FCBC05"/>
              </a:solidFill>
            </a:endParaRPr>
          </a:p>
        </p:txBody>
      </p:sp>
      <p:sp>
        <p:nvSpPr>
          <p:cNvPr id="668" name="Google Shape;668;p147"/>
          <p:cNvSpPr txBox="1"/>
          <p:nvPr/>
        </p:nvSpPr>
        <p:spPr>
          <a:xfrm>
            <a:off x="6680825" y="148357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原因と結果を関係づける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69" name="Google Shape;669;p147"/>
          <p:cNvSpPr txBox="1"/>
          <p:nvPr/>
        </p:nvSpPr>
        <p:spPr>
          <a:xfrm>
            <a:off x="6952175" y="1778350"/>
            <a:ext cx="1407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FCBC05"/>
                </a:solidFill>
              </a:rPr>
              <a:t>因果関係</a:t>
            </a:r>
            <a:endParaRPr b="1" sz="2400">
              <a:solidFill>
                <a:srgbClr val="FCBC05"/>
              </a:solidFill>
            </a:endParaRPr>
          </a:p>
        </p:txBody>
      </p:sp>
      <p:sp>
        <p:nvSpPr>
          <p:cNvPr id="670" name="Google Shape;670;p147"/>
          <p:cNvSpPr/>
          <p:nvPr/>
        </p:nvSpPr>
        <p:spPr>
          <a:xfrm>
            <a:off x="430925" y="2686293"/>
            <a:ext cx="2025000" cy="1751400"/>
          </a:xfrm>
          <a:prstGeom prst="triangle">
            <a:avLst>
              <a:gd fmla="val 50000" name="adj"/>
            </a:avLst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71" name="Google Shape;671;p147"/>
          <p:cNvCxnSpPr/>
          <p:nvPr/>
        </p:nvCxnSpPr>
        <p:spPr>
          <a:xfrm>
            <a:off x="928925" y="3694650"/>
            <a:ext cx="10290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672" name="Google Shape;672;p147"/>
          <p:cNvSpPr txBox="1"/>
          <p:nvPr/>
        </p:nvSpPr>
        <p:spPr>
          <a:xfrm>
            <a:off x="468125" y="3182250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FFFF"/>
                </a:solidFill>
              </a:rPr>
              <a:t>抽象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673" name="Google Shape;673;p147"/>
          <p:cNvSpPr txBox="1"/>
          <p:nvPr/>
        </p:nvSpPr>
        <p:spPr>
          <a:xfrm>
            <a:off x="468125" y="383072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FFFF"/>
                </a:solidFill>
              </a:rPr>
              <a:t>具体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674" name="Google Shape;674;p147"/>
          <p:cNvSpPr/>
          <p:nvPr/>
        </p:nvSpPr>
        <p:spPr>
          <a:xfrm>
            <a:off x="4194192" y="292012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全体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675" name="Google Shape;675;p147"/>
          <p:cNvSpPr/>
          <p:nvPr/>
        </p:nvSpPr>
        <p:spPr>
          <a:xfrm>
            <a:off x="4194192" y="407167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部分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676" name="Google Shape;676;p147"/>
          <p:cNvSpPr/>
          <p:nvPr/>
        </p:nvSpPr>
        <p:spPr>
          <a:xfrm>
            <a:off x="3243575" y="407167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部分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677" name="Google Shape;677;p147"/>
          <p:cNvSpPr/>
          <p:nvPr/>
        </p:nvSpPr>
        <p:spPr>
          <a:xfrm>
            <a:off x="5144829" y="407167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部分</a:t>
            </a:r>
            <a:endParaRPr b="1" sz="2000">
              <a:solidFill>
                <a:srgbClr val="FFFFFF"/>
              </a:solidFill>
            </a:endParaRPr>
          </a:p>
        </p:txBody>
      </p:sp>
      <p:cxnSp>
        <p:nvCxnSpPr>
          <p:cNvPr id="678" name="Google Shape;678;p147"/>
          <p:cNvCxnSpPr>
            <a:stCxn id="674" idx="2"/>
            <a:endCxn id="675" idx="0"/>
          </p:cNvCxnSpPr>
          <p:nvPr/>
        </p:nvCxnSpPr>
        <p:spPr>
          <a:xfrm>
            <a:off x="4618842" y="3317625"/>
            <a:ext cx="0" cy="7542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9" name="Google Shape;679;p147"/>
          <p:cNvCxnSpPr/>
          <p:nvPr/>
        </p:nvCxnSpPr>
        <p:spPr>
          <a:xfrm flipH="1" rot="10800000">
            <a:off x="3718775" y="3700125"/>
            <a:ext cx="1860300" cy="370800"/>
          </a:xfrm>
          <a:prstGeom prst="bentConnector3">
            <a:avLst>
              <a:gd fmla="val -32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" name="Google Shape;680;p147"/>
          <p:cNvCxnSpPr>
            <a:stCxn id="677" idx="0"/>
          </p:cNvCxnSpPr>
          <p:nvPr/>
        </p:nvCxnSpPr>
        <p:spPr>
          <a:xfrm rot="10800000">
            <a:off x="5569479" y="3698475"/>
            <a:ext cx="0" cy="3732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1" name="Google Shape;681;p147"/>
          <p:cNvSpPr txBox="1"/>
          <p:nvPr/>
        </p:nvSpPr>
        <p:spPr>
          <a:xfrm>
            <a:off x="7006363" y="2686312"/>
            <a:ext cx="1243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結果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682" name="Google Shape;682;p147"/>
          <p:cNvSpPr txBox="1"/>
          <p:nvPr/>
        </p:nvSpPr>
        <p:spPr>
          <a:xfrm>
            <a:off x="6599175" y="3953757"/>
            <a:ext cx="1026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原因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683" name="Google Shape;683;p147"/>
          <p:cNvSpPr txBox="1"/>
          <p:nvPr/>
        </p:nvSpPr>
        <p:spPr>
          <a:xfrm>
            <a:off x="7687065" y="3953757"/>
            <a:ext cx="1026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原因</a:t>
            </a:r>
            <a:endParaRPr b="1" sz="2000">
              <a:solidFill>
                <a:srgbClr val="FFFFFF"/>
              </a:solidFill>
            </a:endParaRPr>
          </a:p>
        </p:txBody>
      </p:sp>
      <p:cxnSp>
        <p:nvCxnSpPr>
          <p:cNvPr id="684" name="Google Shape;684;p147"/>
          <p:cNvCxnSpPr/>
          <p:nvPr/>
        </p:nvCxnSpPr>
        <p:spPr>
          <a:xfrm flipH="1" rot="10800000">
            <a:off x="7153902" y="3282255"/>
            <a:ext cx="412800" cy="7146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5" name="Google Shape;685;p147"/>
          <p:cNvSpPr/>
          <p:nvPr/>
        </p:nvSpPr>
        <p:spPr>
          <a:xfrm rot="7758649">
            <a:off x="7004042" y="2373314"/>
            <a:ext cx="1129865" cy="1272006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86" name="Google Shape;686;p147"/>
          <p:cNvCxnSpPr/>
          <p:nvPr/>
        </p:nvCxnSpPr>
        <p:spPr>
          <a:xfrm rot="10800000">
            <a:off x="7731046" y="3282255"/>
            <a:ext cx="412800" cy="7146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7" name="Google Shape;687;p147"/>
          <p:cNvSpPr txBox="1"/>
          <p:nvPr/>
        </p:nvSpPr>
        <p:spPr>
          <a:xfrm>
            <a:off x="1141425" y="900000"/>
            <a:ext cx="655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FFFFFF"/>
                </a:solidFill>
              </a:rPr>
              <a:t>01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688" name="Google Shape;688;p147"/>
          <p:cNvSpPr txBox="1"/>
          <p:nvPr/>
        </p:nvSpPr>
        <p:spPr>
          <a:xfrm>
            <a:off x="4290050" y="900000"/>
            <a:ext cx="655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FFFFFF"/>
                </a:solidFill>
              </a:rPr>
              <a:t>02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689" name="Google Shape;689;p147"/>
          <p:cNvSpPr txBox="1"/>
          <p:nvPr/>
        </p:nvSpPr>
        <p:spPr>
          <a:xfrm>
            <a:off x="7328375" y="900000"/>
            <a:ext cx="655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FFFFFF"/>
                </a:solidFill>
              </a:rPr>
              <a:t>03</a:t>
            </a:r>
            <a:endParaRPr sz="3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7" name="Google Shape;1487;p221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0" y="21521"/>
            <a:ext cx="9167482" cy="51434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88" name="Google Shape;1488;p221"/>
          <p:cNvGraphicFramePr/>
          <p:nvPr/>
        </p:nvGraphicFramePr>
        <p:xfrm>
          <a:off x="1066838" y="9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2658675"/>
                <a:gridCol w="4447150"/>
              </a:tblGrid>
              <a:tr h="70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コーチング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コンテキストシフト（背景の書き換え）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コンサルティング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本質課題の特定とコンテンツの転送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ティーチング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コンテンツの転送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トレーニング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スキーマ（学びの型）の転送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ファシリテーション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場とプロセスのデザイン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89" name="Google Shape;1489;p221"/>
          <p:cNvSpPr txBox="1"/>
          <p:nvPr/>
        </p:nvSpPr>
        <p:spPr>
          <a:xfrm>
            <a:off x="216350" y="0"/>
            <a:ext cx="88068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lt1"/>
                </a:solidFill>
              </a:rPr>
              <a:t>5つの手法の区別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7" name="Google Shape;1487;p221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0" y="21521"/>
            <a:ext cx="9167482" cy="51434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88" name="Google Shape;1488;p221"/>
          <p:cNvGraphicFramePr/>
          <p:nvPr/>
        </p:nvGraphicFramePr>
        <p:xfrm>
          <a:off x="1066838" y="9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2658675"/>
                <a:gridCol w="4447150"/>
              </a:tblGrid>
              <a:tr h="70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コーチング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コンテキストシフト（背景の書き換え）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コンサルティング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本質課題の特定とコンテンツの転送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ティーチング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コンテンツの転送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トレーニング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スキーマ（学びの型）の転送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ファシリテーション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場とプロセスのデザイン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89" name="Google Shape;1489;p221"/>
          <p:cNvSpPr txBox="1"/>
          <p:nvPr/>
        </p:nvSpPr>
        <p:spPr>
          <a:xfrm>
            <a:off x="216350" y="0"/>
            <a:ext cx="88068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lt1"/>
                </a:solidFill>
              </a:rPr>
              <a:t>5つの手法の区別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146"/>
          <p:cNvSpPr txBox="1"/>
          <p:nvPr/>
        </p:nvSpPr>
        <p:spPr>
          <a:xfrm>
            <a:off x="257498" y="46342"/>
            <a:ext cx="584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1F3656"/>
                </a:solidFill>
              </a:rPr>
              <a:t>Key Message</a:t>
            </a:r>
            <a:endParaRPr b="1" sz="2400">
              <a:solidFill>
                <a:srgbClr val="1F3656"/>
              </a:solidFill>
            </a:endParaRPr>
          </a:p>
        </p:txBody>
      </p:sp>
      <p:sp>
        <p:nvSpPr>
          <p:cNvPr id="658" name="Google Shape;658;p146"/>
          <p:cNvSpPr txBox="1"/>
          <p:nvPr/>
        </p:nvSpPr>
        <p:spPr>
          <a:xfrm>
            <a:off x="257501" y="1384950"/>
            <a:ext cx="86847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適応課題は「正しい答え」ではなく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「正しいプロセス」を問う。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リーダーの仕事は答えを与えることではなく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学習の場をデザインすることである。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/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146"/>
          <p:cNvSpPr txBox="1"/>
          <p:nvPr/>
        </p:nvSpPr>
        <p:spPr>
          <a:xfrm>
            <a:off x="257498" y="46342"/>
            <a:ext cx="584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1F3656"/>
                </a:solidFill>
              </a:rPr>
              <a:t>Key Message</a:t>
            </a:r>
            <a:endParaRPr b="1" sz="2400">
              <a:solidFill>
                <a:srgbClr val="1F3656"/>
              </a:solidFill>
            </a:endParaRPr>
          </a:p>
        </p:txBody>
      </p:sp>
      <p:sp>
        <p:nvSpPr>
          <p:cNvPr id="658" name="Google Shape;658;p146"/>
          <p:cNvSpPr txBox="1"/>
          <p:nvPr/>
        </p:nvSpPr>
        <p:spPr>
          <a:xfrm>
            <a:off x="257501" y="1384950"/>
            <a:ext cx="86847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適応課題は「正しい答え」ではなく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「正しいプロセス」を問う。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リーダーの仕事は答えを与えることではなく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学習の場をデザインすることである。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/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0" name="Google Shape;810;p159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1737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159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あなたが今直面している課題は</a:t>
            </a:r>
            <a:endParaRPr sz="22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ja" sz="1400"/>
              <a:t>技術的問題ですか？</a:t>
            </a:r>
            <a:endParaRPr b="0" sz="14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ja" sz="1400"/>
              <a:t>それとも適応課題ですか？</a:t>
            </a:r>
            <a:endParaRPr b="0" sz="1400"/>
          </a:p>
        </p:txBody>
      </p:sp>
      <p:sp>
        <p:nvSpPr>
          <p:cNvPr id="812" name="Google Shape;812;p159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Question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0" name="Google Shape;810;p159" title="スクリーンショット 2025-11-08 22.49.24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1737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159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あなたが今直面している課題は</a:t>
            </a:r>
            <a:endParaRPr sz="22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ja" sz="1400"/>
              <a:t>技術的問題ですか？</a:t>
            </a:r>
            <a:endParaRPr b="0" sz="14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ja" sz="1400"/>
              <a:t>それとも適応課題ですか？</a:t>
            </a:r>
            <a:endParaRPr b="0" sz="1400"/>
          </a:p>
        </p:txBody>
      </p:sp>
      <p:sp>
        <p:nvSpPr>
          <p:cNvPr id="812" name="Google Shape;812;p159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Question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0" name="Google Shape;810;p159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737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159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組織の成長を引き止める根本原因は何ですか？</a:t>
            </a:r>
            <a:endParaRPr sz="22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ja" sz="1400"/>
              <a:t>※どの組織・個人にも共通する普遍の適応課題</a:t>
            </a:r>
            <a:endParaRPr b="0" sz="1400"/>
          </a:p>
        </p:txBody>
      </p:sp>
      <p:sp>
        <p:nvSpPr>
          <p:cNvPr id="812" name="Google Shape;812;p159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Question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7" name="Google Shape;817;p160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160"/>
          <p:cNvSpPr txBox="1"/>
          <p:nvPr>
            <p:ph type="title"/>
          </p:nvPr>
        </p:nvSpPr>
        <p:spPr>
          <a:xfrm>
            <a:off x="579075" y="824250"/>
            <a:ext cx="7806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株式会社の普遍の矛盾</a:t>
            </a:r>
            <a:endParaRPr/>
          </a:p>
        </p:txBody>
      </p:sp>
      <p:sp>
        <p:nvSpPr>
          <p:cNvPr id="819" name="Google Shape;819;p160"/>
          <p:cNvSpPr txBox="1"/>
          <p:nvPr>
            <p:ph idx="1" type="body"/>
          </p:nvPr>
        </p:nvSpPr>
        <p:spPr>
          <a:xfrm>
            <a:off x="655275" y="2153550"/>
            <a:ext cx="7768800" cy="25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/>
              <a:t>①市場の本能</a:t>
            </a:r>
            <a:endParaRPr b="1" sz="22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/>
              <a:t>②事業の本能</a:t>
            </a:r>
            <a:endParaRPr b="1" sz="22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2200"/>
              <a:t>③組織の本能</a:t>
            </a:r>
            <a:endParaRPr b="1" sz="2200"/>
          </a:p>
        </p:txBody>
      </p:sp>
      <p:cxnSp>
        <p:nvCxnSpPr>
          <p:cNvPr id="820" name="Google Shape;820;p160"/>
          <p:cNvCxnSpPr/>
          <p:nvPr/>
        </p:nvCxnSpPr>
        <p:spPr>
          <a:xfrm>
            <a:off x="301300" y="1797004"/>
            <a:ext cx="85116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5" name="Google Shape;825;p161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161"/>
          <p:cNvSpPr txBox="1"/>
          <p:nvPr>
            <p:ph type="title"/>
          </p:nvPr>
        </p:nvSpPr>
        <p:spPr>
          <a:xfrm>
            <a:off x="579075" y="824250"/>
            <a:ext cx="7806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株式会社の普遍の矛盾</a:t>
            </a:r>
            <a:endParaRPr/>
          </a:p>
        </p:txBody>
      </p:sp>
      <p:sp>
        <p:nvSpPr>
          <p:cNvPr id="827" name="Google Shape;827;p161"/>
          <p:cNvSpPr txBox="1"/>
          <p:nvPr>
            <p:ph idx="1" type="body"/>
          </p:nvPr>
        </p:nvSpPr>
        <p:spPr>
          <a:xfrm>
            <a:off x="655275" y="2153550"/>
            <a:ext cx="7768800" cy="25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/>
              <a:t>①市場の本能：変わる</a:t>
            </a:r>
            <a:endParaRPr b="1" sz="22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/>
              <a:t>②事業の本能：利益の最大化</a:t>
            </a:r>
            <a:endParaRPr b="1" sz="22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2200"/>
              <a:t>③組織の本能：変わりたくない</a:t>
            </a:r>
            <a:endParaRPr b="1" sz="2200"/>
          </a:p>
        </p:txBody>
      </p:sp>
      <p:cxnSp>
        <p:nvCxnSpPr>
          <p:cNvPr id="828" name="Google Shape;828;p161"/>
          <p:cNvCxnSpPr/>
          <p:nvPr/>
        </p:nvCxnSpPr>
        <p:spPr>
          <a:xfrm>
            <a:off x="301300" y="1797004"/>
            <a:ext cx="85116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162"/>
          <p:cNvSpPr txBox="1"/>
          <p:nvPr/>
        </p:nvSpPr>
        <p:spPr>
          <a:xfrm>
            <a:off x="0" y="2287050"/>
            <a:ext cx="9144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chemeClr val="lt1"/>
                </a:solidFill>
              </a:rPr>
              <a:t>事業戦略に対して組織戦力が劣ってしまう</a:t>
            </a:r>
            <a:endParaRPr b="1"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163"/>
          <p:cNvSpPr txBox="1"/>
          <p:nvPr>
            <p:ph type="title"/>
          </p:nvPr>
        </p:nvSpPr>
        <p:spPr>
          <a:xfrm>
            <a:off x="959477" y="201321"/>
            <a:ext cx="7886700" cy="398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Century Gothic"/>
              <a:buNone/>
            </a:pPr>
            <a:r>
              <a:rPr lang="ja">
                <a:latin typeface="Arial"/>
                <a:ea typeface="Arial"/>
                <a:cs typeface="Arial"/>
                <a:sym typeface="Arial"/>
              </a:rPr>
              <a:t>普遍的な問題が生まれる市場の構造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163"/>
          <p:cNvSpPr/>
          <p:nvPr/>
        </p:nvSpPr>
        <p:spPr>
          <a:xfrm>
            <a:off x="814775" y="2508525"/>
            <a:ext cx="1027800" cy="985200"/>
          </a:xfrm>
          <a:prstGeom prst="ellipse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現在地</a:t>
            </a:r>
            <a:endParaRPr b="1">
              <a:solidFill>
                <a:srgbClr val="FFFFFF"/>
              </a:solidFill>
              <a:latin typeface="Zen Kaku Gothic New"/>
              <a:ea typeface="Zen Kaku Gothic New"/>
              <a:cs typeface="Zen Kaku Gothic New"/>
              <a:sym typeface="Zen Kaku Gothic New"/>
            </a:endParaRPr>
          </a:p>
        </p:txBody>
      </p:sp>
      <p:sp>
        <p:nvSpPr>
          <p:cNvPr id="840" name="Google Shape;840;p163"/>
          <p:cNvSpPr/>
          <p:nvPr/>
        </p:nvSpPr>
        <p:spPr>
          <a:xfrm>
            <a:off x="632975" y="3621425"/>
            <a:ext cx="1391400" cy="4311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Zen Kaku Gothic New Medium"/>
                <a:ea typeface="Zen Kaku Gothic New Medium"/>
                <a:cs typeface="Zen Kaku Gothic New Medium"/>
                <a:sym typeface="Zen Kaku Gothic New Medium"/>
              </a:rPr>
              <a:t>戦略</a:t>
            </a:r>
            <a:endParaRPr sz="1500">
              <a:solidFill>
                <a:srgbClr val="000000"/>
              </a:solidFill>
              <a:latin typeface="Zen Kaku Gothic New Medium"/>
              <a:ea typeface="Zen Kaku Gothic New Medium"/>
              <a:cs typeface="Zen Kaku Gothic New Medium"/>
              <a:sym typeface="Zen Kaku Gothic New Medium"/>
            </a:endParaRPr>
          </a:p>
        </p:txBody>
      </p:sp>
      <p:sp>
        <p:nvSpPr>
          <p:cNvPr id="841" name="Google Shape;841;p163"/>
          <p:cNvSpPr/>
          <p:nvPr/>
        </p:nvSpPr>
        <p:spPr>
          <a:xfrm>
            <a:off x="632975" y="4135125"/>
            <a:ext cx="1391400" cy="4311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Zen Kaku Gothic New Medium"/>
                <a:ea typeface="Zen Kaku Gothic New Medium"/>
                <a:cs typeface="Zen Kaku Gothic New Medium"/>
                <a:sym typeface="Zen Kaku Gothic New Medium"/>
              </a:rPr>
              <a:t>組織戦力</a:t>
            </a:r>
            <a:endParaRPr sz="1500">
              <a:solidFill>
                <a:srgbClr val="000000"/>
              </a:solidFill>
              <a:latin typeface="Zen Kaku Gothic New Medium"/>
              <a:ea typeface="Zen Kaku Gothic New Medium"/>
              <a:cs typeface="Zen Kaku Gothic New Medium"/>
              <a:sym typeface="Zen Kaku Gothic New Medium"/>
            </a:endParaRPr>
          </a:p>
        </p:txBody>
      </p:sp>
      <p:sp>
        <p:nvSpPr>
          <p:cNvPr id="842" name="Google Shape;842;p163"/>
          <p:cNvSpPr/>
          <p:nvPr/>
        </p:nvSpPr>
        <p:spPr>
          <a:xfrm>
            <a:off x="3855913" y="1750625"/>
            <a:ext cx="1027800" cy="985200"/>
          </a:xfrm>
          <a:prstGeom prst="ellipse">
            <a:avLst/>
          </a:prstGeom>
          <a:solidFill>
            <a:srgbClr val="BECB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GOAL</a:t>
            </a:r>
            <a:endParaRPr b="1">
              <a:solidFill>
                <a:srgbClr val="FFFFFF"/>
              </a:solidFill>
              <a:latin typeface="Zen Kaku Gothic New"/>
              <a:ea typeface="Zen Kaku Gothic New"/>
              <a:cs typeface="Zen Kaku Gothic New"/>
              <a:sym typeface="Zen Kaku Gothic New"/>
            </a:endParaRPr>
          </a:p>
        </p:txBody>
      </p:sp>
      <p:sp>
        <p:nvSpPr>
          <p:cNvPr id="843" name="Google Shape;843;p163"/>
          <p:cNvSpPr/>
          <p:nvPr/>
        </p:nvSpPr>
        <p:spPr>
          <a:xfrm>
            <a:off x="3674113" y="2895375"/>
            <a:ext cx="1391400" cy="431100"/>
          </a:xfrm>
          <a:prstGeom prst="roundRect">
            <a:avLst>
              <a:gd fmla="val 16667" name="adj"/>
            </a:avLst>
          </a:prstGeom>
          <a:solidFill>
            <a:srgbClr val="BECBDE">
              <a:alpha val="34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Zen Kaku Gothic New Medium"/>
                <a:ea typeface="Zen Kaku Gothic New Medium"/>
                <a:cs typeface="Zen Kaku Gothic New Medium"/>
                <a:sym typeface="Zen Kaku Gothic New Medium"/>
              </a:rPr>
              <a:t>戦略</a:t>
            </a:r>
            <a:endParaRPr sz="1500">
              <a:solidFill>
                <a:srgbClr val="000000"/>
              </a:solidFill>
              <a:latin typeface="Zen Kaku Gothic New Medium"/>
              <a:ea typeface="Zen Kaku Gothic New Medium"/>
              <a:cs typeface="Zen Kaku Gothic New Medium"/>
              <a:sym typeface="Zen Kaku Gothic New Medium"/>
            </a:endParaRPr>
          </a:p>
        </p:txBody>
      </p:sp>
      <p:sp>
        <p:nvSpPr>
          <p:cNvPr id="844" name="Google Shape;844;p163"/>
          <p:cNvSpPr/>
          <p:nvPr/>
        </p:nvSpPr>
        <p:spPr>
          <a:xfrm>
            <a:off x="7078850" y="1126450"/>
            <a:ext cx="1027800" cy="985200"/>
          </a:xfrm>
          <a:prstGeom prst="ellipse">
            <a:avLst/>
          </a:prstGeom>
          <a:gradFill>
            <a:gsLst>
              <a:gs pos="0">
                <a:srgbClr val="434B76"/>
              </a:gs>
              <a:gs pos="100000">
                <a:srgbClr val="1F3656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GOAL</a:t>
            </a:r>
            <a:endParaRPr b="1">
              <a:solidFill>
                <a:srgbClr val="FFFFFF"/>
              </a:solidFill>
              <a:latin typeface="Zen Kaku Gothic New"/>
              <a:ea typeface="Zen Kaku Gothic New"/>
              <a:cs typeface="Zen Kaku Gothic New"/>
              <a:sym typeface="Zen Kaku Gothic New"/>
            </a:endParaRPr>
          </a:p>
        </p:txBody>
      </p:sp>
      <p:sp>
        <p:nvSpPr>
          <p:cNvPr id="845" name="Google Shape;845;p163"/>
          <p:cNvSpPr/>
          <p:nvPr/>
        </p:nvSpPr>
        <p:spPr>
          <a:xfrm>
            <a:off x="6897050" y="2249375"/>
            <a:ext cx="1391400" cy="431100"/>
          </a:xfrm>
          <a:prstGeom prst="roundRect">
            <a:avLst>
              <a:gd fmla="val 16667" name="adj"/>
            </a:avLst>
          </a:prstGeom>
          <a:solidFill>
            <a:srgbClr val="BECBDE">
              <a:alpha val="348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Zen Kaku Gothic New Medium"/>
                <a:ea typeface="Zen Kaku Gothic New Medium"/>
                <a:cs typeface="Zen Kaku Gothic New Medium"/>
                <a:sym typeface="Zen Kaku Gothic New Medium"/>
              </a:rPr>
              <a:t>戦略</a:t>
            </a:r>
            <a:endParaRPr sz="1500">
              <a:solidFill>
                <a:srgbClr val="000000"/>
              </a:solidFill>
              <a:latin typeface="Zen Kaku Gothic New Medium"/>
              <a:ea typeface="Zen Kaku Gothic New Medium"/>
              <a:cs typeface="Zen Kaku Gothic New Medium"/>
              <a:sym typeface="Zen Kaku Gothic New Medium"/>
            </a:endParaRPr>
          </a:p>
        </p:txBody>
      </p:sp>
      <p:cxnSp>
        <p:nvCxnSpPr>
          <p:cNvPr id="846" name="Google Shape;846;p163"/>
          <p:cNvCxnSpPr/>
          <p:nvPr/>
        </p:nvCxnSpPr>
        <p:spPr>
          <a:xfrm flipH="1" rot="10800000">
            <a:off x="2157600" y="3127900"/>
            <a:ext cx="1392600" cy="660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7" name="Google Shape;847;p163"/>
          <p:cNvSpPr txBox="1"/>
          <p:nvPr/>
        </p:nvSpPr>
        <p:spPr>
          <a:xfrm>
            <a:off x="1944750" y="2489350"/>
            <a:ext cx="162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GOALに合わせた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戦術変化</a:t>
            </a:r>
            <a:endParaRPr b="1"/>
          </a:p>
        </p:txBody>
      </p:sp>
      <p:sp>
        <p:nvSpPr>
          <p:cNvPr id="848" name="Google Shape;848;p163"/>
          <p:cNvSpPr/>
          <p:nvPr/>
        </p:nvSpPr>
        <p:spPr>
          <a:xfrm>
            <a:off x="3674113" y="4135125"/>
            <a:ext cx="1391400" cy="431100"/>
          </a:xfrm>
          <a:prstGeom prst="roundRect">
            <a:avLst>
              <a:gd fmla="val 16667" name="adj"/>
            </a:avLst>
          </a:prstGeom>
          <a:solidFill>
            <a:srgbClr val="BECBDE">
              <a:alpha val="34810"/>
            </a:srgbClr>
          </a:solidFill>
          <a:ln cap="flat" cmpd="sng" w="9525">
            <a:solidFill>
              <a:srgbClr val="1F365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Zen Kaku Gothic New Medium"/>
                <a:ea typeface="Zen Kaku Gothic New Medium"/>
                <a:cs typeface="Zen Kaku Gothic New Medium"/>
                <a:sym typeface="Zen Kaku Gothic New Medium"/>
              </a:rPr>
              <a:t>組織戦力</a:t>
            </a:r>
            <a:endParaRPr sz="1500">
              <a:solidFill>
                <a:srgbClr val="000000"/>
              </a:solidFill>
              <a:latin typeface="Zen Kaku Gothic New Medium"/>
              <a:ea typeface="Zen Kaku Gothic New Medium"/>
              <a:cs typeface="Zen Kaku Gothic New Medium"/>
              <a:sym typeface="Zen Kaku Gothic New Medium"/>
            </a:endParaRPr>
          </a:p>
        </p:txBody>
      </p:sp>
      <p:cxnSp>
        <p:nvCxnSpPr>
          <p:cNvPr id="849" name="Google Shape;849;p163"/>
          <p:cNvCxnSpPr/>
          <p:nvPr/>
        </p:nvCxnSpPr>
        <p:spPr>
          <a:xfrm>
            <a:off x="4369825" y="3409350"/>
            <a:ext cx="0" cy="642900"/>
          </a:xfrm>
          <a:prstGeom prst="straightConnector1">
            <a:avLst/>
          </a:prstGeom>
          <a:noFill/>
          <a:ln cap="flat" cmpd="sng" w="9525">
            <a:solidFill>
              <a:srgbClr val="212121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850" name="Google Shape;850;p163"/>
          <p:cNvSpPr txBox="1"/>
          <p:nvPr/>
        </p:nvSpPr>
        <p:spPr>
          <a:xfrm>
            <a:off x="2634175" y="3422988"/>
            <a:ext cx="162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1F3656"/>
                </a:solidFill>
              </a:rPr>
              <a:t>GAPが</a:t>
            </a:r>
            <a:endParaRPr b="1">
              <a:solidFill>
                <a:srgbClr val="1F365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1F3656"/>
                </a:solidFill>
              </a:rPr>
              <a:t>生まれる</a:t>
            </a:r>
            <a:endParaRPr b="1">
              <a:solidFill>
                <a:srgbClr val="1F3656"/>
              </a:solidFill>
            </a:endParaRPr>
          </a:p>
        </p:txBody>
      </p:sp>
      <p:sp>
        <p:nvSpPr>
          <p:cNvPr id="851" name="Google Shape;851;p163"/>
          <p:cNvSpPr/>
          <p:nvPr/>
        </p:nvSpPr>
        <p:spPr>
          <a:xfrm>
            <a:off x="6897038" y="4135125"/>
            <a:ext cx="1391400" cy="431100"/>
          </a:xfrm>
          <a:prstGeom prst="roundRect">
            <a:avLst>
              <a:gd fmla="val 16667" name="adj"/>
            </a:avLst>
          </a:prstGeom>
          <a:solidFill>
            <a:srgbClr val="BECBDE">
              <a:alpha val="34810"/>
            </a:srgbClr>
          </a:solidFill>
          <a:ln cap="flat" cmpd="sng" w="9525">
            <a:solidFill>
              <a:srgbClr val="1F365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Zen Kaku Gothic New Medium"/>
                <a:ea typeface="Zen Kaku Gothic New Medium"/>
                <a:cs typeface="Zen Kaku Gothic New Medium"/>
                <a:sym typeface="Zen Kaku Gothic New Medium"/>
              </a:rPr>
              <a:t>組織戦力</a:t>
            </a:r>
            <a:endParaRPr sz="1500">
              <a:solidFill>
                <a:srgbClr val="000000"/>
              </a:solidFill>
              <a:latin typeface="Zen Kaku Gothic New Medium"/>
              <a:ea typeface="Zen Kaku Gothic New Medium"/>
              <a:cs typeface="Zen Kaku Gothic New Medium"/>
              <a:sym typeface="Zen Kaku Gothic New Medium"/>
            </a:endParaRPr>
          </a:p>
        </p:txBody>
      </p:sp>
      <p:cxnSp>
        <p:nvCxnSpPr>
          <p:cNvPr id="852" name="Google Shape;852;p163"/>
          <p:cNvCxnSpPr/>
          <p:nvPr/>
        </p:nvCxnSpPr>
        <p:spPr>
          <a:xfrm>
            <a:off x="7592750" y="2821150"/>
            <a:ext cx="0" cy="1173300"/>
          </a:xfrm>
          <a:prstGeom prst="straightConnector1">
            <a:avLst/>
          </a:prstGeom>
          <a:noFill/>
          <a:ln cap="flat" cmpd="sng" w="9525">
            <a:solidFill>
              <a:srgbClr val="212121"/>
            </a:solidFill>
            <a:prstDash val="dash"/>
            <a:round/>
            <a:headEnd len="med" w="med" type="triangle"/>
            <a:tailEnd len="med" w="med" type="triangle"/>
          </a:ln>
        </p:spPr>
      </p:cxnSp>
      <p:cxnSp>
        <p:nvCxnSpPr>
          <p:cNvPr id="853" name="Google Shape;853;p163"/>
          <p:cNvCxnSpPr/>
          <p:nvPr/>
        </p:nvCxnSpPr>
        <p:spPr>
          <a:xfrm flipH="1" rot="10800000">
            <a:off x="5284975" y="2436400"/>
            <a:ext cx="1392600" cy="660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4" name="Google Shape;854;p163"/>
          <p:cNvSpPr txBox="1"/>
          <p:nvPr/>
        </p:nvSpPr>
        <p:spPr>
          <a:xfrm>
            <a:off x="5872163" y="3129988"/>
            <a:ext cx="162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1F3656"/>
                </a:solidFill>
              </a:rPr>
              <a:t>さらなる</a:t>
            </a:r>
            <a:endParaRPr b="1">
              <a:solidFill>
                <a:srgbClr val="1F365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1F3656"/>
                </a:solidFill>
              </a:rPr>
              <a:t>GAPが生まれる</a:t>
            </a:r>
            <a:endParaRPr b="1">
              <a:solidFill>
                <a:srgbClr val="1F3656"/>
              </a:solidFill>
            </a:endParaRPr>
          </a:p>
        </p:txBody>
      </p:sp>
      <p:sp>
        <p:nvSpPr>
          <p:cNvPr id="855" name="Google Shape;855;p163"/>
          <p:cNvSpPr txBox="1"/>
          <p:nvPr/>
        </p:nvSpPr>
        <p:spPr>
          <a:xfrm>
            <a:off x="5076788" y="1787200"/>
            <a:ext cx="162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GOALに合わせた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戦術変化</a:t>
            </a:r>
            <a:endParaRPr b="1"/>
          </a:p>
        </p:txBody>
      </p:sp>
      <p:cxnSp>
        <p:nvCxnSpPr>
          <p:cNvPr id="856" name="Google Shape;856;p163"/>
          <p:cNvCxnSpPr/>
          <p:nvPr/>
        </p:nvCxnSpPr>
        <p:spPr>
          <a:xfrm>
            <a:off x="2236200" y="4365950"/>
            <a:ext cx="1226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7" name="Google Shape;857;p163"/>
          <p:cNvCxnSpPr/>
          <p:nvPr/>
        </p:nvCxnSpPr>
        <p:spPr>
          <a:xfrm>
            <a:off x="5368238" y="4350675"/>
            <a:ext cx="1226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164"/>
          <p:cNvSpPr txBox="1"/>
          <p:nvPr/>
        </p:nvSpPr>
        <p:spPr>
          <a:xfrm>
            <a:off x="0" y="1804775"/>
            <a:ext cx="9144000" cy="21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chemeClr val="lt1"/>
                </a:solidFill>
              </a:rPr>
              <a:t>事業計画は合理的に計画できるが</a:t>
            </a:r>
            <a:endParaRPr b="1" sz="2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chemeClr val="lt1"/>
                </a:solidFill>
              </a:rPr>
              <a:t>組織は合理的に動かない</a:t>
            </a:r>
            <a:endParaRPr b="1" sz="2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600">
                <a:solidFill>
                  <a:schemeClr val="lt1"/>
                </a:solidFill>
              </a:rPr>
              <a:t>※そもそも事業のGOALを達成する為に必要な組織戦略が計画されていない</a:t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165"/>
          <p:cNvSpPr txBox="1"/>
          <p:nvPr/>
        </p:nvSpPr>
        <p:spPr>
          <a:xfrm>
            <a:off x="0" y="1998450"/>
            <a:ext cx="9144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lt1"/>
              </a:solidFill>
            </a:endParaRPr>
          </a:p>
        </p:txBody>
      </p:sp>
      <p:sp>
        <p:nvSpPr>
          <p:cNvPr id="868" name="Google Shape;868;p165"/>
          <p:cNvSpPr txBox="1"/>
          <p:nvPr/>
        </p:nvSpPr>
        <p:spPr>
          <a:xfrm>
            <a:off x="0" y="2171550"/>
            <a:ext cx="9144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事業 ≒ 組織</a:t>
            </a:r>
            <a:endParaRPr sz="4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3" name="Google Shape;873;p166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4" name="Google Shape;874;p166"/>
          <p:cNvCxnSpPr/>
          <p:nvPr/>
        </p:nvCxnSpPr>
        <p:spPr>
          <a:xfrm>
            <a:off x="4572310" y="919553"/>
            <a:ext cx="900" cy="32844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875" name="Google Shape;875;p166"/>
          <p:cNvSpPr txBox="1"/>
          <p:nvPr/>
        </p:nvSpPr>
        <p:spPr>
          <a:xfrm>
            <a:off x="3297147" y="574850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ja" sz="1500">
                <a:solidFill>
                  <a:srgbClr val="FFFFFF"/>
                </a:solidFill>
              </a:rPr>
              <a:t>新規事業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6" name="Google Shape;876;p166"/>
          <p:cNvCxnSpPr/>
          <p:nvPr/>
        </p:nvCxnSpPr>
        <p:spPr>
          <a:xfrm>
            <a:off x="581075" y="2592825"/>
            <a:ext cx="79734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877" name="Google Shape;877;p166"/>
          <p:cNvSpPr txBox="1"/>
          <p:nvPr/>
        </p:nvSpPr>
        <p:spPr>
          <a:xfrm>
            <a:off x="3297897" y="4341400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ja" sz="1500">
                <a:solidFill>
                  <a:srgbClr val="FFFFFF"/>
                </a:solidFill>
              </a:rPr>
              <a:t>既存事業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166"/>
          <p:cNvSpPr txBox="1"/>
          <p:nvPr/>
        </p:nvSpPr>
        <p:spPr>
          <a:xfrm>
            <a:off x="11098" y="2458125"/>
            <a:ext cx="7920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ja" sz="1500">
                <a:solidFill>
                  <a:srgbClr val="FFFFFF"/>
                </a:solidFill>
              </a:rPr>
              <a:t>個人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166"/>
          <p:cNvSpPr txBox="1"/>
          <p:nvPr/>
        </p:nvSpPr>
        <p:spPr>
          <a:xfrm>
            <a:off x="8322850" y="2458125"/>
            <a:ext cx="8778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ja" sz="1500">
                <a:solidFill>
                  <a:srgbClr val="FFFFFF"/>
                </a:solidFill>
              </a:rPr>
              <a:t>組織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166"/>
          <p:cNvSpPr txBox="1"/>
          <p:nvPr/>
        </p:nvSpPr>
        <p:spPr>
          <a:xfrm>
            <a:off x="5019250" y="3148550"/>
            <a:ext cx="33036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ja" sz="2400">
                <a:solidFill>
                  <a:srgbClr val="FFFFFF"/>
                </a:solidFill>
              </a:rPr>
              <a:t>マネージャー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166"/>
          <p:cNvSpPr txBox="1"/>
          <p:nvPr/>
        </p:nvSpPr>
        <p:spPr>
          <a:xfrm>
            <a:off x="822650" y="3257900"/>
            <a:ext cx="33036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ja" sz="2400">
                <a:solidFill>
                  <a:srgbClr val="FFFFFF"/>
                </a:solidFill>
              </a:rPr>
              <a:t>プレーヤー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166"/>
          <p:cNvSpPr txBox="1"/>
          <p:nvPr/>
        </p:nvSpPr>
        <p:spPr>
          <a:xfrm>
            <a:off x="822650" y="1454525"/>
            <a:ext cx="33036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ja" sz="2400">
                <a:solidFill>
                  <a:srgbClr val="FFFFFF"/>
                </a:solidFill>
              </a:rPr>
              <a:t>プロフェッショナル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166"/>
          <p:cNvSpPr txBox="1"/>
          <p:nvPr/>
        </p:nvSpPr>
        <p:spPr>
          <a:xfrm>
            <a:off x="5019250" y="1454538"/>
            <a:ext cx="33036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ja" sz="2400">
                <a:solidFill>
                  <a:srgbClr val="FFFFFF"/>
                </a:solidFill>
              </a:rPr>
              <a:t>チーフ x オフィサー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8" name="Google Shape;888;p167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167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Question</a:t>
            </a:r>
            <a:endParaRPr/>
          </a:p>
        </p:txBody>
      </p:sp>
      <p:sp>
        <p:nvSpPr>
          <p:cNvPr id="890" name="Google Shape;890;p167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何故、次世代リーダーの主体性が生まれないのか？</a:t>
            </a:r>
            <a:endParaRPr sz="22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168"/>
          <p:cNvSpPr/>
          <p:nvPr/>
        </p:nvSpPr>
        <p:spPr>
          <a:xfrm>
            <a:off x="-106050" y="12550"/>
            <a:ext cx="9356100" cy="5272200"/>
          </a:xfrm>
          <a:prstGeom prst="rect">
            <a:avLst/>
          </a:prstGeom>
          <a:gradFill>
            <a:gsLst>
              <a:gs pos="0">
                <a:srgbClr val="090E27"/>
              </a:gs>
              <a:gs pos="50000">
                <a:srgbClr val="1F3656"/>
              </a:gs>
              <a:gs pos="100000">
                <a:srgbClr val="090E27"/>
              </a:gs>
            </a:gsLst>
            <a:lin ang="0" scaled="0"/>
          </a:gradFill>
          <a:ln cap="flat" cmpd="sng" w="9525">
            <a:solidFill>
              <a:srgbClr val="1F36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96" name="Google Shape;896;p168"/>
          <p:cNvGrpSpPr/>
          <p:nvPr/>
        </p:nvGrpSpPr>
        <p:grpSpPr>
          <a:xfrm>
            <a:off x="1191827" y="1007238"/>
            <a:ext cx="6785563" cy="1084633"/>
            <a:chOff x="1191813" y="931025"/>
            <a:chExt cx="6785563" cy="1188900"/>
          </a:xfrm>
        </p:grpSpPr>
        <p:sp>
          <p:nvSpPr>
            <p:cNvPr id="897" name="Google Shape;897;p168"/>
            <p:cNvSpPr/>
            <p:nvPr/>
          </p:nvSpPr>
          <p:spPr>
            <a:xfrm>
              <a:off x="1196175" y="931025"/>
              <a:ext cx="6781200" cy="1188900"/>
            </a:xfrm>
            <a:prstGeom prst="rect">
              <a:avLst/>
            </a:prstGeom>
            <a:solidFill>
              <a:srgbClr val="FFFFFF">
                <a:alpha val="100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168"/>
            <p:cNvSpPr/>
            <p:nvPr/>
          </p:nvSpPr>
          <p:spPr>
            <a:xfrm>
              <a:off x="1365975" y="1399140"/>
              <a:ext cx="6441600" cy="6372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200" u="sng"/>
                <a:t>過去の成功体験の認知バイアス・コンフォートゾーン</a:t>
              </a:r>
              <a:r>
                <a:rPr lang="ja" sz="1200"/>
                <a:t>により、新たな選択を取れなくなる。</a:t>
              </a:r>
              <a:endParaRPr sz="12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200" u="sng"/>
                <a:t>一部の経営陣だけで意思決定する閉鎖環境</a:t>
              </a:r>
              <a:r>
                <a:rPr lang="ja" sz="1200"/>
                <a:t>が常態化。</a:t>
              </a:r>
              <a:endParaRPr sz="1200"/>
            </a:p>
          </p:txBody>
        </p:sp>
        <p:sp>
          <p:nvSpPr>
            <p:cNvPr id="899" name="Google Shape;899;p168"/>
            <p:cNvSpPr txBox="1"/>
            <p:nvPr/>
          </p:nvSpPr>
          <p:spPr>
            <a:xfrm>
              <a:off x="1191813" y="931025"/>
              <a:ext cx="6781200" cy="38880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B3B3B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500">
                  <a:solidFill>
                    <a:srgbClr val="000000"/>
                  </a:solidFill>
                </a:rPr>
                <a:t>経営層</a:t>
              </a:r>
              <a:endParaRPr b="1" sz="1500">
                <a:solidFill>
                  <a:srgbClr val="000000"/>
                </a:solidFill>
              </a:endParaRPr>
            </a:p>
          </p:txBody>
        </p:sp>
      </p:grpSp>
      <p:grpSp>
        <p:nvGrpSpPr>
          <p:cNvPr id="900" name="Google Shape;900;p168"/>
          <p:cNvGrpSpPr/>
          <p:nvPr/>
        </p:nvGrpSpPr>
        <p:grpSpPr>
          <a:xfrm>
            <a:off x="1196200" y="2457407"/>
            <a:ext cx="6781200" cy="1047302"/>
            <a:chOff x="1196175" y="931025"/>
            <a:chExt cx="6781200" cy="1188900"/>
          </a:xfrm>
        </p:grpSpPr>
        <p:sp>
          <p:nvSpPr>
            <p:cNvPr id="901" name="Google Shape;901;p168"/>
            <p:cNvSpPr/>
            <p:nvPr/>
          </p:nvSpPr>
          <p:spPr>
            <a:xfrm>
              <a:off x="1196175" y="931025"/>
              <a:ext cx="6781200" cy="1188900"/>
            </a:xfrm>
            <a:prstGeom prst="rect">
              <a:avLst/>
            </a:prstGeom>
            <a:solidFill>
              <a:srgbClr val="FFFFFF">
                <a:alpha val="100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68"/>
            <p:cNvSpPr/>
            <p:nvPr/>
          </p:nvSpPr>
          <p:spPr>
            <a:xfrm>
              <a:off x="1365975" y="1399140"/>
              <a:ext cx="6441600" cy="6372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" sz="1100"/>
                <a:t>出世のために</a:t>
              </a:r>
              <a:r>
                <a:rPr b="1" lang="ja" sz="1100" u="sng"/>
                <a:t>「無難に調整する」選択肢を取ってしまう</a:t>
              </a:r>
              <a:r>
                <a:rPr b="1" lang="ja" sz="1100"/>
                <a:t>。</a:t>
              </a:r>
              <a:endParaRPr b="1" sz="11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100" u="sng"/>
                <a:t>経営を立てる人が評価</a:t>
              </a:r>
              <a:r>
                <a:rPr lang="ja" sz="1100"/>
                <a:t>され、新たな提案や本質的な課題を言えず、</a:t>
              </a:r>
              <a:r>
                <a:rPr b="1" lang="ja" sz="1100" u="sng"/>
                <a:t>本音と建前が乖離</a:t>
              </a:r>
              <a:r>
                <a:rPr lang="ja" sz="1100"/>
                <a:t>する。</a:t>
              </a:r>
              <a:endParaRPr sz="1100"/>
            </a:p>
          </p:txBody>
        </p:sp>
      </p:grpSp>
      <p:grpSp>
        <p:nvGrpSpPr>
          <p:cNvPr id="903" name="Google Shape;903;p168"/>
          <p:cNvGrpSpPr/>
          <p:nvPr/>
        </p:nvGrpSpPr>
        <p:grpSpPr>
          <a:xfrm>
            <a:off x="1196198" y="3870226"/>
            <a:ext cx="6781200" cy="1047302"/>
            <a:chOff x="1196175" y="931025"/>
            <a:chExt cx="6781200" cy="1188900"/>
          </a:xfrm>
        </p:grpSpPr>
        <p:sp>
          <p:nvSpPr>
            <p:cNvPr id="904" name="Google Shape;904;p168"/>
            <p:cNvSpPr/>
            <p:nvPr/>
          </p:nvSpPr>
          <p:spPr>
            <a:xfrm>
              <a:off x="1196175" y="931025"/>
              <a:ext cx="6781200" cy="1188900"/>
            </a:xfrm>
            <a:prstGeom prst="rect">
              <a:avLst/>
            </a:prstGeom>
            <a:solidFill>
              <a:srgbClr val="FFFFFF">
                <a:alpha val="10000"/>
              </a:srgbClr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68"/>
            <p:cNvSpPr/>
            <p:nvPr/>
          </p:nvSpPr>
          <p:spPr>
            <a:xfrm>
              <a:off x="1365975" y="1399140"/>
              <a:ext cx="6441600" cy="6372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" sz="1100"/>
                <a:t>マネジャー層の統制の元で</a:t>
              </a:r>
              <a:r>
                <a:rPr b="1" lang="ja" sz="1100" u="sng"/>
                <a:t>「言われたこと」をこなす</a:t>
              </a:r>
              <a:r>
                <a:rPr lang="ja" sz="1100"/>
                <a:t>ようになる。</a:t>
              </a:r>
              <a:endParaRPr sz="11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100"/>
                <a:t>組織の所属意義や働く意味を実感できずエンゲージメントが下がる。</a:t>
              </a:r>
              <a:endParaRPr b="1" sz="1100"/>
            </a:p>
          </p:txBody>
        </p:sp>
      </p:grpSp>
      <p:cxnSp>
        <p:nvCxnSpPr>
          <p:cNvPr id="906" name="Google Shape;906;p168"/>
          <p:cNvCxnSpPr/>
          <p:nvPr/>
        </p:nvCxnSpPr>
        <p:spPr>
          <a:xfrm>
            <a:off x="3292900" y="2170388"/>
            <a:ext cx="0" cy="2364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7" name="Google Shape;907;p168"/>
          <p:cNvCxnSpPr/>
          <p:nvPr/>
        </p:nvCxnSpPr>
        <p:spPr>
          <a:xfrm flipH="1" rot="10800000">
            <a:off x="5760375" y="2143388"/>
            <a:ext cx="4800" cy="2625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8" name="Google Shape;908;p168"/>
          <p:cNvCxnSpPr/>
          <p:nvPr/>
        </p:nvCxnSpPr>
        <p:spPr>
          <a:xfrm>
            <a:off x="3284738" y="3582750"/>
            <a:ext cx="0" cy="2364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9" name="Google Shape;909;p168"/>
          <p:cNvCxnSpPr/>
          <p:nvPr/>
        </p:nvCxnSpPr>
        <p:spPr>
          <a:xfrm flipH="1" rot="10800000">
            <a:off x="5752213" y="3555750"/>
            <a:ext cx="4800" cy="2625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0" name="Google Shape;910;p168"/>
          <p:cNvSpPr txBox="1"/>
          <p:nvPr/>
        </p:nvSpPr>
        <p:spPr>
          <a:xfrm>
            <a:off x="5855950" y="2205038"/>
            <a:ext cx="799200" cy="1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FFFFFF"/>
                </a:solidFill>
              </a:rPr>
              <a:t>迎合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911" name="Google Shape;911;p168"/>
          <p:cNvSpPr txBox="1"/>
          <p:nvPr/>
        </p:nvSpPr>
        <p:spPr>
          <a:xfrm>
            <a:off x="5855950" y="3617863"/>
            <a:ext cx="799200" cy="1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FFFFFF"/>
                </a:solidFill>
              </a:rPr>
              <a:t>不信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912" name="Google Shape;912;p168"/>
          <p:cNvSpPr txBox="1"/>
          <p:nvPr/>
        </p:nvSpPr>
        <p:spPr>
          <a:xfrm>
            <a:off x="2394000" y="2205025"/>
            <a:ext cx="799200" cy="1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FFFFFF"/>
                </a:solidFill>
              </a:rPr>
              <a:t>抑圧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913" name="Google Shape;913;p168"/>
          <p:cNvSpPr txBox="1"/>
          <p:nvPr/>
        </p:nvSpPr>
        <p:spPr>
          <a:xfrm>
            <a:off x="2394000" y="3617850"/>
            <a:ext cx="799200" cy="1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FFFFFF"/>
                </a:solidFill>
              </a:rPr>
              <a:t>統制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914" name="Google Shape;914;p168"/>
          <p:cNvSpPr/>
          <p:nvPr/>
        </p:nvSpPr>
        <p:spPr>
          <a:xfrm>
            <a:off x="1191825" y="1007250"/>
            <a:ext cx="6785700" cy="3555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BECBDE"/>
              </a:gs>
            </a:gsLst>
            <a:lin ang="5400700" scaled="0"/>
          </a:gra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経営層</a:t>
            </a:r>
            <a:endParaRPr/>
          </a:p>
        </p:txBody>
      </p:sp>
      <p:sp>
        <p:nvSpPr>
          <p:cNvPr id="915" name="Google Shape;915;p168"/>
          <p:cNvSpPr/>
          <p:nvPr/>
        </p:nvSpPr>
        <p:spPr>
          <a:xfrm>
            <a:off x="1193950" y="2438738"/>
            <a:ext cx="6785700" cy="3555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BECBDE"/>
              </a:gs>
            </a:gsLst>
            <a:lin ang="5400700" scaled="0"/>
          </a:gra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マネジメント層</a:t>
            </a:r>
            <a:endParaRPr/>
          </a:p>
        </p:txBody>
      </p:sp>
      <p:sp>
        <p:nvSpPr>
          <p:cNvPr id="916" name="Google Shape;916;p168"/>
          <p:cNvSpPr/>
          <p:nvPr/>
        </p:nvSpPr>
        <p:spPr>
          <a:xfrm>
            <a:off x="1191825" y="3869288"/>
            <a:ext cx="6785700" cy="3555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BECBDE"/>
              </a:gs>
            </a:gsLst>
            <a:lin ang="5400700" scaled="0"/>
          </a:gra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現場層</a:t>
            </a:r>
            <a:endParaRPr/>
          </a:p>
        </p:txBody>
      </p:sp>
      <p:sp>
        <p:nvSpPr>
          <p:cNvPr id="917" name="Google Shape;917;p168"/>
          <p:cNvSpPr txBox="1"/>
          <p:nvPr/>
        </p:nvSpPr>
        <p:spPr>
          <a:xfrm>
            <a:off x="366375" y="-60425"/>
            <a:ext cx="80754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rgbClr val="FFFFFF"/>
                </a:solidFill>
              </a:rPr>
              <a:t>なぜメンバーの主体性が生まれないのか</a:t>
            </a:r>
            <a:endParaRPr b="1" sz="1700">
              <a:solidFill>
                <a:srgbClr val="FFFFFF"/>
              </a:solidFill>
            </a:endParaRPr>
          </a:p>
        </p:txBody>
      </p:sp>
      <p:cxnSp>
        <p:nvCxnSpPr>
          <p:cNvPr id="918" name="Google Shape;918;p168"/>
          <p:cNvCxnSpPr/>
          <p:nvPr/>
        </p:nvCxnSpPr>
        <p:spPr>
          <a:xfrm>
            <a:off x="66025" y="493750"/>
            <a:ext cx="90285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169"/>
          <p:cNvSpPr txBox="1"/>
          <p:nvPr/>
        </p:nvSpPr>
        <p:spPr>
          <a:xfrm>
            <a:off x="0" y="2287050"/>
            <a:ext cx="9144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chemeClr val="lt1"/>
                </a:solidFill>
              </a:rPr>
              <a:t>エスティーム &gt; エフィカシー</a:t>
            </a:r>
            <a:endParaRPr b="1"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8" name="Google Shape;928;p170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929" name="Google Shape;929;p170"/>
          <p:cNvSpPr txBox="1"/>
          <p:nvPr>
            <p:ph type="title"/>
          </p:nvPr>
        </p:nvSpPr>
        <p:spPr>
          <a:xfrm>
            <a:off x="579075" y="824250"/>
            <a:ext cx="7806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/>
              <a:t>エフィカシー・エスティーム</a:t>
            </a:r>
            <a:endParaRPr sz="3000"/>
          </a:p>
        </p:txBody>
      </p:sp>
      <p:sp>
        <p:nvSpPr>
          <p:cNvPr id="930" name="Google Shape;930;p170"/>
          <p:cNvSpPr txBox="1"/>
          <p:nvPr>
            <p:ph idx="1" type="body"/>
          </p:nvPr>
        </p:nvSpPr>
        <p:spPr>
          <a:xfrm>
            <a:off x="597825" y="2368767"/>
            <a:ext cx="7768800" cy="2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2000"/>
              <a:t>エフィカシー：GOAL達成における自己能力の自己評価</a:t>
            </a:r>
            <a:endParaRPr b="1" sz="20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2000"/>
              <a:t>エスティーム：現状のポジションの自己評価</a:t>
            </a:r>
            <a:endParaRPr b="1" sz="2000"/>
          </a:p>
        </p:txBody>
      </p:sp>
      <p:cxnSp>
        <p:nvCxnSpPr>
          <p:cNvPr id="931" name="Google Shape;931;p170"/>
          <p:cNvCxnSpPr/>
          <p:nvPr/>
        </p:nvCxnSpPr>
        <p:spPr>
          <a:xfrm>
            <a:off x="301300" y="1797004"/>
            <a:ext cx="85116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171"/>
          <p:cNvSpPr txBox="1"/>
          <p:nvPr/>
        </p:nvSpPr>
        <p:spPr>
          <a:xfrm>
            <a:off x="0" y="2056050"/>
            <a:ext cx="91440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lt1"/>
                </a:solidFill>
              </a:rPr>
              <a:t>不確定的な未来に対して、成功と成長を当たり前のように</a:t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lt1"/>
                </a:solidFill>
              </a:rPr>
              <a:t>確信しているリーダーが組織（人）のエフィカシーを最大化</a:t>
            </a:r>
            <a:r>
              <a:rPr b="1" lang="ja" sz="2200">
                <a:solidFill>
                  <a:schemeClr val="lt1"/>
                </a:solidFill>
              </a:rPr>
              <a:t>さ</a:t>
            </a:r>
            <a:r>
              <a:rPr b="1" lang="ja" sz="2200">
                <a:solidFill>
                  <a:schemeClr val="lt1"/>
                </a:solidFill>
              </a:rPr>
              <a:t>せる</a:t>
            </a:r>
            <a:endParaRPr b="1" sz="2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172"/>
          <p:cNvSpPr txBox="1"/>
          <p:nvPr/>
        </p:nvSpPr>
        <p:spPr>
          <a:xfrm>
            <a:off x="0" y="2287050"/>
            <a:ext cx="9144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chemeClr val="lt1"/>
                </a:solidFill>
              </a:rPr>
              <a:t>何故、原理原則が必要か？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6" name="Google Shape;946;p173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173"/>
          <p:cNvSpPr/>
          <p:nvPr/>
        </p:nvSpPr>
        <p:spPr>
          <a:xfrm rot="-5400000">
            <a:off x="3492607" y="604200"/>
            <a:ext cx="787175" cy="5639525"/>
          </a:xfrm>
          <a:prstGeom prst="flowChartPunchedTap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173"/>
          <p:cNvSpPr/>
          <p:nvPr/>
        </p:nvSpPr>
        <p:spPr>
          <a:xfrm rot="-5400000">
            <a:off x="4788007" y="-182975"/>
            <a:ext cx="787175" cy="5639525"/>
          </a:xfrm>
          <a:prstGeom prst="flowChartPunchedTap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173"/>
          <p:cNvSpPr/>
          <p:nvPr/>
        </p:nvSpPr>
        <p:spPr>
          <a:xfrm rot="-5400000">
            <a:off x="3492619" y="-970150"/>
            <a:ext cx="787175" cy="5639525"/>
          </a:xfrm>
          <a:prstGeom prst="flowChartPunchedTap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173"/>
          <p:cNvSpPr/>
          <p:nvPr/>
        </p:nvSpPr>
        <p:spPr>
          <a:xfrm rot="-5400000">
            <a:off x="4406994" y="-1757325"/>
            <a:ext cx="787175" cy="5639525"/>
          </a:xfrm>
          <a:prstGeom prst="flowChartPunchedTap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173"/>
          <p:cNvSpPr txBox="1"/>
          <p:nvPr/>
        </p:nvSpPr>
        <p:spPr>
          <a:xfrm>
            <a:off x="3935850" y="1752300"/>
            <a:ext cx="12723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chemeClr val="dk1"/>
                </a:solidFill>
              </a:rPr>
              <a:t>現状</a:t>
            </a:r>
            <a:endParaRPr b="1" sz="2500">
              <a:solidFill>
                <a:schemeClr val="dk1"/>
              </a:solidFill>
            </a:endParaRPr>
          </a:p>
        </p:txBody>
      </p:sp>
      <p:sp>
        <p:nvSpPr>
          <p:cNvPr id="952" name="Google Shape;952;p173"/>
          <p:cNvSpPr txBox="1"/>
          <p:nvPr/>
        </p:nvSpPr>
        <p:spPr>
          <a:xfrm>
            <a:off x="0" y="3881025"/>
            <a:ext cx="91440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lt1"/>
                </a:solidFill>
              </a:rPr>
              <a:t>問題も理想も不明確であり創発し続けることが難しい</a:t>
            </a:r>
            <a:endParaRPr b="1" sz="2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7" name="Google Shape;957;p174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174"/>
          <p:cNvSpPr/>
          <p:nvPr/>
        </p:nvSpPr>
        <p:spPr>
          <a:xfrm>
            <a:off x="787200" y="668850"/>
            <a:ext cx="7569600" cy="3148800"/>
          </a:xfrm>
          <a:prstGeom prst="rect">
            <a:avLst/>
          </a:prstGeom>
          <a:solidFill>
            <a:srgbClr val="A5A5A5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174"/>
          <p:cNvSpPr/>
          <p:nvPr/>
        </p:nvSpPr>
        <p:spPr>
          <a:xfrm rot="-5400000">
            <a:off x="3492607" y="604200"/>
            <a:ext cx="787175" cy="5639525"/>
          </a:xfrm>
          <a:prstGeom prst="flowChartPunchedTap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174"/>
          <p:cNvSpPr/>
          <p:nvPr/>
        </p:nvSpPr>
        <p:spPr>
          <a:xfrm rot="-5400000">
            <a:off x="4788007" y="-182975"/>
            <a:ext cx="787175" cy="5639525"/>
          </a:xfrm>
          <a:prstGeom prst="flowChartPunchedTap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174"/>
          <p:cNvSpPr/>
          <p:nvPr/>
        </p:nvSpPr>
        <p:spPr>
          <a:xfrm rot="-5400000">
            <a:off x="3492619" y="-970150"/>
            <a:ext cx="787175" cy="5639525"/>
          </a:xfrm>
          <a:prstGeom prst="flowChartPunchedTap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174"/>
          <p:cNvSpPr/>
          <p:nvPr/>
        </p:nvSpPr>
        <p:spPr>
          <a:xfrm rot="-5400000">
            <a:off x="4406994" y="-1757325"/>
            <a:ext cx="787175" cy="5639525"/>
          </a:xfrm>
          <a:prstGeom prst="flowChartPunchedTap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174"/>
          <p:cNvSpPr txBox="1"/>
          <p:nvPr/>
        </p:nvSpPr>
        <p:spPr>
          <a:xfrm>
            <a:off x="3935850" y="1752300"/>
            <a:ext cx="12723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chemeClr val="dk1"/>
                </a:solidFill>
              </a:rPr>
              <a:t>現状</a:t>
            </a:r>
            <a:endParaRPr b="1" sz="2500">
              <a:solidFill>
                <a:schemeClr val="dk1"/>
              </a:solidFill>
            </a:endParaRPr>
          </a:p>
        </p:txBody>
      </p:sp>
      <p:sp>
        <p:nvSpPr>
          <p:cNvPr id="964" name="Google Shape;964;p174"/>
          <p:cNvSpPr txBox="1"/>
          <p:nvPr/>
        </p:nvSpPr>
        <p:spPr>
          <a:xfrm>
            <a:off x="708525" y="700188"/>
            <a:ext cx="12723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chemeClr val="dk1"/>
                </a:solidFill>
              </a:rPr>
              <a:t>原則</a:t>
            </a:r>
            <a:endParaRPr b="1" sz="2500">
              <a:solidFill>
                <a:schemeClr val="dk1"/>
              </a:solidFill>
            </a:endParaRPr>
          </a:p>
        </p:txBody>
      </p:sp>
      <p:sp>
        <p:nvSpPr>
          <p:cNvPr id="965" name="Google Shape;965;p174"/>
          <p:cNvSpPr txBox="1"/>
          <p:nvPr/>
        </p:nvSpPr>
        <p:spPr>
          <a:xfrm>
            <a:off x="0" y="3881025"/>
            <a:ext cx="91440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lt1"/>
                </a:solidFill>
              </a:rPr>
              <a:t>原則は</a:t>
            </a:r>
            <a:r>
              <a:rPr b="1" lang="ja" sz="2200">
                <a:solidFill>
                  <a:srgbClr val="FFFF00"/>
                </a:solidFill>
              </a:rPr>
              <a:t>「解決策の地図」</a:t>
            </a:r>
            <a:r>
              <a:rPr b="1" lang="ja" sz="2200">
                <a:solidFill>
                  <a:schemeClr val="lt1"/>
                </a:solidFill>
              </a:rPr>
              <a:t>であり</a:t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rgbClr val="FFFF00"/>
                </a:solidFill>
              </a:rPr>
              <a:t>「どうすれば解決できるのか？」</a:t>
            </a:r>
            <a:r>
              <a:rPr b="1" lang="ja" sz="2200">
                <a:solidFill>
                  <a:schemeClr val="lt1"/>
                </a:solidFill>
              </a:rPr>
              <a:t>を示してくれる指針になる</a:t>
            </a:r>
            <a:endParaRPr b="1" sz="2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0" name="Google Shape;970;p175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971" name="Google Shape;971;p175"/>
          <p:cNvSpPr/>
          <p:nvPr/>
        </p:nvSpPr>
        <p:spPr>
          <a:xfrm>
            <a:off x="4728138" y="1585175"/>
            <a:ext cx="3596400" cy="197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175"/>
          <p:cNvSpPr/>
          <p:nvPr/>
        </p:nvSpPr>
        <p:spPr>
          <a:xfrm>
            <a:off x="4728138" y="911875"/>
            <a:ext cx="3596400" cy="50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175"/>
          <p:cNvSpPr/>
          <p:nvPr/>
        </p:nvSpPr>
        <p:spPr>
          <a:xfrm>
            <a:off x="882413" y="911875"/>
            <a:ext cx="3596400" cy="5073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175"/>
          <p:cNvSpPr/>
          <p:nvPr/>
        </p:nvSpPr>
        <p:spPr>
          <a:xfrm>
            <a:off x="882413" y="1585175"/>
            <a:ext cx="3596400" cy="19746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175"/>
          <p:cNvSpPr txBox="1"/>
          <p:nvPr/>
        </p:nvSpPr>
        <p:spPr>
          <a:xfrm>
            <a:off x="1534963" y="934663"/>
            <a:ext cx="212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  <a:latin typeface="Zen Kaku Gothic New"/>
                <a:ea typeface="Zen Kaku Gothic New"/>
                <a:cs typeface="Zen Kaku Gothic New"/>
                <a:sym typeface="Zen Kaku Gothic New"/>
              </a:rPr>
              <a:t>原理の不在</a:t>
            </a:r>
            <a:endParaRPr b="1" sz="1800">
              <a:solidFill>
                <a:schemeClr val="dk2"/>
              </a:solidFill>
              <a:latin typeface="Zen Kaku Gothic New"/>
              <a:ea typeface="Zen Kaku Gothic New"/>
              <a:cs typeface="Zen Kaku Gothic New"/>
              <a:sym typeface="Zen Kaku Gothic New"/>
            </a:endParaRPr>
          </a:p>
        </p:txBody>
      </p:sp>
      <p:sp>
        <p:nvSpPr>
          <p:cNvPr id="976" name="Google Shape;976;p175"/>
          <p:cNvSpPr txBox="1"/>
          <p:nvPr/>
        </p:nvSpPr>
        <p:spPr>
          <a:xfrm>
            <a:off x="5398838" y="934675"/>
            <a:ext cx="212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原則の存在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977" name="Google Shape;977;p175"/>
          <p:cNvSpPr txBox="1"/>
          <p:nvPr/>
        </p:nvSpPr>
        <p:spPr>
          <a:xfrm>
            <a:off x="882425" y="1787525"/>
            <a:ext cx="3596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個人の解釈や感想の言い合い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問題や理想の不明確化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再現性のない施策実行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978" name="Google Shape;978;p175"/>
          <p:cNvSpPr txBox="1"/>
          <p:nvPr/>
        </p:nvSpPr>
        <p:spPr>
          <a:xfrm>
            <a:off x="4728150" y="1786800"/>
            <a:ext cx="3596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問題や理想の設定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アクションの明確化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再現性の施策実行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979" name="Google Shape;979;p175"/>
          <p:cNvSpPr txBox="1"/>
          <p:nvPr/>
        </p:nvSpPr>
        <p:spPr>
          <a:xfrm>
            <a:off x="0" y="3881025"/>
            <a:ext cx="91440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lt1"/>
                </a:solidFill>
              </a:rPr>
              <a:t>原則は</a:t>
            </a:r>
            <a:r>
              <a:rPr b="1" lang="ja" sz="2200">
                <a:solidFill>
                  <a:srgbClr val="FFFF00"/>
                </a:solidFill>
              </a:rPr>
              <a:t>「解決策の地図」</a:t>
            </a:r>
            <a:r>
              <a:rPr b="1" lang="ja" sz="2200">
                <a:solidFill>
                  <a:schemeClr val="lt1"/>
                </a:solidFill>
              </a:rPr>
              <a:t>であり</a:t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rgbClr val="FFFF00"/>
                </a:solidFill>
              </a:rPr>
              <a:t>「どうすれば解決できるのか？」</a:t>
            </a:r>
            <a:r>
              <a:rPr b="1" lang="ja" sz="2200">
                <a:solidFill>
                  <a:schemeClr val="lt1"/>
                </a:solidFill>
              </a:rPr>
              <a:t>を示してくれる指針になる</a:t>
            </a:r>
            <a:endParaRPr b="1" sz="2200">
              <a:solidFill>
                <a:schemeClr val="lt1"/>
              </a:solidFill>
            </a:endParaRPr>
          </a:p>
        </p:txBody>
      </p:sp>
      <p:cxnSp>
        <p:nvCxnSpPr>
          <p:cNvPr id="980" name="Google Shape;980;p175"/>
          <p:cNvCxnSpPr/>
          <p:nvPr/>
        </p:nvCxnSpPr>
        <p:spPr>
          <a:xfrm>
            <a:off x="1201925" y="2264700"/>
            <a:ext cx="2957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1" name="Google Shape;981;p175"/>
          <p:cNvCxnSpPr/>
          <p:nvPr/>
        </p:nvCxnSpPr>
        <p:spPr>
          <a:xfrm>
            <a:off x="1201925" y="2830075"/>
            <a:ext cx="2957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2" name="Google Shape;982;p175"/>
          <p:cNvCxnSpPr/>
          <p:nvPr/>
        </p:nvCxnSpPr>
        <p:spPr>
          <a:xfrm>
            <a:off x="5047650" y="2264700"/>
            <a:ext cx="2957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3" name="Google Shape;983;p175"/>
          <p:cNvCxnSpPr/>
          <p:nvPr/>
        </p:nvCxnSpPr>
        <p:spPr>
          <a:xfrm>
            <a:off x="5047650" y="2830075"/>
            <a:ext cx="29574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4" name="Google Shape;984;p175"/>
          <p:cNvSpPr txBox="1"/>
          <p:nvPr>
            <p:ph type="title"/>
          </p:nvPr>
        </p:nvSpPr>
        <p:spPr>
          <a:xfrm>
            <a:off x="387152" y="144625"/>
            <a:ext cx="78867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90"/>
              <a:buFont typeface="Century Gothic"/>
              <a:buNone/>
            </a:pPr>
            <a:r>
              <a:rPr b="1" lang="ja" sz="2420">
                <a:solidFill>
                  <a:schemeClr val="lt1"/>
                </a:solidFill>
              </a:rPr>
              <a:t>何故が原理が必要か？</a:t>
            </a:r>
            <a:endParaRPr b="1" sz="242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9" name="Google Shape;989;p176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p176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Question</a:t>
            </a:r>
            <a:endParaRPr/>
          </a:p>
        </p:txBody>
      </p:sp>
      <p:sp>
        <p:nvSpPr>
          <p:cNvPr id="991" name="Google Shape;991;p176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ここまでに得た気づき学びは何ですか？</a:t>
            </a:r>
            <a:endParaRPr sz="22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177"/>
          <p:cNvSpPr txBox="1"/>
          <p:nvPr/>
        </p:nvSpPr>
        <p:spPr>
          <a:xfrm>
            <a:off x="657902" y="48263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AGENDA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997" name="Google Shape;997;p177"/>
          <p:cNvSpPr txBox="1"/>
          <p:nvPr/>
        </p:nvSpPr>
        <p:spPr>
          <a:xfrm>
            <a:off x="657902" y="1203752"/>
            <a:ext cx="5845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この場の進め方</a:t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998" name="Google Shape;998;p177"/>
          <p:cNvSpPr txBox="1"/>
          <p:nvPr/>
        </p:nvSpPr>
        <p:spPr>
          <a:xfrm>
            <a:off x="657899" y="2048005"/>
            <a:ext cx="78183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① 全ての組織に共通する普遍の問題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002060"/>
                </a:solidFill>
                <a:highlight>
                  <a:schemeClr val="lt1"/>
                </a:highlight>
              </a:rPr>
              <a:t>② 組織コーチングとは何か</a:t>
            </a:r>
            <a:endParaRPr b="1" sz="1800">
              <a:solidFill>
                <a:srgbClr val="00206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③ 非言語エネルギーの現在地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④ 非言語とは何か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⑤ 非言語エネルギーを創り出す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⑥ セールスとは何か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" name="Google Shape;1003;p178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04" name="Google Shape;1004;p178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Question</a:t>
            </a:r>
            <a:endParaRPr/>
          </a:p>
        </p:txBody>
      </p:sp>
      <p:sp>
        <p:nvSpPr>
          <p:cNvPr id="1005" name="Google Shape;1005;p178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組織コーチングとは何か？</a:t>
            </a:r>
            <a:endParaRPr sz="22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" name="Google Shape;1010;p179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11" name="Google Shape;1011;p179"/>
          <p:cNvSpPr txBox="1"/>
          <p:nvPr>
            <p:ph type="title"/>
          </p:nvPr>
        </p:nvSpPr>
        <p:spPr>
          <a:xfrm>
            <a:off x="617725" y="52550"/>
            <a:ext cx="7806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ja" sz="2572"/>
              <a:t>組織と集団の違い</a:t>
            </a:r>
            <a:endParaRPr sz="2572"/>
          </a:p>
        </p:txBody>
      </p:sp>
      <p:graphicFrame>
        <p:nvGraphicFramePr>
          <p:cNvPr id="1012" name="Google Shape;1012;p179"/>
          <p:cNvGraphicFramePr/>
          <p:nvPr/>
        </p:nvGraphicFramePr>
        <p:xfrm>
          <a:off x="708338" y="1437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2874700"/>
                <a:gridCol w="4669350"/>
              </a:tblGrid>
              <a:tr h="1502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組織</a:t>
                      </a:r>
                      <a:endParaRPr sz="7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3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集団</a:t>
                      </a:r>
                      <a:endParaRPr sz="7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013" name="Google Shape;1013;p179"/>
          <p:cNvCxnSpPr/>
          <p:nvPr/>
        </p:nvCxnSpPr>
        <p:spPr>
          <a:xfrm>
            <a:off x="301300" y="860844"/>
            <a:ext cx="85116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8" name="Google Shape;1018;p180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19" name="Google Shape;1019;p180"/>
          <p:cNvSpPr txBox="1"/>
          <p:nvPr>
            <p:ph type="title"/>
          </p:nvPr>
        </p:nvSpPr>
        <p:spPr>
          <a:xfrm>
            <a:off x="617725" y="52550"/>
            <a:ext cx="7806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ja" sz="2572"/>
              <a:t>組織と集団の違い</a:t>
            </a:r>
            <a:endParaRPr sz="2572"/>
          </a:p>
        </p:txBody>
      </p:sp>
      <p:graphicFrame>
        <p:nvGraphicFramePr>
          <p:cNvPr id="1020" name="Google Shape;1020;p180"/>
          <p:cNvGraphicFramePr/>
          <p:nvPr/>
        </p:nvGraphicFramePr>
        <p:xfrm>
          <a:off x="708338" y="1437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2874700"/>
                <a:gridCol w="4669350"/>
              </a:tblGrid>
              <a:tr h="1502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組織</a:t>
                      </a:r>
                      <a:endParaRPr sz="7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目的を目指して集結している存在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3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集団</a:t>
                      </a:r>
                      <a:endParaRPr sz="7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多くの人が集まった存在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021" name="Google Shape;1021;p180"/>
          <p:cNvCxnSpPr/>
          <p:nvPr/>
        </p:nvCxnSpPr>
        <p:spPr>
          <a:xfrm>
            <a:off x="301300" y="860844"/>
            <a:ext cx="85116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Google Shape;1026;p181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27" name="Google Shape;1027;p181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181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181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030" name="Google Shape;1030;p181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5" name="Google Shape;1035;p182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36" name="Google Shape;1036;p182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182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182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039" name="Google Shape;1039;p182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040" name="Google Shape;1040;p182"/>
          <p:cNvSpPr/>
          <p:nvPr/>
        </p:nvSpPr>
        <p:spPr>
          <a:xfrm>
            <a:off x="639150" y="1041300"/>
            <a:ext cx="7865700" cy="3071700"/>
          </a:xfrm>
          <a:prstGeom prst="rect">
            <a:avLst/>
          </a:prstGeom>
          <a:solidFill>
            <a:srgbClr val="FF9900">
              <a:alpha val="94940"/>
            </a:srgbClr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rgbClr val="FFFFFF"/>
                </a:solidFill>
              </a:rPr>
              <a:t>コーチングとは</a:t>
            </a:r>
            <a:endParaRPr b="1" sz="25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rgbClr val="FFFFFF"/>
                </a:solidFill>
              </a:rPr>
              <a:t>エフィカシーを最大限高めること</a:t>
            </a:r>
            <a:endParaRPr b="1" sz="25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FFFFFF"/>
                </a:solidFill>
              </a:rPr>
              <a:t>※エフィカシーとは必ずGOALを達成することができるという「やれる気」のこと</a:t>
            </a:r>
            <a:endParaRPr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5" name="Google Shape;1045;p183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p183"/>
          <p:cNvSpPr txBox="1"/>
          <p:nvPr/>
        </p:nvSpPr>
        <p:spPr>
          <a:xfrm>
            <a:off x="3385500" y="2775975"/>
            <a:ext cx="2373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Be</a:t>
            </a:r>
            <a:endParaRPr b="1" sz="9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47" name="Google Shape;1047;p183"/>
          <p:cNvSpPr txBox="1"/>
          <p:nvPr/>
        </p:nvSpPr>
        <p:spPr>
          <a:xfrm>
            <a:off x="3144450" y="4225850"/>
            <a:ext cx="2855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（マインド）</a:t>
            </a:r>
            <a:endParaRPr b="1" sz="2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48" name="Google Shape;1048;p183"/>
          <p:cNvSpPr/>
          <p:nvPr/>
        </p:nvSpPr>
        <p:spPr>
          <a:xfrm>
            <a:off x="516150" y="2571750"/>
            <a:ext cx="8111700" cy="7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lt1"/>
              </a:solidFill>
            </a:endParaRPr>
          </a:p>
        </p:txBody>
      </p:sp>
      <p:sp>
        <p:nvSpPr>
          <p:cNvPr id="1049" name="Google Shape;1049;p183"/>
          <p:cNvSpPr txBox="1"/>
          <p:nvPr/>
        </p:nvSpPr>
        <p:spPr>
          <a:xfrm>
            <a:off x="1304875" y="152400"/>
            <a:ext cx="2373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Do</a:t>
            </a:r>
            <a:endParaRPr b="1" sz="9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50" name="Google Shape;1050;p183"/>
          <p:cNvSpPr txBox="1"/>
          <p:nvPr/>
        </p:nvSpPr>
        <p:spPr>
          <a:xfrm>
            <a:off x="1454725" y="1706600"/>
            <a:ext cx="2073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（行動）</a:t>
            </a:r>
            <a:endParaRPr b="1" sz="2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51" name="Google Shape;1051;p183"/>
          <p:cNvSpPr txBox="1"/>
          <p:nvPr/>
        </p:nvSpPr>
        <p:spPr>
          <a:xfrm>
            <a:off x="4419600" y="152400"/>
            <a:ext cx="4056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Have</a:t>
            </a:r>
            <a:endParaRPr b="1" sz="9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52" name="Google Shape;1052;p183"/>
          <p:cNvSpPr txBox="1"/>
          <p:nvPr/>
        </p:nvSpPr>
        <p:spPr>
          <a:xfrm>
            <a:off x="5410950" y="1706600"/>
            <a:ext cx="2073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（結果）</a:t>
            </a:r>
            <a:endParaRPr b="1" sz="2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7" name="Google Shape;1057;p184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184"/>
          <p:cNvSpPr txBox="1"/>
          <p:nvPr/>
        </p:nvSpPr>
        <p:spPr>
          <a:xfrm>
            <a:off x="3385500" y="2775975"/>
            <a:ext cx="2373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Be</a:t>
            </a:r>
            <a:endParaRPr b="1" sz="9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59" name="Google Shape;1059;p184"/>
          <p:cNvSpPr txBox="1"/>
          <p:nvPr/>
        </p:nvSpPr>
        <p:spPr>
          <a:xfrm>
            <a:off x="516150" y="4225850"/>
            <a:ext cx="8111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7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自己否定⇨自己肯定感⇨自己効力感</a:t>
            </a:r>
            <a:endParaRPr b="1" sz="27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60" name="Google Shape;1060;p184"/>
          <p:cNvSpPr/>
          <p:nvPr/>
        </p:nvSpPr>
        <p:spPr>
          <a:xfrm>
            <a:off x="516150" y="2571750"/>
            <a:ext cx="8111700" cy="7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lt1"/>
              </a:solidFill>
            </a:endParaRPr>
          </a:p>
        </p:txBody>
      </p:sp>
      <p:sp>
        <p:nvSpPr>
          <p:cNvPr id="1061" name="Google Shape;1061;p184"/>
          <p:cNvSpPr txBox="1"/>
          <p:nvPr/>
        </p:nvSpPr>
        <p:spPr>
          <a:xfrm>
            <a:off x="1304875" y="152400"/>
            <a:ext cx="2373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Do</a:t>
            </a:r>
            <a:endParaRPr b="1" sz="9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62" name="Google Shape;1062;p184"/>
          <p:cNvSpPr txBox="1"/>
          <p:nvPr/>
        </p:nvSpPr>
        <p:spPr>
          <a:xfrm>
            <a:off x="1454725" y="1706600"/>
            <a:ext cx="2073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（行動）</a:t>
            </a:r>
            <a:endParaRPr b="1" sz="2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63" name="Google Shape;1063;p184"/>
          <p:cNvSpPr txBox="1"/>
          <p:nvPr/>
        </p:nvSpPr>
        <p:spPr>
          <a:xfrm>
            <a:off x="4419600" y="152400"/>
            <a:ext cx="4056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Have</a:t>
            </a:r>
            <a:endParaRPr b="1" sz="9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64" name="Google Shape;1064;p184"/>
          <p:cNvSpPr txBox="1"/>
          <p:nvPr/>
        </p:nvSpPr>
        <p:spPr>
          <a:xfrm>
            <a:off x="5410950" y="1706600"/>
            <a:ext cx="2073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（結果）</a:t>
            </a:r>
            <a:endParaRPr b="1" sz="2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9" name="Google Shape;1069;p185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1076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p185"/>
          <p:cNvSpPr txBox="1"/>
          <p:nvPr/>
        </p:nvSpPr>
        <p:spPr>
          <a:xfrm>
            <a:off x="3385500" y="2775975"/>
            <a:ext cx="2373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Be</a:t>
            </a:r>
            <a:endParaRPr b="1" sz="9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71" name="Google Shape;1071;p185"/>
          <p:cNvSpPr txBox="1"/>
          <p:nvPr/>
        </p:nvSpPr>
        <p:spPr>
          <a:xfrm>
            <a:off x="516150" y="4225850"/>
            <a:ext cx="8111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7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自己否定⇨</a:t>
            </a:r>
            <a:r>
              <a:rPr b="1" lang="ja" sz="2700">
                <a:solidFill>
                  <a:srgbClr val="FFFF00"/>
                </a:solidFill>
                <a:latin typeface="Meiryo"/>
                <a:ea typeface="Meiryo"/>
                <a:cs typeface="Meiryo"/>
                <a:sym typeface="Meiryo"/>
              </a:rPr>
              <a:t>自己肯定感⇨自己効力感</a:t>
            </a:r>
            <a:endParaRPr b="1" sz="2700">
              <a:solidFill>
                <a:srgbClr val="FFFF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72" name="Google Shape;1072;p185"/>
          <p:cNvSpPr/>
          <p:nvPr/>
        </p:nvSpPr>
        <p:spPr>
          <a:xfrm>
            <a:off x="516150" y="2571750"/>
            <a:ext cx="8111700" cy="7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lt1"/>
              </a:solidFill>
            </a:endParaRPr>
          </a:p>
        </p:txBody>
      </p:sp>
      <p:sp>
        <p:nvSpPr>
          <p:cNvPr id="1073" name="Google Shape;1073;p185"/>
          <p:cNvSpPr txBox="1"/>
          <p:nvPr/>
        </p:nvSpPr>
        <p:spPr>
          <a:xfrm>
            <a:off x="1304875" y="152400"/>
            <a:ext cx="2373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Do</a:t>
            </a:r>
            <a:endParaRPr b="1" sz="9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74" name="Google Shape;1074;p185"/>
          <p:cNvSpPr txBox="1"/>
          <p:nvPr/>
        </p:nvSpPr>
        <p:spPr>
          <a:xfrm>
            <a:off x="1454725" y="1706600"/>
            <a:ext cx="2073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（行動）</a:t>
            </a:r>
            <a:endParaRPr b="1" sz="2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75" name="Google Shape;1075;p185"/>
          <p:cNvSpPr txBox="1"/>
          <p:nvPr/>
        </p:nvSpPr>
        <p:spPr>
          <a:xfrm>
            <a:off x="4419600" y="152400"/>
            <a:ext cx="4056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Have</a:t>
            </a:r>
            <a:endParaRPr b="1" sz="9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76" name="Google Shape;1076;p185"/>
          <p:cNvSpPr txBox="1"/>
          <p:nvPr/>
        </p:nvSpPr>
        <p:spPr>
          <a:xfrm>
            <a:off x="5410950" y="1706600"/>
            <a:ext cx="2073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（結果）</a:t>
            </a:r>
            <a:endParaRPr b="1" sz="2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1" name="Google Shape;1081;p186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82" name="Google Shape;1082;p186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186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186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MVV・GOAL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085" name="Google Shape;1085;p186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086" name="Google Shape;1086;p186"/>
          <p:cNvSpPr txBox="1"/>
          <p:nvPr/>
        </p:nvSpPr>
        <p:spPr>
          <a:xfrm>
            <a:off x="1127975" y="1308300"/>
            <a:ext cx="6879600" cy="2748300"/>
          </a:xfrm>
          <a:prstGeom prst="rect">
            <a:avLst/>
          </a:prstGeom>
          <a:solidFill>
            <a:srgbClr val="F493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2500">
                <a:solidFill>
                  <a:schemeClr val="lt1"/>
                </a:solidFill>
              </a:rPr>
              <a:t>コーチングとは</a:t>
            </a:r>
            <a:endParaRPr b="1" sz="2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2500">
                <a:solidFill>
                  <a:schemeClr val="lt1"/>
                </a:solidFill>
              </a:rPr>
              <a:t>エフィカシーを最大限高めること</a:t>
            </a:r>
            <a:endParaRPr b="1" sz="2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lt1"/>
                </a:solidFill>
              </a:rPr>
              <a:t>※エフィカシーとは必ずGOALを達成することができるという「やれる気」のこと</a:t>
            </a:r>
            <a:endParaRPr b="1"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1" name="Google Shape;1091;p187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187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187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187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MVV・GOAL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095" name="Google Shape;1095;p187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096" name="Google Shape;1096;p187"/>
          <p:cNvSpPr txBox="1"/>
          <p:nvPr/>
        </p:nvSpPr>
        <p:spPr>
          <a:xfrm>
            <a:off x="1127975" y="1308300"/>
            <a:ext cx="6879600" cy="2748300"/>
          </a:xfrm>
          <a:prstGeom prst="rect">
            <a:avLst/>
          </a:prstGeom>
          <a:solidFill>
            <a:srgbClr val="F493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lt1"/>
                </a:solidFill>
              </a:rPr>
              <a:t>組織コーチングとは</a:t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lt1"/>
                </a:solidFill>
              </a:rPr>
              <a:t>コレクティブエフィカシーを最大限高めること</a:t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</a:rPr>
              <a:t>※コレクティブエフィカシー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</a:rPr>
              <a:t>我々なら必ずGOALを達成することができるというカルチャーのこと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</a:rPr>
              <a:t>このカルチャーの醸成により変化し続ける自走型の組織を編成する事ができる</a:t>
            </a:r>
            <a:endParaRPr b="1" sz="2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188"/>
          <p:cNvSpPr txBox="1"/>
          <p:nvPr/>
        </p:nvSpPr>
        <p:spPr>
          <a:xfrm>
            <a:off x="0" y="2287050"/>
            <a:ext cx="91440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chemeClr val="lt1"/>
                </a:solidFill>
              </a:rPr>
              <a:t>エフィカシー &gt; エスティーム</a:t>
            </a:r>
            <a:endParaRPr b="1" sz="2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>
                <a:solidFill>
                  <a:schemeClr val="lt1"/>
                </a:solidFill>
              </a:rPr>
              <a:t>　　　　　　　</a:t>
            </a:r>
            <a:r>
              <a:rPr lang="ja" sz="1200">
                <a:solidFill>
                  <a:schemeClr val="lt1"/>
                </a:solidFill>
              </a:rPr>
              <a:t>   　　　　　　　　　エフィカシー：GOAL達成における自己能力の自己評価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>
                <a:solidFill>
                  <a:schemeClr val="lt1"/>
                </a:solidFill>
              </a:rPr>
              <a:t>　　　　　　　　　　　　　　  　 　エスティーム：現状のポジションの自己評価</a:t>
            </a:r>
            <a:endParaRPr sz="1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6" name="Google Shape;1106;p189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07" name="Google Shape;1107;p189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189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189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MVV・GOAL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110" name="Google Shape;1110;p189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111" name="Google Shape;1111;p189"/>
          <p:cNvSpPr txBox="1"/>
          <p:nvPr/>
        </p:nvSpPr>
        <p:spPr>
          <a:xfrm>
            <a:off x="1127975" y="1308300"/>
            <a:ext cx="6879600" cy="2748300"/>
          </a:xfrm>
          <a:prstGeom prst="rect">
            <a:avLst/>
          </a:prstGeom>
          <a:solidFill>
            <a:srgbClr val="F493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lt1"/>
                </a:solidFill>
              </a:rPr>
              <a:t>組織コーチングとは</a:t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lt1"/>
                </a:solidFill>
              </a:rPr>
              <a:t>コレクティブエフィカシーを最大限高めること</a:t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</a:rPr>
              <a:t>※コレクティブエフィカシー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</a:rPr>
              <a:t>我々なら必ずGOALを達成することができるというカルチャーのこと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</a:rPr>
              <a:t>このカルチャーの醸成により変化し続ける自走型の組織を編成する事ができる</a:t>
            </a:r>
            <a:endParaRPr b="1" sz="2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6" name="Google Shape;1116;p190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17" name="Google Shape;1117;p190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190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190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MVV・GOAL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120" name="Google Shape;1120;p190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121" name="Google Shape;1121;p190"/>
          <p:cNvSpPr txBox="1"/>
          <p:nvPr/>
        </p:nvSpPr>
        <p:spPr>
          <a:xfrm>
            <a:off x="1127975" y="1308300"/>
            <a:ext cx="6879600" cy="2748300"/>
          </a:xfrm>
          <a:prstGeom prst="rect">
            <a:avLst/>
          </a:prstGeom>
          <a:solidFill>
            <a:srgbClr val="FFFFFF">
              <a:alpha val="284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" name="Google Shape;1126;p191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27" name="Google Shape;1127;p191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191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191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MVV・GOAL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130" name="Google Shape;1130;p191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131" name="Google Shape;1131;p191"/>
          <p:cNvSpPr txBox="1"/>
          <p:nvPr/>
        </p:nvSpPr>
        <p:spPr>
          <a:xfrm>
            <a:off x="1127975" y="1308300"/>
            <a:ext cx="6879600" cy="2748300"/>
          </a:xfrm>
          <a:prstGeom prst="rect">
            <a:avLst/>
          </a:prstGeom>
          <a:solidFill>
            <a:srgbClr val="FFFFFF">
              <a:alpha val="284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2000">
                <a:solidFill>
                  <a:schemeClr val="lt1"/>
                </a:solidFill>
              </a:rPr>
              <a:t>どの象限にも</a:t>
            </a:r>
            <a:r>
              <a:rPr b="1" lang="ja" sz="2300">
                <a:solidFill>
                  <a:srgbClr val="FFFF00"/>
                </a:solidFill>
              </a:rPr>
              <a:t>『人間の原理原則』</a:t>
            </a:r>
            <a:r>
              <a:rPr b="1" lang="ja" sz="2000">
                <a:solidFill>
                  <a:schemeClr val="lt1"/>
                </a:solidFill>
              </a:rPr>
              <a:t>は必ず通底している</a:t>
            </a:r>
            <a:endParaRPr b="1" sz="2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2300">
                <a:solidFill>
                  <a:srgbClr val="FFFF00"/>
                </a:solidFill>
              </a:rPr>
              <a:t>理論なき持論</a:t>
            </a:r>
            <a:r>
              <a:rPr b="1" lang="ja" sz="2000">
                <a:solidFill>
                  <a:schemeClr val="lt1"/>
                </a:solidFill>
              </a:rPr>
              <a:t>は扱わない</a:t>
            </a:r>
            <a:endParaRPr b="1" sz="2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6" name="Google Shape;1136;p192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37" name="Google Shape;1137;p192"/>
          <p:cNvSpPr/>
          <p:nvPr/>
        </p:nvSpPr>
        <p:spPr>
          <a:xfrm rot="5400000">
            <a:off x="4109250" y="-2692200"/>
            <a:ext cx="925500" cy="63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192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192"/>
          <p:cNvSpPr txBox="1"/>
          <p:nvPr/>
        </p:nvSpPr>
        <p:spPr>
          <a:xfrm>
            <a:off x="2392950" y="4536750"/>
            <a:ext cx="4358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ja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現状</a:t>
            </a:r>
            <a:endParaRPr b="1" i="0" sz="2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192"/>
          <p:cNvSpPr txBox="1"/>
          <p:nvPr/>
        </p:nvSpPr>
        <p:spPr>
          <a:xfrm>
            <a:off x="1446275" y="197400"/>
            <a:ext cx="6243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ja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MVV</a:t>
            </a:r>
            <a:r>
              <a:rPr b="1" lang="ja" sz="2200">
                <a:solidFill>
                  <a:schemeClr val="lt1"/>
                </a:solidFill>
              </a:rPr>
              <a:t>・</a:t>
            </a:r>
            <a:r>
              <a:rPr b="1" i="0" lang="ja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 b="1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1" name="Google Shape;1141;p192"/>
          <p:cNvSpPr/>
          <p:nvPr/>
        </p:nvSpPr>
        <p:spPr>
          <a:xfrm>
            <a:off x="1127975" y="1308450"/>
            <a:ext cx="6879600" cy="2748300"/>
          </a:xfrm>
          <a:prstGeom prst="rect">
            <a:avLst/>
          </a:prstGeom>
          <a:solidFill>
            <a:srgbClr val="FFFFFF">
              <a:alpha val="284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42" name="Google Shape;1142;p192"/>
          <p:cNvCxnSpPr>
            <a:stCxn id="1141" idx="0"/>
            <a:endCxn id="1141" idx="2"/>
          </p:cNvCxnSpPr>
          <p:nvPr/>
        </p:nvCxnSpPr>
        <p:spPr>
          <a:xfrm>
            <a:off x="4567775" y="1308450"/>
            <a:ext cx="0" cy="27483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143" name="Google Shape;1143;p192"/>
          <p:cNvCxnSpPr>
            <a:stCxn id="1141" idx="1"/>
            <a:endCxn id="1141" idx="3"/>
          </p:cNvCxnSpPr>
          <p:nvPr/>
        </p:nvCxnSpPr>
        <p:spPr>
          <a:xfrm>
            <a:off x="1127975" y="2682600"/>
            <a:ext cx="6879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144" name="Google Shape;1144;p192"/>
          <p:cNvSpPr/>
          <p:nvPr/>
        </p:nvSpPr>
        <p:spPr>
          <a:xfrm>
            <a:off x="1263700" y="1448300"/>
            <a:ext cx="3147300" cy="10377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ja" sz="1800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戦略コーチング</a:t>
            </a:r>
            <a:endParaRPr b="1" i="0" sz="1500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5" name="Google Shape;1145;p192"/>
          <p:cNvSpPr/>
          <p:nvPr/>
        </p:nvSpPr>
        <p:spPr>
          <a:xfrm>
            <a:off x="4724550" y="1448288"/>
            <a:ext cx="3147300" cy="1037700"/>
          </a:xfrm>
          <a:prstGeom prst="rect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　</a:t>
            </a:r>
            <a:r>
              <a:rPr b="1" lang="ja" sz="1800">
                <a:solidFill>
                  <a:srgbClr val="FFFFFF"/>
                </a:solidFill>
              </a:rPr>
              <a:t>戦略</a:t>
            </a:r>
            <a:r>
              <a:rPr b="1" i="0" lang="ja" sz="1800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コーチング</a:t>
            </a:r>
            <a:endParaRPr b="0" i="0" sz="1400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192"/>
          <p:cNvSpPr/>
          <p:nvPr/>
        </p:nvSpPr>
        <p:spPr>
          <a:xfrm>
            <a:off x="1263700" y="2874925"/>
            <a:ext cx="3147300" cy="1037700"/>
          </a:xfrm>
          <a:prstGeom prst="rect">
            <a:avLst/>
          </a:prstGeom>
          <a:solidFill>
            <a:srgbClr val="E1EB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ja" sz="1800"/>
              <a:t>　　戦術</a:t>
            </a:r>
            <a:r>
              <a:rPr b="1" i="0" lang="ja" sz="1800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コーチング</a:t>
            </a:r>
            <a:endParaRPr b="0" i="0" sz="1400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192"/>
          <p:cNvSpPr/>
          <p:nvPr/>
        </p:nvSpPr>
        <p:spPr>
          <a:xfrm>
            <a:off x="4724550" y="2874938"/>
            <a:ext cx="3147300" cy="1037700"/>
          </a:xfrm>
          <a:prstGeom prst="rect">
            <a:avLst/>
          </a:prstGeom>
          <a:solidFill>
            <a:srgbClr val="FCD4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ja" sz="1800"/>
              <a:t>　</a:t>
            </a:r>
            <a:r>
              <a:rPr b="1" lang="ja" sz="1800"/>
              <a:t>戦術</a:t>
            </a:r>
            <a:r>
              <a:rPr b="1" i="0" lang="ja" sz="1800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コーチング</a:t>
            </a:r>
            <a:endParaRPr b="0" i="0" sz="1400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ターゲット" id="1148" name="Google Shape;1148;p1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9534" y="1547829"/>
            <a:ext cx="507453" cy="5124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事業の成長" id="1149" name="Google Shape;1149;p1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7765" y="2879198"/>
            <a:ext cx="592625" cy="5848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階層状のピラミッド" id="1150" name="Google Shape;1150;p19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24542" y="1544586"/>
            <a:ext cx="527522" cy="5189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環状の矢印" id="1151" name="Google Shape;1151;p19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99384" y="2879197"/>
            <a:ext cx="647732" cy="6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2" name="Google Shape;1152;p192"/>
          <p:cNvSpPr txBox="1"/>
          <p:nvPr/>
        </p:nvSpPr>
        <p:spPr>
          <a:xfrm>
            <a:off x="3297147" y="982275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ja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経営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192"/>
          <p:cNvSpPr txBox="1"/>
          <p:nvPr/>
        </p:nvSpPr>
        <p:spPr>
          <a:xfrm>
            <a:off x="3297147" y="4104975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ja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現場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192"/>
          <p:cNvSpPr txBox="1"/>
          <p:nvPr/>
        </p:nvSpPr>
        <p:spPr>
          <a:xfrm>
            <a:off x="237473" y="2547900"/>
            <a:ext cx="7920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ja" sz="2000">
                <a:solidFill>
                  <a:schemeClr val="lt1"/>
                </a:solidFill>
              </a:rPr>
              <a:t>事業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192"/>
          <p:cNvSpPr txBox="1"/>
          <p:nvPr/>
        </p:nvSpPr>
        <p:spPr>
          <a:xfrm>
            <a:off x="8007575" y="2547900"/>
            <a:ext cx="8778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ja" sz="2000">
                <a:solidFill>
                  <a:schemeClr val="lt1"/>
                </a:solidFill>
              </a:rPr>
              <a:t>組織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0" name="Google Shape;1160;p193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193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193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193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MVV・GOAL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164" name="Google Shape;1164;p193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165" name="Google Shape;1165;p193"/>
          <p:cNvSpPr txBox="1"/>
          <p:nvPr/>
        </p:nvSpPr>
        <p:spPr>
          <a:xfrm>
            <a:off x="1127975" y="1308300"/>
            <a:ext cx="6879600" cy="2748300"/>
          </a:xfrm>
          <a:prstGeom prst="rect">
            <a:avLst/>
          </a:prstGeom>
          <a:solidFill>
            <a:srgbClr val="F493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lt1"/>
                </a:solidFill>
              </a:rPr>
              <a:t>組織コーチングとは</a:t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200">
                <a:solidFill>
                  <a:schemeClr val="lt1"/>
                </a:solidFill>
              </a:rPr>
              <a:t>コレクティブエフィカシーを最大限高めること</a:t>
            </a:r>
            <a:endParaRPr b="1" sz="2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</a:rPr>
              <a:t>※コレクティブエフィカシー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</a:rPr>
              <a:t>我々なら必ずGOALを達成することができるというカルチャーのこと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</a:rPr>
              <a:t>このカルチャーの醸成により変化し続ける自走型の組織を編成する事ができる</a:t>
            </a:r>
            <a:endParaRPr b="1" sz="2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0" name="Google Shape;1170;p194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71" name="Google Shape;1171;p194"/>
          <p:cNvSpPr txBox="1"/>
          <p:nvPr/>
        </p:nvSpPr>
        <p:spPr>
          <a:xfrm>
            <a:off x="3385500" y="2765201"/>
            <a:ext cx="2373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ja" sz="1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</a:t>
            </a:r>
            <a:endParaRPr b="1" i="0" sz="1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194"/>
          <p:cNvSpPr txBox="1"/>
          <p:nvPr/>
        </p:nvSpPr>
        <p:spPr>
          <a:xfrm>
            <a:off x="3035200" y="4225850"/>
            <a:ext cx="28551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ja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（マインド）</a:t>
            </a:r>
            <a:endParaRPr b="1" i="0" sz="3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194"/>
          <p:cNvSpPr/>
          <p:nvPr/>
        </p:nvSpPr>
        <p:spPr>
          <a:xfrm>
            <a:off x="516150" y="2571750"/>
            <a:ext cx="8111700" cy="7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194"/>
          <p:cNvSpPr txBox="1"/>
          <p:nvPr/>
        </p:nvSpPr>
        <p:spPr>
          <a:xfrm>
            <a:off x="1304875" y="1"/>
            <a:ext cx="2373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ja" sz="1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</a:t>
            </a:r>
            <a:endParaRPr b="1" i="0" sz="1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194"/>
          <p:cNvSpPr txBox="1"/>
          <p:nvPr/>
        </p:nvSpPr>
        <p:spPr>
          <a:xfrm>
            <a:off x="1454725" y="1630400"/>
            <a:ext cx="2073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ja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（行動）</a:t>
            </a:r>
            <a:endParaRPr b="1" i="0" sz="3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194"/>
          <p:cNvSpPr txBox="1"/>
          <p:nvPr/>
        </p:nvSpPr>
        <p:spPr>
          <a:xfrm>
            <a:off x="4572000" y="1"/>
            <a:ext cx="4056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ja" sz="1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Have</a:t>
            </a:r>
            <a:endParaRPr b="1" i="0" sz="1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194"/>
          <p:cNvSpPr txBox="1"/>
          <p:nvPr/>
        </p:nvSpPr>
        <p:spPr>
          <a:xfrm>
            <a:off x="5563350" y="1630400"/>
            <a:ext cx="2073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ja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（成果）</a:t>
            </a:r>
            <a:endParaRPr b="1" i="0" sz="3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2" name="Google Shape;1182;p195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83" name="Google Shape;1183;p195"/>
          <p:cNvSpPr txBox="1"/>
          <p:nvPr/>
        </p:nvSpPr>
        <p:spPr>
          <a:xfrm>
            <a:off x="3385500" y="2765201"/>
            <a:ext cx="2373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ja" sz="11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Be</a:t>
            </a:r>
            <a:endParaRPr b="1" i="0" sz="110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195"/>
          <p:cNvSpPr txBox="1"/>
          <p:nvPr/>
        </p:nvSpPr>
        <p:spPr>
          <a:xfrm>
            <a:off x="1604514" y="4281277"/>
            <a:ext cx="5650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ja" sz="33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（個人のマインド）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1185" name="Google Shape;1185;p195"/>
          <p:cNvSpPr txBox="1"/>
          <p:nvPr/>
        </p:nvSpPr>
        <p:spPr>
          <a:xfrm>
            <a:off x="1304875" y="1"/>
            <a:ext cx="2373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ja" sz="1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</a:t>
            </a:r>
            <a:endParaRPr b="1" i="0" sz="1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195"/>
          <p:cNvSpPr txBox="1"/>
          <p:nvPr/>
        </p:nvSpPr>
        <p:spPr>
          <a:xfrm>
            <a:off x="1454725" y="1630400"/>
            <a:ext cx="2073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ja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（行動）</a:t>
            </a:r>
            <a:endParaRPr b="1" i="0" sz="3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195"/>
          <p:cNvSpPr txBox="1"/>
          <p:nvPr/>
        </p:nvSpPr>
        <p:spPr>
          <a:xfrm>
            <a:off x="4572000" y="1"/>
            <a:ext cx="4056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ja" sz="1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Have</a:t>
            </a:r>
            <a:endParaRPr b="1" i="0" sz="1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195"/>
          <p:cNvSpPr txBox="1"/>
          <p:nvPr/>
        </p:nvSpPr>
        <p:spPr>
          <a:xfrm>
            <a:off x="5563350" y="1630400"/>
            <a:ext cx="2073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ja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（成果）</a:t>
            </a:r>
            <a:endParaRPr b="1" i="0" sz="3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9" name="Google Shape;1189;p195"/>
          <p:cNvSpPr/>
          <p:nvPr/>
        </p:nvSpPr>
        <p:spPr>
          <a:xfrm>
            <a:off x="516150" y="2571750"/>
            <a:ext cx="8111700" cy="7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4" name="Google Shape;1194;p196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95" name="Google Shape;1195;p196"/>
          <p:cNvSpPr txBox="1"/>
          <p:nvPr/>
        </p:nvSpPr>
        <p:spPr>
          <a:xfrm>
            <a:off x="3385500" y="2765201"/>
            <a:ext cx="2373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ja" sz="11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Be</a:t>
            </a:r>
            <a:endParaRPr b="1" i="0" sz="110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196"/>
          <p:cNvSpPr txBox="1"/>
          <p:nvPr/>
        </p:nvSpPr>
        <p:spPr>
          <a:xfrm>
            <a:off x="1604514" y="4281277"/>
            <a:ext cx="5650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ja" sz="33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（組織のカルチャー）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1197" name="Google Shape;1197;p196"/>
          <p:cNvSpPr txBox="1"/>
          <p:nvPr/>
        </p:nvSpPr>
        <p:spPr>
          <a:xfrm>
            <a:off x="1304875" y="1"/>
            <a:ext cx="2373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ja" sz="1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</a:t>
            </a:r>
            <a:endParaRPr b="1" i="0" sz="1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196"/>
          <p:cNvSpPr txBox="1"/>
          <p:nvPr/>
        </p:nvSpPr>
        <p:spPr>
          <a:xfrm>
            <a:off x="1454725" y="1630400"/>
            <a:ext cx="2073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ja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（行動）</a:t>
            </a:r>
            <a:endParaRPr b="1" i="0" sz="3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196"/>
          <p:cNvSpPr txBox="1"/>
          <p:nvPr/>
        </p:nvSpPr>
        <p:spPr>
          <a:xfrm>
            <a:off x="4572000" y="1"/>
            <a:ext cx="4056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ja" sz="1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Have</a:t>
            </a:r>
            <a:endParaRPr b="1" i="0" sz="1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196"/>
          <p:cNvSpPr txBox="1"/>
          <p:nvPr/>
        </p:nvSpPr>
        <p:spPr>
          <a:xfrm>
            <a:off x="5563350" y="1630400"/>
            <a:ext cx="2073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ja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（成果）</a:t>
            </a:r>
            <a:endParaRPr b="1" i="0" sz="3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196"/>
          <p:cNvSpPr/>
          <p:nvPr/>
        </p:nvSpPr>
        <p:spPr>
          <a:xfrm>
            <a:off x="516150" y="2571750"/>
            <a:ext cx="8111700" cy="7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6" name="Google Shape;1206;p197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07" name="Google Shape;1207;p197"/>
          <p:cNvSpPr/>
          <p:nvPr/>
        </p:nvSpPr>
        <p:spPr>
          <a:xfrm>
            <a:off x="290250" y="119875"/>
            <a:ext cx="8401200" cy="3690300"/>
          </a:xfrm>
          <a:prstGeom prst="ellipse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197"/>
          <p:cNvSpPr/>
          <p:nvPr/>
        </p:nvSpPr>
        <p:spPr>
          <a:xfrm>
            <a:off x="2568575" y="462325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09" name="Google Shape;1209;p197"/>
          <p:cNvSpPr/>
          <p:nvPr/>
        </p:nvSpPr>
        <p:spPr>
          <a:xfrm>
            <a:off x="6306175" y="1867650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0" name="Google Shape;1210;p197"/>
          <p:cNvSpPr/>
          <p:nvPr/>
        </p:nvSpPr>
        <p:spPr>
          <a:xfrm>
            <a:off x="4591100" y="2046475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1" name="Google Shape;1211;p197"/>
          <p:cNvSpPr/>
          <p:nvPr/>
        </p:nvSpPr>
        <p:spPr>
          <a:xfrm>
            <a:off x="2493525" y="2530225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2" name="Google Shape;1212;p197"/>
          <p:cNvSpPr/>
          <p:nvPr/>
        </p:nvSpPr>
        <p:spPr>
          <a:xfrm>
            <a:off x="3135338" y="1496275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3" name="Google Shape;1213;p197"/>
          <p:cNvSpPr/>
          <p:nvPr/>
        </p:nvSpPr>
        <p:spPr>
          <a:xfrm>
            <a:off x="5621175" y="2624625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4" name="Google Shape;1214;p197"/>
          <p:cNvSpPr/>
          <p:nvPr/>
        </p:nvSpPr>
        <p:spPr>
          <a:xfrm>
            <a:off x="4260525" y="1124263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5" name="Google Shape;1215;p197"/>
          <p:cNvSpPr/>
          <p:nvPr/>
        </p:nvSpPr>
        <p:spPr>
          <a:xfrm>
            <a:off x="5385725" y="1535450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6" name="Google Shape;1216;p197"/>
          <p:cNvSpPr/>
          <p:nvPr/>
        </p:nvSpPr>
        <p:spPr>
          <a:xfrm>
            <a:off x="3713600" y="2577550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7" name="Google Shape;1217;p197"/>
          <p:cNvSpPr/>
          <p:nvPr/>
        </p:nvSpPr>
        <p:spPr>
          <a:xfrm>
            <a:off x="5039263" y="290875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8" name="Google Shape;1218;p197"/>
          <p:cNvSpPr/>
          <p:nvPr/>
        </p:nvSpPr>
        <p:spPr>
          <a:xfrm>
            <a:off x="591200" y="1428750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19" name="Google Shape;1219;p197"/>
          <p:cNvSpPr/>
          <p:nvPr/>
        </p:nvSpPr>
        <p:spPr>
          <a:xfrm>
            <a:off x="1863275" y="1168675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20" name="Google Shape;1220;p197"/>
          <p:cNvSpPr/>
          <p:nvPr/>
        </p:nvSpPr>
        <p:spPr>
          <a:xfrm>
            <a:off x="7226625" y="989850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21" name="Google Shape;1221;p197"/>
          <p:cNvSpPr/>
          <p:nvPr/>
        </p:nvSpPr>
        <p:spPr>
          <a:xfrm>
            <a:off x="6202513" y="611750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22" name="Google Shape;1222;p197"/>
          <p:cNvSpPr/>
          <p:nvPr/>
        </p:nvSpPr>
        <p:spPr>
          <a:xfrm>
            <a:off x="1414825" y="2134025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23" name="Google Shape;1223;p197"/>
          <p:cNvSpPr/>
          <p:nvPr/>
        </p:nvSpPr>
        <p:spPr>
          <a:xfrm>
            <a:off x="7318925" y="1976050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24" name="Google Shape;1224;p197"/>
          <p:cNvSpPr/>
          <p:nvPr/>
        </p:nvSpPr>
        <p:spPr>
          <a:xfrm>
            <a:off x="3528325" y="202050"/>
            <a:ext cx="877500" cy="877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/>
              <a:t>ビリーフ</a:t>
            </a:r>
            <a:endParaRPr b="1" sz="800"/>
          </a:p>
        </p:txBody>
      </p:sp>
      <p:sp>
        <p:nvSpPr>
          <p:cNvPr id="1225" name="Google Shape;1225;p197"/>
          <p:cNvSpPr txBox="1"/>
          <p:nvPr/>
        </p:nvSpPr>
        <p:spPr>
          <a:xfrm>
            <a:off x="454950" y="3891775"/>
            <a:ext cx="8234100" cy="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chemeClr val="lt1"/>
                </a:solidFill>
              </a:rPr>
              <a:t>個人のビリーフシステムの最大公約数が</a:t>
            </a:r>
            <a:endParaRPr b="1" sz="24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chemeClr val="lt1"/>
                </a:solidFill>
              </a:rPr>
              <a:t>組織のビリーフシステムになる</a:t>
            </a:r>
            <a:endParaRPr b="1"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198"/>
          <p:cNvSpPr txBox="1"/>
          <p:nvPr/>
        </p:nvSpPr>
        <p:spPr>
          <a:xfrm>
            <a:off x="0" y="2287050"/>
            <a:ext cx="9144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chemeClr val="lt1"/>
                </a:solidFill>
              </a:rPr>
              <a:t>人間の原理原則なくして、組織変革は達成できない</a:t>
            </a:r>
            <a:endParaRPr b="1"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5" name="Google Shape;1235;p199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36" name="Google Shape;1236;p199"/>
          <p:cNvSpPr/>
          <p:nvPr/>
        </p:nvSpPr>
        <p:spPr>
          <a:xfrm rot="5400000">
            <a:off x="4109250" y="-2692200"/>
            <a:ext cx="925500" cy="63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p199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8" name="Google Shape;1238;p199"/>
          <p:cNvSpPr txBox="1"/>
          <p:nvPr/>
        </p:nvSpPr>
        <p:spPr>
          <a:xfrm>
            <a:off x="2392950" y="4536750"/>
            <a:ext cx="4358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ja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現状</a:t>
            </a:r>
            <a:endParaRPr b="1" i="0" sz="2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9" name="Google Shape;1239;p199"/>
          <p:cNvSpPr txBox="1"/>
          <p:nvPr/>
        </p:nvSpPr>
        <p:spPr>
          <a:xfrm>
            <a:off x="1446275" y="197400"/>
            <a:ext cx="6243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ja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MVV</a:t>
            </a:r>
            <a:r>
              <a:rPr b="1" lang="ja" sz="2200">
                <a:solidFill>
                  <a:schemeClr val="lt1"/>
                </a:solidFill>
              </a:rPr>
              <a:t>・</a:t>
            </a:r>
            <a:r>
              <a:rPr b="1" i="0" lang="ja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 b="1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0" name="Google Shape;1240;p199"/>
          <p:cNvSpPr/>
          <p:nvPr/>
        </p:nvSpPr>
        <p:spPr>
          <a:xfrm>
            <a:off x="1127975" y="1308450"/>
            <a:ext cx="6879600" cy="2748300"/>
          </a:xfrm>
          <a:prstGeom prst="rect">
            <a:avLst/>
          </a:prstGeom>
          <a:solidFill>
            <a:srgbClr val="FFFFFF">
              <a:alpha val="284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41" name="Google Shape;1241;p199"/>
          <p:cNvCxnSpPr>
            <a:stCxn id="1240" idx="0"/>
            <a:endCxn id="1240" idx="2"/>
          </p:cNvCxnSpPr>
          <p:nvPr/>
        </p:nvCxnSpPr>
        <p:spPr>
          <a:xfrm>
            <a:off x="4567775" y="1308450"/>
            <a:ext cx="0" cy="27483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242" name="Google Shape;1242;p199"/>
          <p:cNvCxnSpPr>
            <a:stCxn id="1240" idx="1"/>
            <a:endCxn id="1240" idx="3"/>
          </p:cNvCxnSpPr>
          <p:nvPr/>
        </p:nvCxnSpPr>
        <p:spPr>
          <a:xfrm>
            <a:off x="1127975" y="2682600"/>
            <a:ext cx="6879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243" name="Google Shape;1243;p199"/>
          <p:cNvSpPr/>
          <p:nvPr/>
        </p:nvSpPr>
        <p:spPr>
          <a:xfrm>
            <a:off x="1263700" y="1448300"/>
            <a:ext cx="3147300" cy="10377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ja" sz="1800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戦略コーチング</a:t>
            </a:r>
            <a:endParaRPr b="1" i="0" sz="1500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p199"/>
          <p:cNvSpPr/>
          <p:nvPr/>
        </p:nvSpPr>
        <p:spPr>
          <a:xfrm>
            <a:off x="4724550" y="1448288"/>
            <a:ext cx="3147300" cy="1037700"/>
          </a:xfrm>
          <a:prstGeom prst="rect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　</a:t>
            </a:r>
            <a:r>
              <a:rPr b="1" i="0" lang="ja" sz="1800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カルチャーコーチング</a:t>
            </a:r>
            <a:endParaRPr b="0" i="0" sz="1400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199"/>
          <p:cNvSpPr/>
          <p:nvPr/>
        </p:nvSpPr>
        <p:spPr>
          <a:xfrm>
            <a:off x="1263700" y="2874925"/>
            <a:ext cx="3147300" cy="1037700"/>
          </a:xfrm>
          <a:prstGeom prst="rect">
            <a:avLst/>
          </a:prstGeom>
          <a:solidFill>
            <a:srgbClr val="E1EB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ja" sz="1800"/>
              <a:t>　　戦術</a:t>
            </a:r>
            <a:r>
              <a:rPr b="1" i="0" lang="ja" sz="1800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コーチング</a:t>
            </a:r>
            <a:endParaRPr b="0" i="0" sz="1400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p199"/>
          <p:cNvSpPr/>
          <p:nvPr/>
        </p:nvSpPr>
        <p:spPr>
          <a:xfrm>
            <a:off x="4724550" y="2874938"/>
            <a:ext cx="3147300" cy="1037700"/>
          </a:xfrm>
          <a:prstGeom prst="rect">
            <a:avLst/>
          </a:prstGeom>
          <a:solidFill>
            <a:srgbClr val="FCD4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ja" sz="1800"/>
              <a:t>　</a:t>
            </a:r>
            <a:r>
              <a:rPr b="1" i="0" lang="ja" sz="1800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ピープルコーチング</a:t>
            </a:r>
            <a:endParaRPr b="0" i="0" sz="1400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ターゲット" id="1247" name="Google Shape;1247;p1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9534" y="1547829"/>
            <a:ext cx="507453" cy="5124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事業の成長" id="1248" name="Google Shape;1248;p19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7765" y="2879198"/>
            <a:ext cx="592625" cy="5848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階層状のピラミッド" id="1249" name="Google Shape;1249;p19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24542" y="1544586"/>
            <a:ext cx="527522" cy="5189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環状の矢印" id="1250" name="Google Shape;1250;p19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99384" y="2879197"/>
            <a:ext cx="647732" cy="6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1" name="Google Shape;1251;p199"/>
          <p:cNvSpPr txBox="1"/>
          <p:nvPr/>
        </p:nvSpPr>
        <p:spPr>
          <a:xfrm>
            <a:off x="3297147" y="982275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ja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経営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2" name="Google Shape;1252;p199"/>
          <p:cNvSpPr txBox="1"/>
          <p:nvPr/>
        </p:nvSpPr>
        <p:spPr>
          <a:xfrm>
            <a:off x="3297147" y="4104975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ja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現場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3" name="Google Shape;1253;p199"/>
          <p:cNvSpPr txBox="1"/>
          <p:nvPr/>
        </p:nvSpPr>
        <p:spPr>
          <a:xfrm>
            <a:off x="237473" y="2547900"/>
            <a:ext cx="7920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ja" sz="2000">
                <a:solidFill>
                  <a:schemeClr val="lt1"/>
                </a:solidFill>
              </a:rPr>
              <a:t>DO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4" name="Google Shape;1254;p199"/>
          <p:cNvSpPr txBox="1"/>
          <p:nvPr/>
        </p:nvSpPr>
        <p:spPr>
          <a:xfrm>
            <a:off x="8007575" y="2547900"/>
            <a:ext cx="8778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ja" sz="2000">
                <a:solidFill>
                  <a:schemeClr val="lt1"/>
                </a:solidFill>
              </a:rPr>
              <a:t>BE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9" name="Google Shape;1259;p200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60" name="Google Shape;1260;p200"/>
          <p:cNvSpPr/>
          <p:nvPr/>
        </p:nvSpPr>
        <p:spPr>
          <a:xfrm rot="5400000">
            <a:off x="4109250" y="-2692200"/>
            <a:ext cx="925500" cy="63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p200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2" name="Google Shape;1262;p200"/>
          <p:cNvSpPr txBox="1"/>
          <p:nvPr/>
        </p:nvSpPr>
        <p:spPr>
          <a:xfrm>
            <a:off x="2392950" y="4536750"/>
            <a:ext cx="4358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ja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現状</a:t>
            </a:r>
            <a:endParaRPr b="1" i="0" sz="2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p200"/>
          <p:cNvSpPr txBox="1"/>
          <p:nvPr/>
        </p:nvSpPr>
        <p:spPr>
          <a:xfrm>
            <a:off x="1446275" y="197400"/>
            <a:ext cx="6243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ja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MVV</a:t>
            </a:r>
            <a:r>
              <a:rPr b="1" lang="ja" sz="2200">
                <a:solidFill>
                  <a:schemeClr val="lt1"/>
                </a:solidFill>
              </a:rPr>
              <a:t>・</a:t>
            </a:r>
            <a:r>
              <a:rPr b="1" i="0" lang="ja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 b="1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200"/>
          <p:cNvSpPr/>
          <p:nvPr/>
        </p:nvSpPr>
        <p:spPr>
          <a:xfrm>
            <a:off x="1127975" y="1308450"/>
            <a:ext cx="6879600" cy="2748300"/>
          </a:xfrm>
          <a:prstGeom prst="rect">
            <a:avLst/>
          </a:prstGeom>
          <a:solidFill>
            <a:srgbClr val="FFFFFF">
              <a:alpha val="284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65" name="Google Shape;1265;p200"/>
          <p:cNvCxnSpPr>
            <a:stCxn id="1264" idx="0"/>
            <a:endCxn id="1264" idx="2"/>
          </p:cNvCxnSpPr>
          <p:nvPr/>
        </p:nvCxnSpPr>
        <p:spPr>
          <a:xfrm>
            <a:off x="4567775" y="1308450"/>
            <a:ext cx="0" cy="27483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266" name="Google Shape;1266;p200"/>
          <p:cNvCxnSpPr>
            <a:stCxn id="1264" idx="1"/>
            <a:endCxn id="1264" idx="3"/>
          </p:cNvCxnSpPr>
          <p:nvPr/>
        </p:nvCxnSpPr>
        <p:spPr>
          <a:xfrm>
            <a:off x="1127975" y="2682600"/>
            <a:ext cx="6879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267" name="Google Shape;1267;p200"/>
          <p:cNvSpPr/>
          <p:nvPr/>
        </p:nvSpPr>
        <p:spPr>
          <a:xfrm>
            <a:off x="1263700" y="1448300"/>
            <a:ext cx="3147300" cy="10377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ja" sz="1800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戦略コーチング</a:t>
            </a:r>
            <a:endParaRPr b="1" i="0" sz="1500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8" name="Google Shape;1268;p200"/>
          <p:cNvSpPr/>
          <p:nvPr/>
        </p:nvSpPr>
        <p:spPr>
          <a:xfrm>
            <a:off x="4724550" y="1448288"/>
            <a:ext cx="3147300" cy="1037700"/>
          </a:xfrm>
          <a:prstGeom prst="rect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ja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　</a:t>
            </a:r>
            <a:r>
              <a:rPr b="1" i="0" lang="ja" sz="1800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カルチャーコーチング</a:t>
            </a:r>
            <a:endParaRPr b="0" i="0" sz="1400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p200"/>
          <p:cNvSpPr/>
          <p:nvPr/>
        </p:nvSpPr>
        <p:spPr>
          <a:xfrm>
            <a:off x="1263700" y="2874925"/>
            <a:ext cx="3147300" cy="1037700"/>
          </a:xfrm>
          <a:prstGeom prst="rect">
            <a:avLst/>
          </a:prstGeom>
          <a:solidFill>
            <a:srgbClr val="E1EB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ja" sz="1800"/>
              <a:t>　　戦術</a:t>
            </a:r>
            <a:r>
              <a:rPr b="1" i="0" lang="ja" sz="1800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コーチング</a:t>
            </a:r>
            <a:endParaRPr b="0" i="0" sz="1400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ターゲット" id="1270" name="Google Shape;1270;p2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9534" y="1547829"/>
            <a:ext cx="507453" cy="5124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階層状のピラミッド" id="1271" name="Google Shape;1271;p20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24542" y="1544586"/>
            <a:ext cx="527522" cy="5189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環状の矢印" id="1272" name="Google Shape;1272;p20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99384" y="2879197"/>
            <a:ext cx="647732" cy="6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3" name="Google Shape;1273;p200"/>
          <p:cNvSpPr txBox="1"/>
          <p:nvPr/>
        </p:nvSpPr>
        <p:spPr>
          <a:xfrm>
            <a:off x="3297147" y="982275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ja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経営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4" name="Google Shape;1274;p200"/>
          <p:cNvSpPr txBox="1"/>
          <p:nvPr/>
        </p:nvSpPr>
        <p:spPr>
          <a:xfrm>
            <a:off x="3297147" y="4104975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ja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現場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p200"/>
          <p:cNvSpPr txBox="1"/>
          <p:nvPr/>
        </p:nvSpPr>
        <p:spPr>
          <a:xfrm>
            <a:off x="237473" y="2547900"/>
            <a:ext cx="7920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ja" sz="2000">
                <a:solidFill>
                  <a:schemeClr val="lt1"/>
                </a:solidFill>
              </a:rPr>
              <a:t>DO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6" name="Google Shape;1276;p200"/>
          <p:cNvSpPr txBox="1"/>
          <p:nvPr/>
        </p:nvSpPr>
        <p:spPr>
          <a:xfrm>
            <a:off x="8007575" y="2547900"/>
            <a:ext cx="8778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ja" sz="2000">
                <a:solidFill>
                  <a:schemeClr val="lt1"/>
                </a:solidFill>
              </a:rPr>
              <a:t>BE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7" name="Google Shape;1277;p200"/>
          <p:cNvSpPr/>
          <p:nvPr/>
        </p:nvSpPr>
        <p:spPr>
          <a:xfrm>
            <a:off x="11638" y="0"/>
            <a:ext cx="9144000" cy="5143500"/>
          </a:xfrm>
          <a:prstGeom prst="rect">
            <a:avLst/>
          </a:prstGeom>
          <a:solidFill>
            <a:srgbClr val="000000">
              <a:alpha val="56330"/>
            </a:srgb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200"/>
          <p:cNvSpPr/>
          <p:nvPr/>
        </p:nvSpPr>
        <p:spPr>
          <a:xfrm>
            <a:off x="4724550" y="2874938"/>
            <a:ext cx="3147300" cy="1037700"/>
          </a:xfrm>
          <a:prstGeom prst="rect">
            <a:avLst/>
          </a:prstGeom>
          <a:solidFill>
            <a:srgbClr val="FCD4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ja" sz="1800"/>
              <a:t>　</a:t>
            </a:r>
            <a:r>
              <a:rPr b="1" i="0" lang="ja" sz="1800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ピープルコーチング</a:t>
            </a:r>
            <a:endParaRPr b="0" i="0" sz="1400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事業の成長" id="1279" name="Google Shape;1279;p20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7765" y="2879198"/>
            <a:ext cx="592625" cy="584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4" name="Google Shape;1284;p201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85" name="Google Shape;1285;p201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201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201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MVV・GOAL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288" name="Google Shape;1288;p201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289" name="Google Shape;1289;p201"/>
          <p:cNvSpPr txBox="1"/>
          <p:nvPr/>
        </p:nvSpPr>
        <p:spPr>
          <a:xfrm>
            <a:off x="1127975" y="1308300"/>
            <a:ext cx="6879600" cy="2748300"/>
          </a:xfrm>
          <a:prstGeom prst="rect">
            <a:avLst/>
          </a:prstGeom>
          <a:solidFill>
            <a:srgbClr val="FCD4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700">
                <a:solidFill>
                  <a:schemeClr val="dk1"/>
                </a:solidFill>
              </a:rPr>
              <a:t>ピープルコーチング</a:t>
            </a:r>
            <a:endParaRPr b="1" sz="2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個人のエフィカシーを最大化させ潜在的可能性を解放すること</a:t>
            </a:r>
            <a:endParaRPr b="1" sz="2000">
              <a:solidFill>
                <a:schemeClr val="dk1"/>
              </a:solidFill>
            </a:endParaRPr>
          </a:p>
        </p:txBody>
      </p:sp>
      <p:pic>
        <p:nvPicPr>
          <p:cNvPr descr="事業の成長" id="1290" name="Google Shape;1290;p2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7974" y="1308300"/>
            <a:ext cx="1322625" cy="130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5" name="Google Shape;1295;p202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96" name="Google Shape;1296;p202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202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202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299" name="Google Shape;1299;p202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  <p:cxnSp>
        <p:nvCxnSpPr>
          <p:cNvPr id="1300" name="Google Shape;1300;p202"/>
          <p:cNvCxnSpPr/>
          <p:nvPr/>
        </p:nvCxnSpPr>
        <p:spPr>
          <a:xfrm>
            <a:off x="1074025" y="2571750"/>
            <a:ext cx="69405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301" name="Google Shape;1301;p202"/>
          <p:cNvCxnSpPr/>
          <p:nvPr/>
        </p:nvCxnSpPr>
        <p:spPr>
          <a:xfrm flipH="1">
            <a:off x="4570210" y="1202853"/>
            <a:ext cx="3600" cy="27378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302" name="Google Shape;1302;p202"/>
          <p:cNvSpPr txBox="1"/>
          <p:nvPr/>
        </p:nvSpPr>
        <p:spPr>
          <a:xfrm>
            <a:off x="3297147" y="879650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定性（測定不可能）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03" name="Google Shape;1303;p202"/>
          <p:cNvSpPr txBox="1"/>
          <p:nvPr/>
        </p:nvSpPr>
        <p:spPr>
          <a:xfrm>
            <a:off x="3297147" y="3994450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定量（測定可能）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04" name="Google Shape;1304;p202"/>
          <p:cNvSpPr txBox="1"/>
          <p:nvPr/>
        </p:nvSpPr>
        <p:spPr>
          <a:xfrm>
            <a:off x="-121025" y="2437050"/>
            <a:ext cx="1466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表層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05" name="Google Shape;1305;p202"/>
          <p:cNvSpPr txBox="1"/>
          <p:nvPr/>
        </p:nvSpPr>
        <p:spPr>
          <a:xfrm>
            <a:off x="7798925" y="2437050"/>
            <a:ext cx="1526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深層</a:t>
            </a:r>
            <a:endParaRPr sz="1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0" name="Google Shape;1310;p203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11" name="Google Shape;1311;p203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2" name="Google Shape;1312;p203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203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314" name="Google Shape;1314;p203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  <p:cxnSp>
        <p:nvCxnSpPr>
          <p:cNvPr id="1315" name="Google Shape;1315;p203"/>
          <p:cNvCxnSpPr/>
          <p:nvPr/>
        </p:nvCxnSpPr>
        <p:spPr>
          <a:xfrm>
            <a:off x="1074025" y="2571750"/>
            <a:ext cx="69405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316" name="Google Shape;1316;p203"/>
          <p:cNvCxnSpPr/>
          <p:nvPr/>
        </p:nvCxnSpPr>
        <p:spPr>
          <a:xfrm flipH="1">
            <a:off x="4570210" y="1202853"/>
            <a:ext cx="3600" cy="27378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317" name="Google Shape;1317;p203"/>
          <p:cNvSpPr txBox="1"/>
          <p:nvPr/>
        </p:nvSpPr>
        <p:spPr>
          <a:xfrm>
            <a:off x="-121025" y="2437050"/>
            <a:ext cx="1466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表層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18" name="Google Shape;1318;p203"/>
          <p:cNvSpPr txBox="1"/>
          <p:nvPr/>
        </p:nvSpPr>
        <p:spPr>
          <a:xfrm>
            <a:off x="7798925" y="2437050"/>
            <a:ext cx="1526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深層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19" name="Google Shape;1319;p203"/>
          <p:cNvSpPr/>
          <p:nvPr/>
        </p:nvSpPr>
        <p:spPr>
          <a:xfrm>
            <a:off x="4686450" y="1230400"/>
            <a:ext cx="3238200" cy="1231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何故やるのか？</a:t>
            </a:r>
            <a:endParaRPr b="1" sz="20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定性GOAL・自己欲求</a:t>
            </a:r>
            <a:endParaRPr b="1" sz="15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自己能力・自己機能</a:t>
            </a:r>
            <a:endParaRPr b="1" sz="1500">
              <a:solidFill>
                <a:srgbClr val="FFFFFF"/>
              </a:solidFill>
            </a:endParaRPr>
          </a:p>
        </p:txBody>
      </p:sp>
      <p:sp>
        <p:nvSpPr>
          <p:cNvPr id="1320" name="Google Shape;1320;p203"/>
          <p:cNvSpPr/>
          <p:nvPr/>
        </p:nvSpPr>
        <p:spPr>
          <a:xfrm>
            <a:off x="1219350" y="2706350"/>
            <a:ext cx="3238200" cy="1231200"/>
          </a:xfrm>
          <a:prstGeom prst="rect">
            <a:avLst/>
          </a:prstGeom>
          <a:solidFill>
            <a:srgbClr val="FCD4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dk1"/>
                </a:solidFill>
              </a:rPr>
              <a:t>言語</a:t>
            </a:r>
            <a:endParaRPr b="1" sz="2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dk1"/>
                </a:solidFill>
              </a:rPr>
              <a:t>効果的なコミュニケーション</a:t>
            </a:r>
            <a:endParaRPr b="1" sz="1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dk1"/>
                </a:solidFill>
              </a:rPr>
              <a:t>人間の原理原則の理解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321" name="Google Shape;1321;p203"/>
          <p:cNvSpPr/>
          <p:nvPr/>
        </p:nvSpPr>
        <p:spPr>
          <a:xfrm>
            <a:off x="4686450" y="2706450"/>
            <a:ext cx="3238200" cy="1231200"/>
          </a:xfrm>
          <a:prstGeom prst="rect">
            <a:avLst/>
          </a:prstGeom>
          <a:solidFill>
            <a:srgbClr val="E1EB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/>
              <a:t>どのようにやるか？</a:t>
            </a:r>
            <a:endParaRPr b="1" sz="20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/>
              <a:t>定量GOAL・決断</a:t>
            </a:r>
            <a:endParaRPr b="1" sz="15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/>
              <a:t>アクションプラン</a:t>
            </a:r>
            <a:endParaRPr b="1" sz="1500"/>
          </a:p>
        </p:txBody>
      </p:sp>
      <p:sp>
        <p:nvSpPr>
          <p:cNvPr id="1322" name="Google Shape;1322;p203"/>
          <p:cNvSpPr txBox="1"/>
          <p:nvPr/>
        </p:nvSpPr>
        <p:spPr>
          <a:xfrm>
            <a:off x="3297147" y="879650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定性（測定不可能）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23" name="Google Shape;1323;p203"/>
          <p:cNvSpPr txBox="1"/>
          <p:nvPr/>
        </p:nvSpPr>
        <p:spPr>
          <a:xfrm>
            <a:off x="3297147" y="3994450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定量（測定可能）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24" name="Google Shape;1324;p203"/>
          <p:cNvSpPr/>
          <p:nvPr/>
        </p:nvSpPr>
        <p:spPr>
          <a:xfrm>
            <a:off x="1219350" y="1244800"/>
            <a:ext cx="3238200" cy="1231200"/>
          </a:xfrm>
          <a:prstGeom prst="rect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lt1"/>
                </a:solidFill>
              </a:rPr>
              <a:t>非言語</a:t>
            </a:r>
            <a:endParaRPr b="1" sz="2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</a:rPr>
              <a:t>効果的なスタンス・態度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</a:rPr>
              <a:t>姿勢・動き・表情・声のトーン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9" name="Google Shape;1329;p204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30" name="Google Shape;1330;p204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204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204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MVV・GOAL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333" name="Google Shape;1333;p204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334" name="Google Shape;1334;p204"/>
          <p:cNvSpPr txBox="1"/>
          <p:nvPr/>
        </p:nvSpPr>
        <p:spPr>
          <a:xfrm>
            <a:off x="1127975" y="1308300"/>
            <a:ext cx="6879600" cy="2748300"/>
          </a:xfrm>
          <a:prstGeom prst="rect">
            <a:avLst/>
          </a:prstGeom>
          <a:solidFill>
            <a:srgbClr val="FCD4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700">
                <a:solidFill>
                  <a:schemeClr val="dk1"/>
                </a:solidFill>
              </a:rPr>
              <a:t>ピープルコーチング</a:t>
            </a:r>
            <a:endParaRPr b="1" sz="2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1"/>
                </a:solidFill>
              </a:rPr>
              <a:t>個人のエフィカシーを最大化させ潜在的可能性を解放すること</a:t>
            </a:r>
            <a:endParaRPr b="1" sz="2000">
              <a:solidFill>
                <a:schemeClr val="dk1"/>
              </a:solidFill>
            </a:endParaRPr>
          </a:p>
        </p:txBody>
      </p:sp>
      <p:pic>
        <p:nvPicPr>
          <p:cNvPr descr="事業の成長" id="1335" name="Google Shape;1335;p20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7974" y="1308300"/>
            <a:ext cx="1322625" cy="130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0" name="Google Shape;1340;p205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41" name="Google Shape;1341;p205"/>
          <p:cNvSpPr/>
          <p:nvPr/>
        </p:nvSpPr>
        <p:spPr>
          <a:xfrm rot="5400000">
            <a:off x="4201925" y="-2039100"/>
            <a:ext cx="731700" cy="4809900"/>
          </a:xfrm>
          <a:prstGeom prst="flowChartDelay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205"/>
          <p:cNvSpPr/>
          <p:nvPr/>
        </p:nvSpPr>
        <p:spPr>
          <a:xfrm rot="-5400000">
            <a:off x="4207325" y="2378102"/>
            <a:ext cx="720900" cy="4809900"/>
          </a:xfrm>
          <a:prstGeom prst="flowChartDelay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205"/>
          <p:cNvSpPr txBox="1"/>
          <p:nvPr/>
        </p:nvSpPr>
        <p:spPr>
          <a:xfrm>
            <a:off x="2388725" y="1141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GOAL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344" name="Google Shape;1344;p205"/>
          <p:cNvSpPr txBox="1"/>
          <p:nvPr/>
        </p:nvSpPr>
        <p:spPr>
          <a:xfrm>
            <a:off x="2392950" y="4536750"/>
            <a:ext cx="435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現状</a:t>
            </a:r>
            <a:endParaRPr b="1" sz="2000">
              <a:solidFill>
                <a:srgbClr val="FFFFFF"/>
              </a:solidFill>
            </a:endParaRPr>
          </a:p>
        </p:txBody>
      </p:sp>
      <p:cxnSp>
        <p:nvCxnSpPr>
          <p:cNvPr id="1345" name="Google Shape;1345;p205"/>
          <p:cNvCxnSpPr/>
          <p:nvPr/>
        </p:nvCxnSpPr>
        <p:spPr>
          <a:xfrm>
            <a:off x="1074025" y="2571750"/>
            <a:ext cx="69405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346" name="Google Shape;1346;p205"/>
          <p:cNvCxnSpPr/>
          <p:nvPr/>
        </p:nvCxnSpPr>
        <p:spPr>
          <a:xfrm flipH="1">
            <a:off x="4570210" y="1202853"/>
            <a:ext cx="3600" cy="27378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347" name="Google Shape;1347;p205"/>
          <p:cNvSpPr txBox="1"/>
          <p:nvPr/>
        </p:nvSpPr>
        <p:spPr>
          <a:xfrm>
            <a:off x="-121025" y="2437050"/>
            <a:ext cx="1466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表層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48" name="Google Shape;1348;p205"/>
          <p:cNvSpPr txBox="1"/>
          <p:nvPr/>
        </p:nvSpPr>
        <p:spPr>
          <a:xfrm>
            <a:off x="7798925" y="2437050"/>
            <a:ext cx="1526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深層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49" name="Google Shape;1349;p205"/>
          <p:cNvSpPr/>
          <p:nvPr/>
        </p:nvSpPr>
        <p:spPr>
          <a:xfrm>
            <a:off x="4686450" y="1230400"/>
            <a:ext cx="3238200" cy="1231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何故やるのか？</a:t>
            </a:r>
            <a:endParaRPr b="1" sz="20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定性GOAL・自己欲求</a:t>
            </a:r>
            <a:endParaRPr b="1" sz="15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自己能力・自己機能</a:t>
            </a:r>
            <a:endParaRPr b="1" sz="1500">
              <a:solidFill>
                <a:srgbClr val="FFFFFF"/>
              </a:solidFill>
            </a:endParaRPr>
          </a:p>
        </p:txBody>
      </p:sp>
      <p:sp>
        <p:nvSpPr>
          <p:cNvPr id="1350" name="Google Shape;1350;p205"/>
          <p:cNvSpPr/>
          <p:nvPr/>
        </p:nvSpPr>
        <p:spPr>
          <a:xfrm>
            <a:off x="1219350" y="2706350"/>
            <a:ext cx="3238200" cy="1231200"/>
          </a:xfrm>
          <a:prstGeom prst="rect">
            <a:avLst/>
          </a:prstGeom>
          <a:solidFill>
            <a:srgbClr val="FCD4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dk1"/>
                </a:solidFill>
              </a:rPr>
              <a:t>言語</a:t>
            </a:r>
            <a:endParaRPr b="1" sz="2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dk1"/>
                </a:solidFill>
              </a:rPr>
              <a:t>効果的なコミュニケーション</a:t>
            </a:r>
            <a:endParaRPr b="1" sz="1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dk1"/>
                </a:solidFill>
              </a:rPr>
              <a:t>人間の原理原則の理解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351" name="Google Shape;1351;p205"/>
          <p:cNvSpPr/>
          <p:nvPr/>
        </p:nvSpPr>
        <p:spPr>
          <a:xfrm>
            <a:off x="4686450" y="2706450"/>
            <a:ext cx="3238200" cy="1231200"/>
          </a:xfrm>
          <a:prstGeom prst="rect">
            <a:avLst/>
          </a:prstGeom>
          <a:solidFill>
            <a:srgbClr val="E1EB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/>
              <a:t>どのようにやるか？</a:t>
            </a:r>
            <a:endParaRPr b="1" sz="20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/>
              <a:t>定量GOAL・決断</a:t>
            </a:r>
            <a:endParaRPr b="1" sz="15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/>
              <a:t>アクションプラン</a:t>
            </a:r>
            <a:endParaRPr b="1" sz="1500"/>
          </a:p>
        </p:txBody>
      </p:sp>
      <p:sp>
        <p:nvSpPr>
          <p:cNvPr id="1352" name="Google Shape;1352;p205"/>
          <p:cNvSpPr txBox="1"/>
          <p:nvPr/>
        </p:nvSpPr>
        <p:spPr>
          <a:xfrm>
            <a:off x="3297147" y="879650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定性（測定不可能）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53" name="Google Shape;1353;p205"/>
          <p:cNvSpPr txBox="1"/>
          <p:nvPr/>
        </p:nvSpPr>
        <p:spPr>
          <a:xfrm>
            <a:off x="3297147" y="3994450"/>
            <a:ext cx="2549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FF"/>
                </a:solidFill>
              </a:rPr>
              <a:t>定量（測定可能）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54" name="Google Shape;1354;p205"/>
          <p:cNvSpPr/>
          <p:nvPr/>
        </p:nvSpPr>
        <p:spPr>
          <a:xfrm>
            <a:off x="1219350" y="1244800"/>
            <a:ext cx="3238200" cy="1231200"/>
          </a:xfrm>
          <a:prstGeom prst="rect">
            <a:avLst/>
          </a:prstGeom>
          <a:solidFill>
            <a:srgbClr val="A00C1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lt1"/>
                </a:solidFill>
              </a:rPr>
              <a:t>非言語</a:t>
            </a:r>
            <a:endParaRPr b="1" sz="2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</a:rPr>
              <a:t>効果的なスタンス・態度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lt1"/>
                </a:solidFill>
              </a:rPr>
              <a:t>姿勢・動き・表情・声のトーン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206"/>
          <p:cNvSpPr txBox="1"/>
          <p:nvPr/>
        </p:nvSpPr>
        <p:spPr>
          <a:xfrm>
            <a:off x="657902" y="48263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AGENDA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1360" name="Google Shape;1360;p206"/>
          <p:cNvSpPr txBox="1"/>
          <p:nvPr/>
        </p:nvSpPr>
        <p:spPr>
          <a:xfrm>
            <a:off x="657902" y="1203752"/>
            <a:ext cx="5845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この場の進め方</a:t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1361" name="Google Shape;1361;p206"/>
          <p:cNvSpPr txBox="1"/>
          <p:nvPr/>
        </p:nvSpPr>
        <p:spPr>
          <a:xfrm>
            <a:off x="657899" y="2048005"/>
            <a:ext cx="78183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① 全ての組織に共通する普遍の問題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② 組織コーチングとは何か</a:t>
            </a:r>
            <a:endParaRPr b="1" sz="1800">
              <a:solidFill>
                <a:srgbClr val="00206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002060"/>
                </a:solidFill>
                <a:highlight>
                  <a:schemeClr val="lt1"/>
                </a:highlight>
              </a:rPr>
              <a:t>③ 非言語エネルギーの現在地</a:t>
            </a:r>
            <a:endParaRPr b="1" sz="1800">
              <a:solidFill>
                <a:srgbClr val="00206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④ 非言語とは何か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⑤ 非言語エネルギーを創り出す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⑥ セールスとは何か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6" name="Google Shape;1366;p207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67" name="Google Shape;1367;p207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Question</a:t>
            </a:r>
            <a:endParaRPr/>
          </a:p>
        </p:txBody>
      </p:sp>
      <p:sp>
        <p:nvSpPr>
          <p:cNvPr id="1368" name="Google Shape;1368;p207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あなたが自分の人生を大成功させる上で</a:t>
            </a:r>
            <a:endParaRPr sz="22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自分のコーチに選択したいと思える人は誰ですか？</a:t>
            </a:r>
            <a:endParaRPr sz="22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3" name="Google Shape;1373;p208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74" name="Google Shape;1374;p208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Question</a:t>
            </a:r>
            <a:endParaRPr/>
          </a:p>
        </p:txBody>
      </p:sp>
      <p:sp>
        <p:nvSpPr>
          <p:cNvPr id="1375" name="Google Shape;1375;p208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そのコーチを選択させられた要素は何ですか？</a:t>
            </a:r>
            <a:endParaRPr sz="22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0" name="Google Shape;1380;p209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209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Question</a:t>
            </a:r>
            <a:endParaRPr/>
          </a:p>
        </p:txBody>
      </p:sp>
      <p:sp>
        <p:nvSpPr>
          <p:cNvPr id="1382" name="Google Shape;1382;p209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場のフィードバックを受け取り</a:t>
            </a:r>
            <a:endParaRPr sz="22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自分に要求したい在り方は何ですか？</a:t>
            </a:r>
            <a:endParaRPr sz="22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p210"/>
          <p:cNvSpPr txBox="1"/>
          <p:nvPr/>
        </p:nvSpPr>
        <p:spPr>
          <a:xfrm>
            <a:off x="657902" y="48263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AGENDA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1388" name="Google Shape;1388;p210"/>
          <p:cNvSpPr txBox="1"/>
          <p:nvPr/>
        </p:nvSpPr>
        <p:spPr>
          <a:xfrm>
            <a:off x="657902" y="1203752"/>
            <a:ext cx="5845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この場の進め方</a:t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1389" name="Google Shape;1389;p210"/>
          <p:cNvSpPr txBox="1"/>
          <p:nvPr/>
        </p:nvSpPr>
        <p:spPr>
          <a:xfrm>
            <a:off x="657899" y="2048005"/>
            <a:ext cx="78183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① 全ての組織に共通する普遍の問題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② 組織コーチングとは何か</a:t>
            </a:r>
            <a:endParaRPr b="1" sz="1800">
              <a:solidFill>
                <a:srgbClr val="00206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③ 非言語エネルギーの現在地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002060"/>
                </a:solidFill>
                <a:highlight>
                  <a:schemeClr val="lt1"/>
                </a:highlight>
              </a:rPr>
              <a:t>④ 非言語とは何か</a:t>
            </a:r>
            <a:endParaRPr b="1" sz="1800">
              <a:solidFill>
                <a:srgbClr val="00206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⑤ 非言語エネルギーを創り出す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⑥ セールスとは何か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4" name="Google Shape;1394;p211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95" name="Google Shape;1395;p211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Question</a:t>
            </a:r>
            <a:endParaRPr/>
          </a:p>
        </p:txBody>
      </p:sp>
      <p:sp>
        <p:nvSpPr>
          <p:cNvPr id="1396" name="Google Shape;1396;p211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非言語とは何だと思いますか？</a:t>
            </a:r>
            <a:endParaRPr sz="220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p212"/>
          <p:cNvSpPr txBox="1"/>
          <p:nvPr/>
        </p:nvSpPr>
        <p:spPr>
          <a:xfrm>
            <a:off x="0" y="2287050"/>
            <a:ext cx="9144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chemeClr val="lt1"/>
                </a:solidFill>
              </a:rPr>
              <a:t>言語以外で行うコミュニケーションのこと</a:t>
            </a:r>
            <a:endParaRPr b="1"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6" name="Google Shape;1406;p213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07" name="Google Shape;1407;p213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Key Point</a:t>
            </a:r>
            <a:endParaRPr/>
          </a:p>
        </p:txBody>
      </p:sp>
      <p:sp>
        <p:nvSpPr>
          <p:cNvPr id="1408" name="Google Shape;1408;p213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最も重要な鍵</a:t>
            </a:r>
            <a:endParaRPr sz="220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3" name="Google Shape;1413;p214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14" name="Google Shape;1414;p214"/>
          <p:cNvSpPr txBox="1"/>
          <p:nvPr>
            <p:ph type="title"/>
          </p:nvPr>
        </p:nvSpPr>
        <p:spPr>
          <a:xfrm>
            <a:off x="617725" y="506600"/>
            <a:ext cx="7806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4000"/>
              <a:t>Key Point</a:t>
            </a:r>
            <a:endParaRPr sz="4000"/>
          </a:p>
        </p:txBody>
      </p:sp>
      <p:sp>
        <p:nvSpPr>
          <p:cNvPr id="1415" name="Google Shape;1415;p214"/>
          <p:cNvSpPr txBox="1"/>
          <p:nvPr>
            <p:ph idx="2" type="title"/>
          </p:nvPr>
        </p:nvSpPr>
        <p:spPr>
          <a:xfrm>
            <a:off x="617725" y="1297475"/>
            <a:ext cx="7806300" cy="3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 sz="1820"/>
              <a:t>最も重要な鍵</a:t>
            </a:r>
            <a:endParaRPr sz="1820"/>
          </a:p>
        </p:txBody>
      </p:sp>
      <p:sp>
        <p:nvSpPr>
          <p:cNvPr id="1416" name="Google Shape;1416;p214"/>
          <p:cNvSpPr txBox="1"/>
          <p:nvPr/>
        </p:nvSpPr>
        <p:spPr>
          <a:xfrm>
            <a:off x="821050" y="1923275"/>
            <a:ext cx="7400700" cy="28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600">
                <a:solidFill>
                  <a:schemeClr val="lt1"/>
                </a:solidFill>
              </a:rPr>
              <a:t>メラビアンの法則</a:t>
            </a:r>
            <a:endParaRPr b="1" sz="2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600">
                <a:solidFill>
                  <a:schemeClr val="lt1"/>
                </a:solidFill>
              </a:rPr>
              <a:t>　・言語情報：7%</a:t>
            </a:r>
            <a:endParaRPr b="1" sz="2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600">
                <a:solidFill>
                  <a:schemeClr val="lt1"/>
                </a:solidFill>
              </a:rPr>
              <a:t>　・非言語情報：93%</a:t>
            </a:r>
            <a:endParaRPr b="1" sz="2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215"/>
          <p:cNvSpPr txBox="1"/>
          <p:nvPr/>
        </p:nvSpPr>
        <p:spPr>
          <a:xfrm>
            <a:off x="257498" y="46342"/>
            <a:ext cx="584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chemeClr val="lt1"/>
                </a:solidFill>
              </a:rPr>
              <a:t>思考に使う論理の3つの類型</a:t>
            </a:r>
            <a:endParaRPr b="1" sz="2400">
              <a:solidFill>
                <a:schemeClr val="lt1"/>
              </a:solidFill>
            </a:endParaRPr>
          </a:p>
        </p:txBody>
      </p:sp>
      <p:sp>
        <p:nvSpPr>
          <p:cNvPr id="1422" name="Google Shape;1422;p215"/>
          <p:cNvSpPr txBox="1"/>
          <p:nvPr/>
        </p:nvSpPr>
        <p:spPr>
          <a:xfrm>
            <a:off x="493875" y="148357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具体と抽象を言い換える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423" name="Google Shape;1423;p215"/>
          <p:cNvSpPr txBox="1"/>
          <p:nvPr/>
        </p:nvSpPr>
        <p:spPr>
          <a:xfrm>
            <a:off x="765225" y="1778350"/>
            <a:ext cx="1407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FFFF00"/>
                </a:solidFill>
              </a:rPr>
              <a:t>言い換え</a:t>
            </a:r>
            <a:endParaRPr b="1" sz="2400">
              <a:solidFill>
                <a:srgbClr val="FFFF00"/>
              </a:solidFill>
            </a:endParaRPr>
          </a:p>
        </p:txBody>
      </p:sp>
      <p:sp>
        <p:nvSpPr>
          <p:cNvPr id="1424" name="Google Shape;1424;p215"/>
          <p:cNvSpPr txBox="1"/>
          <p:nvPr/>
        </p:nvSpPr>
        <p:spPr>
          <a:xfrm>
            <a:off x="3642500" y="148357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部分と全体を構造化する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425" name="Google Shape;1425;p215"/>
          <p:cNvSpPr txBox="1"/>
          <p:nvPr/>
        </p:nvSpPr>
        <p:spPr>
          <a:xfrm>
            <a:off x="3968750" y="1778350"/>
            <a:ext cx="1300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FFFF00"/>
                </a:solidFill>
              </a:rPr>
              <a:t>構造化</a:t>
            </a:r>
            <a:endParaRPr b="1" sz="2400">
              <a:solidFill>
                <a:srgbClr val="FFFF00"/>
              </a:solidFill>
            </a:endParaRPr>
          </a:p>
        </p:txBody>
      </p:sp>
      <p:sp>
        <p:nvSpPr>
          <p:cNvPr id="1426" name="Google Shape;1426;p215"/>
          <p:cNvSpPr txBox="1"/>
          <p:nvPr/>
        </p:nvSpPr>
        <p:spPr>
          <a:xfrm>
            <a:off x="6680825" y="148357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原因と結果を関係づける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427" name="Google Shape;1427;p215"/>
          <p:cNvSpPr txBox="1"/>
          <p:nvPr/>
        </p:nvSpPr>
        <p:spPr>
          <a:xfrm>
            <a:off x="6952175" y="1778350"/>
            <a:ext cx="1407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>
                <a:solidFill>
                  <a:srgbClr val="FFFF00"/>
                </a:solidFill>
              </a:rPr>
              <a:t>因果関係</a:t>
            </a:r>
            <a:endParaRPr b="1" sz="2400">
              <a:solidFill>
                <a:srgbClr val="FFFF00"/>
              </a:solidFill>
            </a:endParaRPr>
          </a:p>
        </p:txBody>
      </p:sp>
      <p:sp>
        <p:nvSpPr>
          <p:cNvPr id="1428" name="Google Shape;1428;p215"/>
          <p:cNvSpPr/>
          <p:nvPr/>
        </p:nvSpPr>
        <p:spPr>
          <a:xfrm>
            <a:off x="430925" y="2686293"/>
            <a:ext cx="2025000" cy="1751400"/>
          </a:xfrm>
          <a:prstGeom prst="triangle">
            <a:avLst>
              <a:gd fmla="val 50000" name="adj"/>
            </a:avLst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29" name="Google Shape;1429;p215"/>
          <p:cNvCxnSpPr/>
          <p:nvPr/>
        </p:nvCxnSpPr>
        <p:spPr>
          <a:xfrm>
            <a:off x="928925" y="3694650"/>
            <a:ext cx="10290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430" name="Google Shape;1430;p215"/>
          <p:cNvSpPr txBox="1"/>
          <p:nvPr/>
        </p:nvSpPr>
        <p:spPr>
          <a:xfrm>
            <a:off x="468125" y="3182250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FFFF"/>
                </a:solidFill>
              </a:rPr>
              <a:t>抽象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431" name="Google Shape;1431;p215"/>
          <p:cNvSpPr txBox="1"/>
          <p:nvPr/>
        </p:nvSpPr>
        <p:spPr>
          <a:xfrm>
            <a:off x="468125" y="3830725"/>
            <a:ext cx="1950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FFFF"/>
                </a:solidFill>
              </a:rPr>
              <a:t>具体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432" name="Google Shape;1432;p215"/>
          <p:cNvSpPr/>
          <p:nvPr/>
        </p:nvSpPr>
        <p:spPr>
          <a:xfrm>
            <a:off x="4194192" y="292012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全体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433" name="Google Shape;1433;p215"/>
          <p:cNvSpPr/>
          <p:nvPr/>
        </p:nvSpPr>
        <p:spPr>
          <a:xfrm>
            <a:off x="4194192" y="407167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部分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434" name="Google Shape;1434;p215"/>
          <p:cNvSpPr/>
          <p:nvPr/>
        </p:nvSpPr>
        <p:spPr>
          <a:xfrm>
            <a:off x="3243575" y="407167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部分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435" name="Google Shape;1435;p215"/>
          <p:cNvSpPr/>
          <p:nvPr/>
        </p:nvSpPr>
        <p:spPr>
          <a:xfrm>
            <a:off x="5144829" y="4071675"/>
            <a:ext cx="849300" cy="3975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部分</a:t>
            </a:r>
            <a:endParaRPr b="1" sz="2000">
              <a:solidFill>
                <a:srgbClr val="FFFFFF"/>
              </a:solidFill>
            </a:endParaRPr>
          </a:p>
        </p:txBody>
      </p:sp>
      <p:cxnSp>
        <p:nvCxnSpPr>
          <p:cNvPr id="1436" name="Google Shape;1436;p215"/>
          <p:cNvCxnSpPr>
            <a:stCxn id="1432" idx="2"/>
            <a:endCxn id="1433" idx="0"/>
          </p:cNvCxnSpPr>
          <p:nvPr/>
        </p:nvCxnSpPr>
        <p:spPr>
          <a:xfrm>
            <a:off x="4618842" y="3317625"/>
            <a:ext cx="0" cy="7542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7" name="Google Shape;1437;p215"/>
          <p:cNvCxnSpPr/>
          <p:nvPr/>
        </p:nvCxnSpPr>
        <p:spPr>
          <a:xfrm flipH="1" rot="10800000">
            <a:off x="3718775" y="3700125"/>
            <a:ext cx="1860300" cy="370800"/>
          </a:xfrm>
          <a:prstGeom prst="bentConnector3">
            <a:avLst>
              <a:gd fmla="val -32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8" name="Google Shape;1438;p215"/>
          <p:cNvCxnSpPr>
            <a:stCxn id="1435" idx="0"/>
          </p:cNvCxnSpPr>
          <p:nvPr/>
        </p:nvCxnSpPr>
        <p:spPr>
          <a:xfrm rot="10800000">
            <a:off x="5569479" y="3698475"/>
            <a:ext cx="0" cy="3732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9" name="Google Shape;1439;p215"/>
          <p:cNvSpPr txBox="1"/>
          <p:nvPr/>
        </p:nvSpPr>
        <p:spPr>
          <a:xfrm>
            <a:off x="7006363" y="2686312"/>
            <a:ext cx="1243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結果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440" name="Google Shape;1440;p215"/>
          <p:cNvSpPr txBox="1"/>
          <p:nvPr/>
        </p:nvSpPr>
        <p:spPr>
          <a:xfrm>
            <a:off x="6599175" y="3953757"/>
            <a:ext cx="1026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原因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441" name="Google Shape;1441;p215"/>
          <p:cNvSpPr txBox="1"/>
          <p:nvPr/>
        </p:nvSpPr>
        <p:spPr>
          <a:xfrm>
            <a:off x="7687065" y="3953757"/>
            <a:ext cx="1026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FFFFFF"/>
                </a:solidFill>
              </a:rPr>
              <a:t>原因</a:t>
            </a:r>
            <a:endParaRPr b="1" sz="2000">
              <a:solidFill>
                <a:srgbClr val="FFFFFF"/>
              </a:solidFill>
            </a:endParaRPr>
          </a:p>
        </p:txBody>
      </p:sp>
      <p:cxnSp>
        <p:nvCxnSpPr>
          <p:cNvPr id="1442" name="Google Shape;1442;p215"/>
          <p:cNvCxnSpPr/>
          <p:nvPr/>
        </p:nvCxnSpPr>
        <p:spPr>
          <a:xfrm flipH="1" rot="10800000">
            <a:off x="7153902" y="3282255"/>
            <a:ext cx="412800" cy="7146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3" name="Google Shape;1443;p215"/>
          <p:cNvSpPr/>
          <p:nvPr/>
        </p:nvSpPr>
        <p:spPr>
          <a:xfrm rot="7758649">
            <a:off x="7004042" y="2373314"/>
            <a:ext cx="1129865" cy="1272006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44" name="Google Shape;1444;p215"/>
          <p:cNvCxnSpPr/>
          <p:nvPr/>
        </p:nvCxnSpPr>
        <p:spPr>
          <a:xfrm rot="10800000">
            <a:off x="7731046" y="3282255"/>
            <a:ext cx="412800" cy="7146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5" name="Google Shape;1445;p215"/>
          <p:cNvSpPr txBox="1"/>
          <p:nvPr/>
        </p:nvSpPr>
        <p:spPr>
          <a:xfrm>
            <a:off x="1141425" y="900000"/>
            <a:ext cx="655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FFFFFF"/>
                </a:solidFill>
              </a:rPr>
              <a:t>01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1446" name="Google Shape;1446;p215"/>
          <p:cNvSpPr txBox="1"/>
          <p:nvPr/>
        </p:nvSpPr>
        <p:spPr>
          <a:xfrm>
            <a:off x="4290050" y="900000"/>
            <a:ext cx="655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FFFFFF"/>
                </a:solidFill>
              </a:rPr>
              <a:t>02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1447" name="Google Shape;1447;p215"/>
          <p:cNvSpPr txBox="1"/>
          <p:nvPr/>
        </p:nvSpPr>
        <p:spPr>
          <a:xfrm>
            <a:off x="7328375" y="900000"/>
            <a:ext cx="655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FFFFFF"/>
                </a:solidFill>
              </a:rPr>
              <a:t>03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1448" name="Google Shape;1448;p215"/>
          <p:cNvSpPr/>
          <p:nvPr/>
        </p:nvSpPr>
        <p:spPr>
          <a:xfrm>
            <a:off x="2904200" y="900000"/>
            <a:ext cx="3366000" cy="37986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3" name="Google Shape;1453;p216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1076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54" name="Google Shape;1454;p216"/>
          <p:cNvSpPr txBox="1"/>
          <p:nvPr>
            <p:ph type="title"/>
          </p:nvPr>
        </p:nvSpPr>
        <p:spPr>
          <a:xfrm>
            <a:off x="617725" y="52550"/>
            <a:ext cx="7806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ja" sz="2572"/>
              <a:t>非言語情報</a:t>
            </a:r>
            <a:endParaRPr sz="2572"/>
          </a:p>
        </p:txBody>
      </p:sp>
      <p:graphicFrame>
        <p:nvGraphicFramePr>
          <p:cNvPr id="1455" name="Google Shape;1455;p216"/>
          <p:cNvGraphicFramePr/>
          <p:nvPr/>
        </p:nvGraphicFramePr>
        <p:xfrm>
          <a:off x="530138" y="93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1985725"/>
                <a:gridCol w="5995750"/>
              </a:tblGrid>
              <a:tr h="559325">
                <a:tc>
                  <a:txBody>
                    <a:bodyPr/>
                    <a:lstStyle/>
                    <a:p>
                      <a:pPr indent="0" lvl="0" marL="0" marR="2794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chemeClr val="lt1"/>
                          </a:solidFill>
                        </a:rPr>
                        <a:t>動作行動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身振り手振・表情・振る舞い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325">
                <a:tc>
                  <a:txBody>
                    <a:bodyPr/>
                    <a:lstStyle/>
                    <a:p>
                      <a:pPr indent="0" lvl="0" marL="0" marR="2794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>
                          <a:solidFill>
                            <a:schemeClr val="lt1"/>
                          </a:solidFill>
                        </a:rPr>
                        <a:t>身体特徴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体型・体臭・髪型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325">
                <a:tc>
                  <a:txBody>
                    <a:bodyPr/>
                    <a:lstStyle/>
                    <a:p>
                      <a:pPr indent="0" lvl="0" marL="0" marR="2794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chemeClr val="lt1"/>
                          </a:solidFill>
                        </a:rPr>
                        <a:t>接触行動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あいさつ・抱く・触る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325">
                <a:tc>
                  <a:txBody>
                    <a:bodyPr/>
                    <a:lstStyle/>
                    <a:p>
                      <a:pPr indent="0" lvl="0" marL="0" marR="2794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chemeClr val="lt1"/>
                          </a:solidFill>
                        </a:rPr>
                        <a:t>パラ言語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声のトーン・声の強弱・リズム感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325">
                <a:tc>
                  <a:txBody>
                    <a:bodyPr/>
                    <a:lstStyle/>
                    <a:p>
                      <a:pPr indent="0" lvl="0" marL="0" marR="2794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chemeClr val="lt1"/>
                          </a:solidFill>
                        </a:rPr>
                        <a:t>空間行動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距離感・対人距離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325">
                <a:tc>
                  <a:txBody>
                    <a:bodyPr/>
                    <a:lstStyle/>
                    <a:p>
                      <a:pPr indent="0" lvl="0" marL="0" marR="2794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>
                          <a:solidFill>
                            <a:schemeClr val="lt1"/>
                          </a:solidFill>
                        </a:rPr>
                        <a:t>環境要因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照明・空調・音響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325">
                <a:tc>
                  <a:txBody>
                    <a:bodyPr/>
                    <a:lstStyle/>
                    <a:p>
                      <a:pPr indent="0" lvl="0" marL="0" marR="2794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chemeClr val="lt1"/>
                          </a:solidFill>
                        </a:rPr>
                        <a:t>人工物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服装・アクセサリー・数珠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217"/>
          <p:cNvSpPr txBox="1"/>
          <p:nvPr/>
        </p:nvSpPr>
        <p:spPr>
          <a:xfrm>
            <a:off x="0" y="2287050"/>
            <a:ext cx="9144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chemeClr val="lt1"/>
                </a:solidFill>
              </a:rPr>
              <a:t>コンテキスト＞コンテンツ</a:t>
            </a:r>
            <a:endParaRPr b="1"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5" name="Google Shape;1465;p218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1076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66" name="Google Shape;1466;p218"/>
          <p:cNvSpPr txBox="1"/>
          <p:nvPr/>
        </p:nvSpPr>
        <p:spPr>
          <a:xfrm>
            <a:off x="1526100" y="2202300"/>
            <a:ext cx="6091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600">
                <a:solidFill>
                  <a:schemeClr val="lt1"/>
                </a:solidFill>
              </a:rPr>
              <a:t>3つのコンテキスト</a:t>
            </a:r>
            <a:endParaRPr b="1" sz="3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1" name="Google Shape;1471;p219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10760"/>
            <a:ext cx="9167482" cy="51434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72" name="Google Shape;1472;p219"/>
          <p:cNvGraphicFramePr/>
          <p:nvPr/>
        </p:nvGraphicFramePr>
        <p:xfrm>
          <a:off x="454438" y="1350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2134025"/>
                <a:gridCol w="6105475"/>
              </a:tblGrid>
              <a:tr h="1064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  場の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  コンテキスト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  音響・照明・空調・場所・エネルギー・関係性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4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  思考プロセスの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  コンテキスト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  過去未来・事実解釈・言語定義・抽象具体・構造化・因果関係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4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  前提条件の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  コンテキスト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600">
                          <a:solidFill>
                            <a:schemeClr val="lt1"/>
                          </a:solidFill>
                        </a:rPr>
                        <a:t>  事業・部署・従業員数・配置・単価・顧客・業務内容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73" name="Google Shape;1473;p219"/>
          <p:cNvSpPr txBox="1"/>
          <p:nvPr/>
        </p:nvSpPr>
        <p:spPr>
          <a:xfrm>
            <a:off x="229850" y="0"/>
            <a:ext cx="82395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lt1"/>
                </a:solidFill>
              </a:rPr>
              <a:t>3つのコンテキスト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8" name="Google Shape;1478;p220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1076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79" name="Google Shape;1479;p220"/>
          <p:cNvSpPr/>
          <p:nvPr/>
        </p:nvSpPr>
        <p:spPr>
          <a:xfrm>
            <a:off x="4916825" y="1186250"/>
            <a:ext cx="2572200" cy="30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0" name="Google Shape;1480;p220"/>
          <p:cNvSpPr txBox="1"/>
          <p:nvPr/>
        </p:nvSpPr>
        <p:spPr>
          <a:xfrm>
            <a:off x="157800" y="0"/>
            <a:ext cx="88284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lt1"/>
                </a:solidFill>
              </a:rPr>
              <a:t>組織コーチとは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481" name="Google Shape;1481;p220"/>
          <p:cNvSpPr txBox="1"/>
          <p:nvPr/>
        </p:nvSpPr>
        <p:spPr>
          <a:xfrm>
            <a:off x="342750" y="1106588"/>
            <a:ext cx="845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コンテンツ介入のプロではなく </a:t>
            </a:r>
            <a:r>
              <a:rPr b="1" lang="ja" sz="1800">
                <a:solidFill>
                  <a:schemeClr val="dk1"/>
                </a:solidFill>
              </a:rPr>
              <a:t>コンテキスト介入のプロ</a:t>
            </a:r>
            <a:endParaRPr b="1" sz="1800">
              <a:solidFill>
                <a:schemeClr val="dk1"/>
              </a:solidFill>
            </a:endParaRPr>
          </a:p>
        </p:txBody>
      </p:sp>
      <p:graphicFrame>
        <p:nvGraphicFramePr>
          <p:cNvPr id="1482" name="Google Shape;1482;p220"/>
          <p:cNvGraphicFramePr/>
          <p:nvPr/>
        </p:nvGraphicFramePr>
        <p:xfrm>
          <a:off x="1786613" y="1890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2122775"/>
                <a:gridCol w="3448000"/>
              </a:tblGrid>
              <a:tr h="1129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コンテキスト</a:t>
                      </a:r>
                      <a:endParaRPr sz="7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場・思考プロセス・前提条件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6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コンテンツ</a:t>
                      </a:r>
                      <a:endParaRPr sz="7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手段・手法・内容・中身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7" name="Google Shape;1487;p221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21521"/>
            <a:ext cx="9167482" cy="51434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88" name="Google Shape;1488;p221"/>
          <p:cNvGraphicFramePr/>
          <p:nvPr/>
        </p:nvGraphicFramePr>
        <p:xfrm>
          <a:off x="1066838" y="9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2658675"/>
                <a:gridCol w="4447150"/>
              </a:tblGrid>
              <a:tr h="70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コーチング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コンテキストシフト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コンサルティング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本質課題の特定とコンテンツの転送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ティーチング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コンテンツの転送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トレーニング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スキーマの転送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カウンセリング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現状の思考プロセスの棚卸し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89" name="Google Shape;1489;p221"/>
          <p:cNvSpPr txBox="1"/>
          <p:nvPr/>
        </p:nvSpPr>
        <p:spPr>
          <a:xfrm>
            <a:off x="216350" y="0"/>
            <a:ext cx="88068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lt1"/>
                </a:solidFill>
              </a:rPr>
              <a:t>5つの手法の区別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4" name="Google Shape;1494;p222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10760"/>
            <a:ext cx="9167482" cy="51434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95" name="Google Shape;1495;p222"/>
          <p:cNvGraphicFramePr/>
          <p:nvPr/>
        </p:nvGraphicFramePr>
        <p:xfrm>
          <a:off x="1066838" y="9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2658675"/>
                <a:gridCol w="4447150"/>
              </a:tblGrid>
              <a:tr h="70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コーチング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40C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コンテキストシフト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40C28"/>
                    </a:solidFill>
                  </a:tcPr>
                </a:tc>
              </a:tr>
              <a:tr h="77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コンサルティング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本質課題の特定とコンテンツの転送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ティーチング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コンテンツの転送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トレーニング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スキーマの転送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カウンセリング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現状の思考プロセスの棚卸し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96" name="Google Shape;1496;p222"/>
          <p:cNvSpPr txBox="1"/>
          <p:nvPr/>
        </p:nvSpPr>
        <p:spPr>
          <a:xfrm>
            <a:off x="216350" y="0"/>
            <a:ext cx="88068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lt1"/>
                </a:solidFill>
              </a:rPr>
              <a:t>5つの手法の区別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1" name="Google Shape;1501;p223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10760"/>
            <a:ext cx="9167482" cy="51434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02" name="Google Shape;1502;p223"/>
          <p:cNvGraphicFramePr/>
          <p:nvPr/>
        </p:nvGraphicFramePr>
        <p:xfrm>
          <a:off x="1066838" y="9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2658675"/>
                <a:gridCol w="4447150"/>
              </a:tblGrid>
              <a:tr h="70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コーチング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コンテキストシフト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コンサルティング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本質課題の特定とコンテンツの転送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ティーチング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コンテンツの転送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トレーニング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スキーマの転送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カウンセリング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現状の思考プロセスの棚卸し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03" name="Google Shape;1503;p223"/>
          <p:cNvSpPr txBox="1"/>
          <p:nvPr/>
        </p:nvSpPr>
        <p:spPr>
          <a:xfrm>
            <a:off x="216350" y="0"/>
            <a:ext cx="88068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lt1"/>
                </a:solidFill>
              </a:rPr>
              <a:t>5つの手法の区別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8" name="Google Shape;1508;p224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10760"/>
            <a:ext cx="9167482" cy="51434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09" name="Google Shape;1509;p224"/>
          <p:cNvGraphicFramePr/>
          <p:nvPr/>
        </p:nvGraphicFramePr>
        <p:xfrm>
          <a:off x="1066838" y="9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2658675"/>
                <a:gridCol w="4447150"/>
              </a:tblGrid>
              <a:tr h="70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コーチング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コンテキストシフト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コンサルティング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本質課題の特定とコンテンツの転送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ティーチング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コンテンツの転送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トレーニング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スキーマの転送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カウンセリング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800">
                          <a:solidFill>
                            <a:schemeClr val="lt1"/>
                          </a:solidFill>
                        </a:rPr>
                        <a:t>　現状の思考プロセスの棚卸し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0" name="Google Shape;1510;p224"/>
          <p:cNvSpPr txBox="1"/>
          <p:nvPr/>
        </p:nvSpPr>
        <p:spPr>
          <a:xfrm>
            <a:off x="216350" y="0"/>
            <a:ext cx="88068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lt1"/>
                </a:solidFill>
              </a:rPr>
              <a:t>5つの手法の区別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511" name="Google Shape;1511;p224"/>
          <p:cNvSpPr/>
          <p:nvPr/>
        </p:nvSpPr>
        <p:spPr>
          <a:xfrm>
            <a:off x="1066850" y="952475"/>
            <a:ext cx="7105800" cy="3759300"/>
          </a:xfrm>
          <a:prstGeom prst="rect">
            <a:avLst/>
          </a:prstGeom>
          <a:solidFill>
            <a:srgbClr val="FFFF00">
              <a:alpha val="8608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000">
                <a:solidFill>
                  <a:schemeClr val="dk1"/>
                </a:solidFill>
              </a:rPr>
              <a:t>5つの手法で創発し続ける</a:t>
            </a:r>
            <a:endParaRPr b="1" sz="3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dk1"/>
                </a:solidFill>
              </a:rPr>
              <a:t>創発：従来のものを変革して新たな価値を創造する新結合をすること</a:t>
            </a:r>
            <a:endParaRPr b="1"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6" name="Google Shape;1516;p225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1076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17" name="Google Shape;1517;p225"/>
          <p:cNvSpPr txBox="1"/>
          <p:nvPr/>
        </p:nvSpPr>
        <p:spPr>
          <a:xfrm>
            <a:off x="251354" y="102900"/>
            <a:ext cx="6280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lt1"/>
                </a:solidFill>
              </a:rPr>
              <a:t>コンテキストギバーとコンテキストテイカー</a:t>
            </a:r>
            <a:endParaRPr b="1" sz="2000">
              <a:solidFill>
                <a:schemeClr val="lt1"/>
              </a:solidFill>
            </a:endParaRPr>
          </a:p>
        </p:txBody>
      </p:sp>
      <p:graphicFrame>
        <p:nvGraphicFramePr>
          <p:cNvPr id="1518" name="Google Shape;1518;p225"/>
          <p:cNvGraphicFramePr/>
          <p:nvPr/>
        </p:nvGraphicFramePr>
        <p:xfrm>
          <a:off x="251350" y="158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{344D2250-8479-4534-90F0-2AF717E22795}</a:tableStyleId>
              </a:tblPr>
              <a:tblGrid>
                <a:gridCol w="2962050"/>
                <a:gridCol w="5607075"/>
              </a:tblGrid>
              <a:tr h="625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700">
                          <a:solidFill>
                            <a:schemeClr val="lt1"/>
                          </a:solidFill>
                        </a:rPr>
                        <a:t>　　　① エンパワー</a:t>
                      </a:r>
                      <a:endParaRPr b="1" sz="1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 sz="1700">
                          <a:solidFill>
                            <a:schemeClr val="lt1"/>
                          </a:solidFill>
                        </a:rPr>
                        <a:t>自信を持たせる力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5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700">
                          <a:solidFill>
                            <a:schemeClr val="lt1"/>
                          </a:solidFill>
                        </a:rPr>
                        <a:t>　　　②シリアス</a:t>
                      </a:r>
                      <a:endParaRPr b="1" sz="1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 sz="1700">
                          <a:solidFill>
                            <a:schemeClr val="lt1"/>
                          </a:solidFill>
                        </a:rPr>
                        <a:t>緊張感を生み出す力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5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700">
                          <a:solidFill>
                            <a:schemeClr val="lt1"/>
                          </a:solidFill>
                        </a:rPr>
                        <a:t>　　　③パッション</a:t>
                      </a:r>
                      <a:endParaRPr b="1" sz="1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700">
                          <a:solidFill>
                            <a:schemeClr val="lt1"/>
                          </a:solidFill>
                        </a:rPr>
                        <a:t>言葉に感情を乗せる力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5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700">
                          <a:solidFill>
                            <a:schemeClr val="lt1"/>
                          </a:solidFill>
                        </a:rPr>
                        <a:t>　　　④ユーモア</a:t>
                      </a:r>
                      <a:endParaRPr b="1" sz="1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 sz="1700">
                          <a:solidFill>
                            <a:schemeClr val="lt1"/>
                          </a:solidFill>
                        </a:rPr>
                        <a:t>場を明るくする力</a:t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5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700">
                          <a:solidFill>
                            <a:schemeClr val="lt1"/>
                          </a:solidFill>
                        </a:rPr>
                        <a:t>　　　⑤グランディング</a:t>
                      </a:r>
                      <a:endParaRPr b="1" sz="1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 sz="1700">
                          <a:solidFill>
                            <a:schemeClr val="lt1"/>
                          </a:solidFill>
                        </a:rPr>
                        <a:t>神聖な場を作る力</a:t>
                      </a:r>
                      <a:endParaRPr b="1" sz="1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9" name="Google Shape;1519;p225"/>
          <p:cNvSpPr txBox="1"/>
          <p:nvPr/>
        </p:nvSpPr>
        <p:spPr>
          <a:xfrm>
            <a:off x="251350" y="782650"/>
            <a:ext cx="8569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chemeClr val="lt1"/>
                </a:solidFill>
              </a:rPr>
              <a:t>その場に必要なコンテキストを「自ら」創る力</a:t>
            </a:r>
            <a:endParaRPr b="1" sz="2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4" name="Google Shape;1524;p226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25" name="Google Shape;1525;p226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Question</a:t>
            </a:r>
            <a:endParaRPr/>
          </a:p>
        </p:txBody>
      </p:sp>
      <p:sp>
        <p:nvSpPr>
          <p:cNvPr id="1526" name="Google Shape;1526;p226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7つの観点でGOOD ＆ MOREを共有してください</a:t>
            </a:r>
            <a:endParaRPr sz="220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1" name="Google Shape;1531;p227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32" name="Google Shape;1532;p227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Question</a:t>
            </a:r>
            <a:endParaRPr/>
          </a:p>
        </p:txBody>
      </p:sp>
      <p:sp>
        <p:nvSpPr>
          <p:cNvPr id="1533" name="Google Shape;1533;p227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ここまでに得た気づき学びは何ですか？</a:t>
            </a:r>
            <a:endParaRPr sz="220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228"/>
          <p:cNvSpPr txBox="1"/>
          <p:nvPr/>
        </p:nvSpPr>
        <p:spPr>
          <a:xfrm>
            <a:off x="657902" y="48263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AGENDA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1539" name="Google Shape;1539;p228"/>
          <p:cNvSpPr txBox="1"/>
          <p:nvPr/>
        </p:nvSpPr>
        <p:spPr>
          <a:xfrm>
            <a:off x="657902" y="1203752"/>
            <a:ext cx="5845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この場の進め方</a:t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1540" name="Google Shape;1540;p228"/>
          <p:cNvSpPr txBox="1"/>
          <p:nvPr/>
        </p:nvSpPr>
        <p:spPr>
          <a:xfrm>
            <a:off x="657899" y="2048005"/>
            <a:ext cx="78183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① 全ての組織に共通する普遍の問題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② 組織コーチングとは何か</a:t>
            </a:r>
            <a:endParaRPr b="1" sz="1800">
              <a:solidFill>
                <a:srgbClr val="00206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③ 非言語エネルギーの現在地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④ 非言語とは何か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002060"/>
                </a:solidFill>
                <a:highlight>
                  <a:schemeClr val="lt1"/>
                </a:highlight>
              </a:rPr>
              <a:t>⑤ 非言語エネルギーを創り出す</a:t>
            </a:r>
            <a:endParaRPr b="1" sz="1800">
              <a:solidFill>
                <a:srgbClr val="00206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⑥ セールスとは何か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5" name="Google Shape;1545;p229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46" name="Google Shape;1546;p229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Question</a:t>
            </a:r>
            <a:endParaRPr/>
          </a:p>
        </p:txBody>
      </p:sp>
      <p:sp>
        <p:nvSpPr>
          <p:cNvPr id="1547" name="Google Shape;1547;p229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最も重要な非言語エネルギーとは何ですか？</a:t>
            </a:r>
            <a:endParaRPr sz="220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230"/>
          <p:cNvSpPr txBox="1"/>
          <p:nvPr/>
        </p:nvSpPr>
        <p:spPr>
          <a:xfrm>
            <a:off x="0" y="2287050"/>
            <a:ext cx="9144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chemeClr val="lt1"/>
                </a:solidFill>
              </a:rPr>
              <a:t>エフィカシー</a:t>
            </a:r>
            <a:endParaRPr b="1"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7" name="Google Shape;1557;p231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58" name="Google Shape;1558;p231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Question</a:t>
            </a:r>
            <a:endParaRPr/>
          </a:p>
        </p:txBody>
      </p:sp>
      <p:sp>
        <p:nvSpPr>
          <p:cNvPr id="1559" name="Google Shape;1559;p231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エフィカシーが非言語情報で滲み出ている人は</a:t>
            </a:r>
            <a:endParaRPr sz="22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どんな条件を満たしている人ですか？</a:t>
            </a:r>
            <a:endParaRPr sz="220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3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232"/>
          <p:cNvSpPr txBox="1"/>
          <p:nvPr/>
        </p:nvSpPr>
        <p:spPr>
          <a:xfrm>
            <a:off x="0" y="2157925"/>
            <a:ext cx="91440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chemeClr val="lt1"/>
                </a:solidFill>
              </a:rPr>
              <a:t>現状の外側の生き様を創りきっている人</a:t>
            </a:r>
            <a:endParaRPr b="1" sz="2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lt1"/>
                </a:solidFill>
              </a:rPr>
              <a:t>※コーチングスキルの話ではなく、コーチングとは生き方そのもの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p233"/>
          <p:cNvSpPr txBox="1"/>
          <p:nvPr/>
        </p:nvSpPr>
        <p:spPr>
          <a:xfrm>
            <a:off x="657902" y="48263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PURPOSE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1570" name="Google Shape;1570;p233"/>
          <p:cNvSpPr txBox="1"/>
          <p:nvPr/>
        </p:nvSpPr>
        <p:spPr>
          <a:xfrm>
            <a:off x="657902" y="1203752"/>
            <a:ext cx="5845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20">
                <a:solidFill>
                  <a:schemeClr val="lt1"/>
                </a:solidFill>
              </a:rPr>
              <a:t>Day1・Day2の目的</a:t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1571" name="Google Shape;1571;p233"/>
          <p:cNvSpPr txBox="1"/>
          <p:nvPr/>
        </p:nvSpPr>
        <p:spPr>
          <a:xfrm>
            <a:off x="657899" y="2273975"/>
            <a:ext cx="78183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他者のブレイクスルーに貢献する為に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表現すべき重要な在り方「①非言語領域」「②言語領域」の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2つの観点を学習&amp;体現する事で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あなたがその場に存在しているだけで場にインパクトが生まれ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生きているだけでコーチングが行われている異常な現象を獲得すること</a:t>
            </a:r>
            <a:endParaRPr b="1"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5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p234"/>
          <p:cNvSpPr txBox="1"/>
          <p:nvPr/>
        </p:nvSpPr>
        <p:spPr>
          <a:xfrm>
            <a:off x="657902" y="48263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AGENDA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1577" name="Google Shape;1577;p234"/>
          <p:cNvSpPr txBox="1"/>
          <p:nvPr/>
        </p:nvSpPr>
        <p:spPr>
          <a:xfrm>
            <a:off x="657902" y="1203752"/>
            <a:ext cx="5845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この場の進め方</a:t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1578" name="Google Shape;1578;p234"/>
          <p:cNvSpPr txBox="1"/>
          <p:nvPr/>
        </p:nvSpPr>
        <p:spPr>
          <a:xfrm>
            <a:off x="657899" y="2048005"/>
            <a:ext cx="78183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① 全ての組織に共通する普遍の問題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② 組織コーチングとは何か</a:t>
            </a:r>
            <a:endParaRPr b="1" sz="1800">
              <a:solidFill>
                <a:srgbClr val="002060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③ 非言語エネルギーの現在地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④ 非言語とは何か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⑤ 非言語エネルギーを創り出す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002060"/>
                </a:solidFill>
                <a:highlight>
                  <a:schemeClr val="lt1"/>
                </a:highlight>
              </a:rPr>
              <a:t>⑥ セールスとは何か</a:t>
            </a:r>
            <a:endParaRPr b="1" sz="2000">
              <a:solidFill>
                <a:srgbClr val="002060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3" name="Google Shape;1583;p235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84" name="Google Shape;1584;p235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Question</a:t>
            </a:r>
            <a:endParaRPr/>
          </a:p>
        </p:txBody>
      </p:sp>
      <p:sp>
        <p:nvSpPr>
          <p:cNvPr id="1585" name="Google Shape;1585;p235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セールスとは何ですか？</a:t>
            </a:r>
            <a:endParaRPr sz="220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p236"/>
          <p:cNvSpPr txBox="1"/>
          <p:nvPr/>
        </p:nvSpPr>
        <p:spPr>
          <a:xfrm>
            <a:off x="0" y="2287050"/>
            <a:ext cx="9144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chemeClr val="lt1"/>
                </a:solidFill>
              </a:rPr>
              <a:t>顧客の決断を導くこと</a:t>
            </a:r>
            <a:endParaRPr b="1"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5" name="Google Shape;1595;p237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96" name="Google Shape;1596;p237"/>
          <p:cNvSpPr txBox="1"/>
          <p:nvPr>
            <p:ph type="title"/>
          </p:nvPr>
        </p:nvSpPr>
        <p:spPr>
          <a:xfrm>
            <a:off x="0" y="12644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Question</a:t>
            </a:r>
            <a:endParaRPr/>
          </a:p>
        </p:txBody>
      </p:sp>
      <p:sp>
        <p:nvSpPr>
          <p:cNvPr id="1597" name="Google Shape;1597;p237"/>
          <p:cNvSpPr txBox="1"/>
          <p:nvPr>
            <p:ph idx="1" type="subTitle"/>
          </p:nvPr>
        </p:nvSpPr>
        <p:spPr>
          <a:xfrm>
            <a:off x="-100" y="24669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ここまでに得た気づき学びは何ですか？</a:t>
            </a:r>
            <a:endParaRPr sz="220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p238"/>
          <p:cNvSpPr txBox="1"/>
          <p:nvPr/>
        </p:nvSpPr>
        <p:spPr>
          <a:xfrm>
            <a:off x="657902" y="482635"/>
            <a:ext cx="5845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000">
                <a:solidFill>
                  <a:schemeClr val="lt1"/>
                </a:solidFill>
              </a:rPr>
              <a:t>PURPOSE</a:t>
            </a:r>
            <a:endParaRPr b="1" sz="4000">
              <a:solidFill>
                <a:schemeClr val="lt1"/>
              </a:solidFill>
            </a:endParaRPr>
          </a:p>
        </p:txBody>
      </p:sp>
      <p:sp>
        <p:nvSpPr>
          <p:cNvPr id="1603" name="Google Shape;1603;p238"/>
          <p:cNvSpPr txBox="1"/>
          <p:nvPr/>
        </p:nvSpPr>
        <p:spPr>
          <a:xfrm>
            <a:off x="657902" y="1203752"/>
            <a:ext cx="5845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20">
                <a:solidFill>
                  <a:schemeClr val="lt1"/>
                </a:solidFill>
              </a:rPr>
              <a:t>Day1・Day2の目的</a:t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1604" name="Google Shape;1604;p238"/>
          <p:cNvSpPr txBox="1"/>
          <p:nvPr/>
        </p:nvSpPr>
        <p:spPr>
          <a:xfrm>
            <a:off x="657899" y="2273975"/>
            <a:ext cx="78183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他者のブレイクスルーに貢献する為に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表現すべき重要な在り方「①非言語領域」「②言語領域」の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2つの観点を学習&amp;体現する事で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あなたがその場に存在しているだけで場にインパクトが生まれ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chemeClr val="lt1"/>
                </a:solidFill>
              </a:rPr>
              <a:t>生きているだけでコーチングが行われている異常な現象を獲得すること</a:t>
            </a:r>
            <a:endParaRPr b="1"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8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9" name="Google Shape;1609;p239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837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610" name="Google Shape;1610;p239"/>
          <p:cNvSpPr txBox="1"/>
          <p:nvPr>
            <p:ph type="title"/>
          </p:nvPr>
        </p:nvSpPr>
        <p:spPr>
          <a:xfrm>
            <a:off x="0" y="1569200"/>
            <a:ext cx="91440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Check out</a:t>
            </a:r>
            <a:endParaRPr/>
          </a:p>
        </p:txBody>
      </p:sp>
      <p:sp>
        <p:nvSpPr>
          <p:cNvPr id="1611" name="Google Shape;1611;p239"/>
          <p:cNvSpPr txBox="1"/>
          <p:nvPr>
            <p:ph idx="1" type="subTitle"/>
          </p:nvPr>
        </p:nvSpPr>
        <p:spPr>
          <a:xfrm>
            <a:off x="-100" y="2695575"/>
            <a:ext cx="9144000" cy="5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/>
              <a:t>今日最も受け取った事は何ですか？</a:t>
            </a:r>
            <a:endParaRPr sz="220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6" name="Google Shape;1616;p240" title="スクリーンショット 2025-11-08 22.4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" y="0"/>
            <a:ext cx="916748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617" name="Google Shape;1617;p240"/>
          <p:cNvSpPr txBox="1"/>
          <p:nvPr/>
        </p:nvSpPr>
        <p:spPr>
          <a:xfrm>
            <a:off x="644550" y="1910200"/>
            <a:ext cx="7854900" cy="820800"/>
          </a:xfrm>
          <a:prstGeom prst="rect">
            <a:avLst/>
          </a:prstGeom>
          <a:noFill/>
          <a:ln>
            <a:noFill/>
          </a:ln>
          <a:effectLst>
            <a:outerShdw blurRad="314325" rotWithShape="0" algn="bl" dir="5220000" dist="19050">
              <a:srgbClr val="000000">
                <a:alpha val="64999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ja" sz="4800">
                <a:solidFill>
                  <a:srgbClr val="FFFFFF"/>
                </a:solidFill>
              </a:rPr>
              <a:t>Leader Message</a:t>
            </a:r>
            <a:endParaRPr b="1" sz="4800">
              <a:solidFill>
                <a:srgbClr val="FFFFFF"/>
              </a:solidFill>
            </a:endParaRPr>
          </a:p>
        </p:txBody>
      </p:sp>
      <p:sp>
        <p:nvSpPr>
          <p:cNvPr id="1618" name="Google Shape;1618;p240"/>
          <p:cNvSpPr txBox="1"/>
          <p:nvPr/>
        </p:nvSpPr>
        <p:spPr>
          <a:xfrm>
            <a:off x="644550" y="2549338"/>
            <a:ext cx="7854900" cy="461700"/>
          </a:xfrm>
          <a:prstGeom prst="rect">
            <a:avLst/>
          </a:prstGeom>
          <a:noFill/>
          <a:ln>
            <a:noFill/>
          </a:ln>
          <a:effectLst>
            <a:outerShdw blurRad="171450" rotWithShape="0" algn="bl" dir="5400000" dist="19050">
              <a:srgbClr val="000000">
                <a:alpha val="67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FFFF"/>
                </a:solidFill>
              </a:rPr>
              <a:t>リーダーメッセージ</a:t>
            </a:r>
            <a:endParaRPr b="1"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